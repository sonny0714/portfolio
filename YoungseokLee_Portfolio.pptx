
<file path=[Content_Types].xml><?xml version="1.0" encoding="utf-8"?>
<Types xmlns="http://schemas.openxmlformats.org/package/2006/content-types">
  <Default Extension="avi" ContentType="video/x-msvideo"/>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06" r:id="rId3"/>
    <p:sldId id="404" r:id="rId4"/>
    <p:sldId id="407" r:id="rId5"/>
    <p:sldId id="413" r:id="rId6"/>
    <p:sldId id="414" r:id="rId7"/>
    <p:sldId id="416" r:id="rId8"/>
    <p:sldId id="402" r:id="rId9"/>
    <p:sldId id="403" r:id="rId10"/>
    <p:sldId id="409" r:id="rId11"/>
    <p:sldId id="410" r:id="rId12"/>
    <p:sldId id="417" r:id="rId15"/>
    <p:sldId id="411" r:id="rId16"/>
  </p:sldIdLst>
  <p:sldSz cx="9906000" cy="6858000" type="A4"/>
  <p:notesSz cx="10234613" cy="71040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1F6"/>
    <a:srgbClr val="90C221"/>
    <a:srgbClr val="0680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0" autoAdjust="0"/>
    <p:restoredTop sz="89312" autoAdjust="0"/>
  </p:normalViewPr>
  <p:slideViewPr>
    <p:cSldViewPr>
      <p:cViewPr varScale="1">
        <p:scale>
          <a:sx n="109" d="100"/>
          <a:sy n="109" d="100"/>
        </p:scale>
        <p:origin x="936" y="10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4434999" cy="355203"/>
          </a:xfrm>
          <a:prstGeom prst="rect">
            <a:avLst/>
          </a:prstGeom>
        </p:spPr>
        <p:txBody>
          <a:bodyPr vert="horz" lIns="99075" tIns="49538" rIns="99075" bIns="49538" rtlCol="0"/>
          <a:lstStyle>
            <a:lvl1pPr algn="l">
              <a:defRPr sz="1300"/>
            </a:lvl1pPr>
          </a:lstStyle>
          <a:p>
            <a:endParaRPr lang="ko-KR" altLang="en-US"/>
          </a:p>
        </p:txBody>
      </p:sp>
      <p:sp>
        <p:nvSpPr>
          <p:cNvPr id="3" name="날짜 개체 틀 2"/>
          <p:cNvSpPr>
            <a:spLocks noGrp="1"/>
          </p:cNvSpPr>
          <p:nvPr>
            <p:ph type="dt" idx="1"/>
          </p:nvPr>
        </p:nvSpPr>
        <p:spPr>
          <a:xfrm>
            <a:off x="5797246" y="0"/>
            <a:ext cx="4434999" cy="355203"/>
          </a:xfrm>
          <a:prstGeom prst="rect">
            <a:avLst/>
          </a:prstGeom>
        </p:spPr>
        <p:txBody>
          <a:bodyPr vert="horz" lIns="99075" tIns="49538" rIns="99075" bIns="49538" rtlCol="0"/>
          <a:lstStyle>
            <a:lvl1pPr algn="r">
              <a:defRPr sz="1300"/>
            </a:lvl1pPr>
          </a:lstStyle>
          <a:p>
            <a:fld id="{29D768EB-444E-4D81-A708-0D21A7707A4B}" type="datetimeFigureOut">
              <a:rPr lang="ko-KR" altLang="en-US" smtClean="0"/>
              <a:t>2026-10-11</a:t>
            </a:fld>
            <a:endParaRPr lang="ko-KR" altLang="en-US"/>
          </a:p>
        </p:txBody>
      </p:sp>
      <p:sp>
        <p:nvSpPr>
          <p:cNvPr id="4" name="슬라이드 이미지 개체 틀 3"/>
          <p:cNvSpPr>
            <a:spLocks noGrp="1" noRot="1" noChangeAspect="1"/>
          </p:cNvSpPr>
          <p:nvPr>
            <p:ph type="sldImg" idx="2"/>
          </p:nvPr>
        </p:nvSpPr>
        <p:spPr>
          <a:xfrm>
            <a:off x="3194050" y="533400"/>
            <a:ext cx="3846513" cy="2663825"/>
          </a:xfrm>
          <a:prstGeom prst="rect">
            <a:avLst/>
          </a:prstGeom>
          <a:noFill/>
          <a:ln w="12700">
            <a:solidFill>
              <a:prstClr val="black"/>
            </a:solidFill>
          </a:ln>
        </p:spPr>
        <p:txBody>
          <a:bodyPr vert="horz" lIns="99075" tIns="49538" rIns="99075" bIns="49538" rtlCol="0" anchor="ctr"/>
          <a:lstStyle/>
          <a:p>
            <a:endParaRPr lang="ko-KR" altLang="en-US"/>
          </a:p>
        </p:txBody>
      </p:sp>
      <p:sp>
        <p:nvSpPr>
          <p:cNvPr id="5" name="슬라이드 노트 개체 틀 4"/>
          <p:cNvSpPr>
            <a:spLocks noGrp="1"/>
          </p:cNvSpPr>
          <p:nvPr>
            <p:ph type="body" sz="quarter" idx="3"/>
          </p:nvPr>
        </p:nvSpPr>
        <p:spPr>
          <a:xfrm>
            <a:off x="1023462" y="3374430"/>
            <a:ext cx="8187690" cy="3196828"/>
          </a:xfrm>
          <a:prstGeom prst="rect">
            <a:avLst/>
          </a:prstGeom>
        </p:spPr>
        <p:txBody>
          <a:bodyPr vert="horz" lIns="99075" tIns="49538" rIns="99075" bIns="49538"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6747627"/>
            <a:ext cx="4434999" cy="355203"/>
          </a:xfrm>
          <a:prstGeom prst="rect">
            <a:avLst/>
          </a:prstGeom>
        </p:spPr>
        <p:txBody>
          <a:bodyPr vert="horz" lIns="99075" tIns="49538" rIns="99075" bIns="49538" rtlCol="0" anchor="b"/>
          <a:lstStyle>
            <a:lvl1pPr algn="l">
              <a:defRPr sz="1300"/>
            </a:lvl1pPr>
          </a:lstStyle>
          <a:p>
            <a:endParaRPr lang="ko-KR" altLang="en-US"/>
          </a:p>
        </p:txBody>
      </p:sp>
      <p:sp>
        <p:nvSpPr>
          <p:cNvPr id="7" name="슬라이드 번호 개체 틀 6"/>
          <p:cNvSpPr>
            <a:spLocks noGrp="1"/>
          </p:cNvSpPr>
          <p:nvPr>
            <p:ph type="sldNum" sz="quarter" idx="5"/>
          </p:nvPr>
        </p:nvSpPr>
        <p:spPr>
          <a:xfrm>
            <a:off x="5797246" y="6747627"/>
            <a:ext cx="4434999" cy="355203"/>
          </a:xfrm>
          <a:prstGeom prst="rect">
            <a:avLst/>
          </a:prstGeom>
        </p:spPr>
        <p:txBody>
          <a:bodyPr vert="horz" lIns="99075" tIns="49538" rIns="99075" bIns="49538" rtlCol="0" anchor="b"/>
          <a:lstStyle>
            <a:lvl1pPr algn="r">
              <a:defRPr sz="1300"/>
            </a:lvl1pPr>
          </a:lstStyle>
          <a:p>
            <a:fld id="{9D558E6B-DCEC-4D25-8F20-EC2A837435CB}" type="slidenum">
              <a:rPr lang="ko-KR" altLang="en-US" smtClean="0"/>
              <a:t>‹#›</a:t>
            </a:fld>
            <a:endParaRPr lang="ko-KR" altLang="en-US"/>
          </a:p>
        </p:txBody>
      </p:sp>
    </p:spTree>
    <p:extLst>
      <p:ext uri="{BB962C8B-B14F-4D97-AF65-F5344CB8AC3E}">
        <p14:creationId xmlns:p14="http://schemas.microsoft.com/office/powerpoint/2010/main" val="14771883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9D558E6B-DCEC-4D25-8F20-EC2A837435CB}" type="slidenum">
              <a:rPr lang="ko-KR" altLang="en-US" smtClean="0"/>
              <a:t>1</a:t>
            </a:fld>
            <a:endParaRPr lang="ko-KR" altLang="en-US"/>
          </a:p>
        </p:txBody>
      </p:sp>
    </p:spTree>
    <p:extLst>
      <p:ext uri="{BB962C8B-B14F-4D97-AF65-F5344CB8AC3E}">
        <p14:creationId xmlns:p14="http://schemas.microsoft.com/office/powerpoint/2010/main" val="3348456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2A70E-04FF-2091-2C78-0C9DC924761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5D9DE26-8B14-87AC-EE28-2D2D60021782}"/>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B415E1B3-B2F3-3C95-B803-D70786BE73B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4E5DCD2-43A7-E5F5-5347-69BEE3F66CE1}"/>
              </a:ext>
            </a:extLst>
          </p:cNvPr>
          <p:cNvSpPr>
            <a:spLocks noGrp="1"/>
          </p:cNvSpPr>
          <p:nvPr>
            <p:ph type="sldNum" sz="quarter" idx="10"/>
          </p:nvPr>
        </p:nvSpPr>
        <p:spPr/>
        <p:txBody>
          <a:bodyPr/>
          <a:lstStyle/>
          <a:p>
            <a:fld id="{9D558E6B-DCEC-4D25-8F20-EC2A837435CB}" type="slidenum">
              <a:rPr lang="ko-KR" altLang="en-US" smtClean="0"/>
              <a:t>2</a:t>
            </a:fld>
            <a:endParaRPr lang="ko-KR" altLang="en-US"/>
          </a:p>
        </p:txBody>
      </p:sp>
    </p:spTree>
    <p:extLst>
      <p:ext uri="{BB962C8B-B14F-4D97-AF65-F5344CB8AC3E}">
        <p14:creationId xmlns:p14="http://schemas.microsoft.com/office/powerpoint/2010/main" val="1292560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39867-5F5A-1898-3782-003CFBCC48D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5066C5D-9BEF-80D1-B9C2-C74AAD033E6F}"/>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43F68C8B-3498-AE4D-4DD8-70CE83BC577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55D1D44-1ADB-4429-7E94-0ACC3547CFC7}"/>
              </a:ext>
            </a:extLst>
          </p:cNvPr>
          <p:cNvSpPr>
            <a:spLocks noGrp="1"/>
          </p:cNvSpPr>
          <p:nvPr>
            <p:ph type="sldNum" sz="quarter" idx="10"/>
          </p:nvPr>
        </p:nvSpPr>
        <p:spPr/>
        <p:txBody>
          <a:bodyPr/>
          <a:lstStyle/>
          <a:p>
            <a:fld id="{9D558E6B-DCEC-4D25-8F20-EC2A837435CB}" type="slidenum">
              <a:rPr lang="ko-KR" altLang="en-US" smtClean="0"/>
              <a:t>3</a:t>
            </a:fld>
            <a:endParaRPr lang="ko-KR" altLang="en-US"/>
          </a:p>
        </p:txBody>
      </p:sp>
    </p:spTree>
    <p:extLst>
      <p:ext uri="{BB962C8B-B14F-4D97-AF65-F5344CB8AC3E}">
        <p14:creationId xmlns:p14="http://schemas.microsoft.com/office/powerpoint/2010/main" val="133923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5B0DB-45E5-628E-6337-9E1BE1AF7FA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E74023-96C8-3DBA-3A9D-19950073AB7A}"/>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3B396F3F-9E8D-B868-47B1-34753A19440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07342D2-62D9-533E-3084-9564028B2447}"/>
              </a:ext>
            </a:extLst>
          </p:cNvPr>
          <p:cNvSpPr>
            <a:spLocks noGrp="1"/>
          </p:cNvSpPr>
          <p:nvPr>
            <p:ph type="sldNum" sz="quarter" idx="10"/>
          </p:nvPr>
        </p:nvSpPr>
        <p:spPr/>
        <p:txBody>
          <a:bodyPr/>
          <a:lstStyle/>
          <a:p>
            <a:fld id="{9D558E6B-DCEC-4D25-8F20-EC2A837435CB}" type="slidenum">
              <a:rPr lang="ko-KR" altLang="en-US" smtClean="0"/>
              <a:t>4</a:t>
            </a:fld>
            <a:endParaRPr lang="ko-KR" altLang="en-US"/>
          </a:p>
        </p:txBody>
      </p:sp>
    </p:spTree>
    <p:extLst>
      <p:ext uri="{BB962C8B-B14F-4D97-AF65-F5344CB8AC3E}">
        <p14:creationId xmlns:p14="http://schemas.microsoft.com/office/powerpoint/2010/main" val="136345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9D558E6B-DCEC-4D25-8F20-EC2A837435CB}" type="slidenum">
              <a:rPr lang="ko-KR" altLang="en-US" smtClean="0"/>
              <a:t>7</a:t>
            </a:fld>
            <a:endParaRPr lang="ko-KR" altLang="en-US"/>
          </a:p>
        </p:txBody>
      </p:sp>
    </p:spTree>
    <p:extLst>
      <p:ext uri="{BB962C8B-B14F-4D97-AF65-F5344CB8AC3E}">
        <p14:creationId xmlns:p14="http://schemas.microsoft.com/office/powerpoint/2010/main" val="3506377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47D1-B022-E37D-ACDB-17F3ABE084C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E2AF5B7-E869-29E0-A893-A6DFF9E1154A}"/>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3C77CF41-F45F-80F0-126D-F196D0F40B1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B634FB1-437C-E92A-B94D-B3B9250A4DFF}"/>
              </a:ext>
            </a:extLst>
          </p:cNvPr>
          <p:cNvSpPr>
            <a:spLocks noGrp="1"/>
          </p:cNvSpPr>
          <p:nvPr>
            <p:ph type="sldNum" sz="quarter" idx="10"/>
          </p:nvPr>
        </p:nvSpPr>
        <p:spPr/>
        <p:txBody>
          <a:bodyPr/>
          <a:lstStyle/>
          <a:p>
            <a:fld id="{9D558E6B-DCEC-4D25-8F20-EC2A837435CB}" type="slidenum">
              <a:rPr lang="ko-KR" altLang="en-US" smtClean="0"/>
              <a:t>8</a:t>
            </a:fld>
            <a:endParaRPr lang="ko-KR" altLang="en-US"/>
          </a:p>
        </p:txBody>
      </p:sp>
    </p:spTree>
    <p:extLst>
      <p:ext uri="{BB962C8B-B14F-4D97-AF65-F5344CB8AC3E}">
        <p14:creationId xmlns:p14="http://schemas.microsoft.com/office/powerpoint/2010/main" val="3891290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467F9-25CA-64FD-AA1A-CEB165BB72E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D62BAA5-7C11-9A2E-B4DD-AD30BD500E53}"/>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C2465B11-E031-D9F5-5045-8384A870D5E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C4FAC5E-8A59-B7C9-FBDE-D2D5ACCD3EF5}"/>
              </a:ext>
            </a:extLst>
          </p:cNvPr>
          <p:cNvSpPr>
            <a:spLocks noGrp="1"/>
          </p:cNvSpPr>
          <p:nvPr>
            <p:ph type="sldNum" sz="quarter" idx="10"/>
          </p:nvPr>
        </p:nvSpPr>
        <p:spPr/>
        <p:txBody>
          <a:bodyPr/>
          <a:lstStyle/>
          <a:p>
            <a:fld id="{9D558E6B-DCEC-4D25-8F20-EC2A837435CB}" type="slidenum">
              <a:rPr lang="ko-KR" altLang="en-US" smtClean="0"/>
              <a:t>9</a:t>
            </a:fld>
            <a:endParaRPr lang="ko-KR" altLang="en-US"/>
          </a:p>
        </p:txBody>
      </p:sp>
    </p:spTree>
    <p:extLst>
      <p:ext uri="{BB962C8B-B14F-4D97-AF65-F5344CB8AC3E}">
        <p14:creationId xmlns:p14="http://schemas.microsoft.com/office/powerpoint/2010/main" val="3028759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081F0-81F7-9C32-EE24-A4ABDA9BB0C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8DA8076-7C51-C700-8A9C-266F252BEFD1}"/>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A1B2CEC4-9DD6-0139-0F20-EC1E256BA56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E239372-E7E8-524E-AB75-98630AC62260}"/>
              </a:ext>
            </a:extLst>
          </p:cNvPr>
          <p:cNvSpPr>
            <a:spLocks noGrp="1"/>
          </p:cNvSpPr>
          <p:nvPr>
            <p:ph type="sldNum" sz="quarter" idx="10"/>
          </p:nvPr>
        </p:nvSpPr>
        <p:spPr/>
        <p:txBody>
          <a:bodyPr/>
          <a:lstStyle/>
          <a:p>
            <a:fld id="{9D558E6B-DCEC-4D25-8F20-EC2A837435CB}" type="slidenum">
              <a:rPr lang="ko-KR" altLang="en-US" smtClean="0"/>
              <a:t>10</a:t>
            </a:fld>
            <a:endParaRPr lang="ko-KR" altLang="en-US"/>
          </a:p>
        </p:txBody>
      </p:sp>
    </p:spTree>
    <p:extLst>
      <p:ext uri="{BB962C8B-B14F-4D97-AF65-F5344CB8AC3E}">
        <p14:creationId xmlns:p14="http://schemas.microsoft.com/office/powerpoint/2010/main" val="2674297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C585-FCA8-00B3-F029-DB8B86EB49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0209935-A928-EF5A-7973-30C438FC7112}"/>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E7D56F56-60B5-62B9-D499-8F39B84414F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E9CB810-9667-FF21-F4BB-B78A7E00DC73}"/>
              </a:ext>
            </a:extLst>
          </p:cNvPr>
          <p:cNvSpPr>
            <a:spLocks noGrp="1"/>
          </p:cNvSpPr>
          <p:nvPr>
            <p:ph type="sldNum" sz="quarter" idx="10"/>
          </p:nvPr>
        </p:nvSpPr>
        <p:spPr/>
        <p:txBody>
          <a:bodyPr/>
          <a:lstStyle/>
          <a:p>
            <a:fld id="{9D558E6B-DCEC-4D25-8F20-EC2A837435CB}" type="slidenum">
              <a:rPr lang="ko-KR" altLang="en-US" smtClean="0"/>
              <a:t>11</a:t>
            </a:fld>
            <a:endParaRPr lang="ko-KR" altLang="en-US"/>
          </a:p>
        </p:txBody>
      </p:sp>
    </p:spTree>
    <p:extLst>
      <p:ext uri="{BB962C8B-B14F-4D97-AF65-F5344CB8AC3E}">
        <p14:creationId xmlns:p14="http://schemas.microsoft.com/office/powerpoint/2010/main" val="208846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3D46-71A2-845E-476B-3F40180972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FFE697C-1CE9-04E8-3D1A-6C34C95F31B3}"/>
              </a:ext>
            </a:extLst>
          </p:cNvPr>
          <p:cNvSpPr>
            <a:spLocks noGrp="1" noRot="1" noChangeAspect="1"/>
          </p:cNvSpPr>
          <p:nvPr>
            <p:ph type="sldImg"/>
          </p:nvPr>
        </p:nvSpPr>
        <p:spPr>
          <a:xfrm>
            <a:off x="3194050" y="533400"/>
            <a:ext cx="3846513" cy="2663825"/>
          </a:xfrm>
        </p:spPr>
      </p:sp>
      <p:sp>
        <p:nvSpPr>
          <p:cNvPr id="3" name="슬라이드 노트 개체 틀 2">
            <a:extLst>
              <a:ext uri="{FF2B5EF4-FFF2-40B4-BE49-F238E27FC236}">
                <a16:creationId xmlns:a16="http://schemas.microsoft.com/office/drawing/2014/main" id="{F239D4CB-A648-E37D-073D-CA65D8AC968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6CA1014-9851-8997-12E3-FC66C408C8FF}"/>
              </a:ext>
            </a:extLst>
          </p:cNvPr>
          <p:cNvSpPr>
            <a:spLocks noGrp="1"/>
          </p:cNvSpPr>
          <p:nvPr>
            <p:ph type="sldNum" sz="quarter" idx="10"/>
          </p:nvPr>
        </p:nvSpPr>
        <p:spPr/>
        <p:txBody>
          <a:bodyPr/>
          <a:lstStyle/>
          <a:p>
            <a:fld id="{9D558E6B-DCEC-4D25-8F20-EC2A837435CB}" type="slidenum">
              <a:rPr lang="ko-KR" altLang="en-US" smtClean="0"/>
              <a:t>15</a:t>
            </a:fld>
            <a:endParaRPr lang="ko-KR" altLang="en-US"/>
          </a:p>
        </p:txBody>
      </p:sp>
    </p:spTree>
    <p:extLst>
      <p:ext uri="{BB962C8B-B14F-4D97-AF65-F5344CB8AC3E}">
        <p14:creationId xmlns:p14="http://schemas.microsoft.com/office/powerpoint/2010/main" val="958872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6"/>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2376345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5889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82506" y="4406901"/>
            <a:ext cx="84201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2483405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3171194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3888473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407328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197829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006"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281503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645" y="4800600"/>
            <a:ext cx="59436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25779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4230757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181850" y="274639"/>
            <a:ext cx="222885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95300" y="274639"/>
            <a:ext cx="652145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138271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7ABB5-31FF-4D61-806D-760BB4590687}" type="datetimeFigureOut">
              <a:rPr lang="ko-KR" altLang="en-US" smtClean="0"/>
              <a:t>2026-10-11</a:t>
            </a:fld>
            <a:endParaRPr lang="ko-KR" altLang="en-US"/>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75A145-4CE1-4908-AA74-2276B1F8FB5A}" type="slidenum">
              <a:rPr lang="ko-KR" altLang="en-US" smtClean="0"/>
              <a:t>‹#›</a:t>
            </a:fld>
            <a:endParaRPr lang="ko-KR" altLang="en-US"/>
          </a:p>
        </p:txBody>
      </p:sp>
    </p:spTree>
    <p:extLst>
      <p:ext uri="{BB962C8B-B14F-4D97-AF65-F5344CB8AC3E}">
        <p14:creationId xmlns:p14="http://schemas.microsoft.com/office/powerpoint/2010/main" val="4132853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sonny0714.github.io/demo_video_robot/xferqoe-vs-steer.html"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07/relationships/media" Target="../media/media4.mp4"/><Relationship Id="rId7" Type="http://schemas.openxmlformats.org/officeDocument/2006/relationships/image" Target="../media/image16.png"/><Relationship Id="rId2" Type="http://schemas.openxmlformats.org/officeDocument/2006/relationships/video" Target="../media/media3.avi"/><Relationship Id="rId1" Type="http://schemas.microsoft.com/office/2007/relationships/media" Target="../media/media3.avi"/><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video" Target="../media/media4.mp4"/><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hyperlink" Target="https://sonny0714.github.io/demo_video_robot/moving-ball-delay.html" TargetMode="Externa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hyperlink" Target="https://patents.google.com/patent/KR102629731B1/ko" TargetMode="External"/><Relationship Id="rId13" Type="http://schemas.openxmlformats.org/officeDocument/2006/relationships/hyperlink" Target="https://image-ppubs.uspto.gov/dirsearch-public/print/downloadPdf/12650769" TargetMode="External"/><Relationship Id="rId3" Type="http://schemas.openxmlformats.org/officeDocument/2006/relationships/hyperlink" Target="mailto:yslee.gs@gmail.com" TargetMode="External"/><Relationship Id="rId7" Type="http://schemas.openxmlformats.org/officeDocument/2006/relationships/hyperlink" Target="https://doi.org/10.1109/ACCESS.2020.2965627" TargetMode="External"/><Relationship Id="rId12" Type="http://schemas.openxmlformats.org/officeDocument/2006/relationships/hyperlink" Target="https://patents.google.com/patent/US12210760B2/en"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doi.org/10.1109/ACCESS.2021.3100283" TargetMode="External"/><Relationship Id="rId11" Type="http://schemas.openxmlformats.org/officeDocument/2006/relationships/hyperlink" Target="https://patents.google.com/patent/US12556492B2/en" TargetMode="External"/><Relationship Id="rId5" Type="http://schemas.openxmlformats.org/officeDocument/2006/relationships/hyperlink" Target="https://doi.org/10.1109/ACCESS.2021.3125008" TargetMode="External"/><Relationship Id="rId10" Type="http://schemas.openxmlformats.org/officeDocument/2006/relationships/hyperlink" Target="https://patents.google.com/patent/KR102574070B1/ko" TargetMode="External"/><Relationship Id="rId4" Type="http://schemas.openxmlformats.org/officeDocument/2006/relationships/hyperlink" Target="https://proceedings.neurips.cc/paper_files/paper/2024/hash/0ccd800d59e94679246ec79d4b19587e-Abstract-Conference.html" TargetMode="External"/><Relationship Id="rId9" Type="http://schemas.openxmlformats.org/officeDocument/2006/relationships/hyperlink" Target="https://patents.google.com/patent/US12047250B2/en" TargetMode="External"/><Relationship Id="rId14" Type="http://schemas.openxmlformats.org/officeDocument/2006/relationships/hyperlink" Target="https://patents.google.com/patent/US10742742B2/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02320206-11EE-27CD-11F6-B7FDBCD3E3D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721" t="12716" r="11004" b="78550"/>
          <a:stretch/>
        </p:blipFill>
        <p:spPr>
          <a:xfrm>
            <a:off x="200472" y="131475"/>
            <a:ext cx="1319435" cy="303290"/>
          </a:xfrm>
          <a:prstGeom prst="rect">
            <a:avLst/>
          </a:prstGeom>
        </p:spPr>
      </p:pic>
      <p:grpSp>
        <p:nvGrpSpPr>
          <p:cNvPr id="4" name="Group 12">
            <a:extLst>
              <a:ext uri="{FF2B5EF4-FFF2-40B4-BE49-F238E27FC236}">
                <a16:creationId xmlns:a16="http://schemas.microsoft.com/office/drawing/2014/main" id="{B27A76D4-42F2-83C4-FFAD-07D4C47D2607}"/>
              </a:ext>
            </a:extLst>
          </p:cNvPr>
          <p:cNvGrpSpPr/>
          <p:nvPr/>
        </p:nvGrpSpPr>
        <p:grpSpPr>
          <a:xfrm flipH="1">
            <a:off x="731520" y="1280160"/>
            <a:ext cx="1255874" cy="445771"/>
            <a:chOff x="2097881" y="6281738"/>
            <a:chExt cx="697704" cy="247649"/>
          </a:xfrm>
        </p:grpSpPr>
        <p:sp>
          <p:nvSpPr>
            <p:cNvPr id="17" name="Oval 4">
              <a:extLst>
                <a:ext uri="{FF2B5EF4-FFF2-40B4-BE49-F238E27FC236}">
                  <a16:creationId xmlns:a16="http://schemas.microsoft.com/office/drawing/2014/main" id="{254C290D-EBEC-3B81-9A26-919F80572A6F}"/>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95F2FF65-9687-A7A2-C5EF-8738C1B273A7}"/>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3901E85C-06AE-34EB-817A-D47366EF25AC}"/>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0183985F-E766-A733-27C3-2A55D8D7807D}"/>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Label"/>
          <p:cNvSpPr txBox="1"/>
          <p:nvPr/>
        </p:nvSpPr>
        <p:spPr>
          <a:xfrm>
            <a:off x="2103120" y="1325880"/>
            <a:ext cx="5486400" cy="365760"/>
          </a:xfrm>
          <a:prstGeom prst="rect">
            <a:avLst/>
          </a:prstGeom>
          <a:noFill/>
        </p:spPr>
        <p:txBody>
          <a:bodyPr wrap="square" lIns="0" tIns="0" rIns="0" bIns="0" rtlCol="0">
            <a:spAutoFit/>
          </a:bodyPr>
          <a:lstStyle/>
          <a:p>
            <a:pPr algn="l"/>
            <a:r>
              <a:rPr lang="en-US" altLang="ko-KR" sz="1300" b="1" dirty="0">
                <a:solidFill>
                  <a:srgbClr val="4BACC6"/>
                </a:solidFill>
                <a:latin typeface="Arial" panose="020B0604020202020204" pitchFamily="34" charset="0"/>
                <a:ea typeface="Arial" panose="020B0604020202020204" pitchFamily="34" charset="0"/>
                <a:cs typeface="Arial" panose="020B0604020202020204" pitchFamily="34" charset="0"/>
              </a:rPr>
              <a:t>RESEARCH PORTFOLIO</a:t>
            </a:r>
            <a:endParaRPr lang="en-US" altLang="ko-KR" sz="1300" dirty="0">
              <a:solidFill>
                <a:srgbClr val="4BACC6"/>
              </a:solidFill>
              <a:latin typeface="Arial" panose="020B0604020202020204" pitchFamily="34" charset="0"/>
              <a:ea typeface="Arial" panose="020B0604020202020204" pitchFamily="34" charset="0"/>
              <a:cs typeface="Arial" panose="020B0604020202020204" pitchFamily="34" charset="0"/>
            </a:endParaRPr>
          </a:p>
        </p:txBody>
      </p:sp>
      <p:sp>
        <p:nvSpPr>
          <p:cNvPr id="22" name="Title"/>
          <p:cNvSpPr txBox="1"/>
          <p:nvPr/>
        </p:nvSpPr>
        <p:spPr>
          <a:xfrm>
            <a:off x="731520" y="1874519"/>
            <a:ext cx="8595360" cy="1463040"/>
          </a:xfrm>
          <a:prstGeom prst="rect">
            <a:avLst/>
          </a:prstGeom>
          <a:noFill/>
        </p:spPr>
        <p:txBody>
          <a:bodyPr wrap="square" lIns="0" tIns="0" rIns="0" bIns="0" rtlCol="0">
            <a:spAutoFit/>
          </a:bodyPr>
          <a:lstStyle/>
          <a:p>
            <a:pPr algn="l">
              <a:lnSpc>
                <a:spcPct val="105000"/>
              </a:lnSpc>
            </a:pPr>
            <a:r>
              <a:rPr lang="en-US" altLang="ko-KR" sz="3200" b="1" dirty="0">
                <a:solidFill>
                  <a:srgbClr val="1F497D"/>
                </a:solidFill>
                <a:latin typeface="Arial" panose="020B0604020202020204" pitchFamily="34" charset="0"/>
                <a:ea typeface="Arial" panose="020B0604020202020204" pitchFamily="34" charset="0"/>
                <a:cs typeface="Arial" panose="020B0604020202020204" pitchFamily="34" charset="0"/>
              </a:rPr>
              <a:t>Closed-Loop Control Systems Robust to</a:t>
            </a:r>
            <a:endParaRPr lang="en-US" altLang="ko-KR" sz="3200" dirty="0">
              <a:solidFill>
                <a:srgbClr val="1F497D"/>
              </a:solidFill>
              <a:latin typeface="Arial" panose="020B0604020202020204" pitchFamily="34" charset="0"/>
              <a:ea typeface="Arial" panose="020B0604020202020204" pitchFamily="34" charset="0"/>
              <a:cs typeface="Arial" panose="020B0604020202020204" pitchFamily="34" charset="0"/>
            </a:endParaRPr>
          </a:p>
          <a:p>
            <a:pPr algn="l">
              <a:lnSpc>
                <a:spcPct val="105000"/>
              </a:lnSpc>
            </a:pPr>
            <a:r>
              <a:rPr lang="en-US" altLang="ko-KR" sz="3200" b="1" dirty="0">
                <a:solidFill>
                  <a:srgbClr val="1F497D"/>
                </a:solidFill>
                <a:latin typeface="Arial" panose="020B0604020202020204" pitchFamily="34" charset="0"/>
                <a:ea typeface="Arial" panose="020B0604020202020204" pitchFamily="34" charset="0"/>
                <a:cs typeface="Arial" panose="020B0604020202020204" pitchFamily="34" charset="0"/>
              </a:rPr>
              <a:t>Objective and Environment Shift</a:t>
            </a:r>
            <a:endParaRPr lang="en-US" altLang="ko-KR" sz="3200" dirty="0">
              <a:solidFill>
                <a:srgbClr val="1F497D"/>
              </a:solidFill>
              <a:latin typeface="Arial" panose="020B0604020202020204" pitchFamily="34" charset="0"/>
              <a:ea typeface="Arial" panose="020B0604020202020204" pitchFamily="34" charset="0"/>
              <a:cs typeface="Arial" panose="020B0604020202020204" pitchFamily="34" charset="0"/>
            </a:endParaRPr>
          </a:p>
        </p:txBody>
      </p:sp>
      <p:sp>
        <p:nvSpPr>
          <p:cNvPr id="23" name="Subtitle"/>
          <p:cNvSpPr txBox="1"/>
          <p:nvPr/>
        </p:nvSpPr>
        <p:spPr>
          <a:xfrm>
            <a:off x="731520" y="3035808"/>
            <a:ext cx="8595360" cy="457200"/>
          </a:xfrm>
          <a:prstGeom prst="rect">
            <a:avLst/>
          </a:prstGeom>
          <a:noFill/>
        </p:spPr>
        <p:txBody>
          <a:bodyPr wrap="square" lIns="0" tIns="0" rIns="0" bIns="0" rtlCol="0">
            <a:spAutoFit/>
          </a:bodyPr>
          <a:lstStyle/>
          <a:p>
            <a:pPr algn="l"/>
            <a:r>
              <a:rPr lang="en-US" altLang="ko-KR" sz="1500" dirty="0">
                <a:solidFill>
                  <a:srgbClr val="404040"/>
                </a:solidFill>
                <a:latin typeface="Arial" panose="020B0604020202020204" pitchFamily="34" charset="0"/>
                <a:ea typeface="Arial" panose="020B0604020202020204" pitchFamily="34" charset="0"/>
                <a:cs typeface="Arial" panose="020B0604020202020204" pitchFamily="34" charset="0"/>
              </a:rPr>
              <a:t>Resource management and other closed-loop control that adapt through RL policy transfer and LLM agents, built and validated through systems engineering</a:t>
            </a:r>
          </a:p>
        </p:txBody>
      </p:sp>
      <p:sp>
        <p:nvSpPr>
          <p:cNvPr id="24" name="AxesCard"/>
          <p:cNvSpPr/>
          <p:nvPr/>
        </p:nvSpPr>
        <p:spPr>
          <a:xfrm>
            <a:off x="731520" y="3611880"/>
            <a:ext cx="7863840" cy="1234440"/>
          </a:xfrm>
          <a:prstGeom prst="roundRect">
            <a:avLst>
              <a:gd name="adj" fmla="val 12000"/>
            </a:avLst>
          </a:prstGeom>
          <a:solidFill>
            <a:srgbClr val="EEF1F6"/>
          </a:solidFill>
          <a:ln>
            <a:noFill/>
          </a:ln>
        </p:spPr>
        <p:txBody>
          <a:bodyPr rtlCol="0" anchor="ctr"/>
          <a:lstStyle/>
          <a:p>
            <a:pPr algn="ctr"/>
            <a:endParaRPr lang="ko-KR" altLang="en-US" sz="1400"/>
          </a:p>
        </p:txBody>
      </p:sp>
      <p:sp>
        <p:nvSpPr>
          <p:cNvPr id="25" name="Axes"/>
          <p:cNvSpPr txBox="1"/>
          <p:nvPr/>
        </p:nvSpPr>
        <p:spPr>
          <a:xfrm>
            <a:off x="960120" y="3703320"/>
            <a:ext cx="7498079" cy="1097280"/>
          </a:xfrm>
          <a:prstGeom prst="rect">
            <a:avLst/>
          </a:prstGeom>
          <a:noFill/>
        </p:spPr>
        <p:txBody>
          <a:bodyPr wrap="square" lIns="0" tIns="0" rIns="0" bIns="0" rtlCol="0" anchor="ctr"/>
          <a:lstStyle/>
          <a:p>
            <a:pPr algn="l">
              <a:lnSpc>
                <a:spcPct val="110000"/>
              </a:lnSpc>
              <a:spcAft>
                <a:spcPts val="400"/>
              </a:spcAft>
            </a:pPr>
            <a:r>
              <a:rPr lang="en-US" altLang="ko-KR" sz="1400" b="1" dirty="0">
                <a:latin typeface="Arial" panose="020B0604020202020204" pitchFamily="34" charset="0"/>
                <a:ea typeface="Arial" panose="020B0604020202020204" pitchFamily="34" charset="0"/>
                <a:cs typeface="Arial" panose="020B0604020202020204" pitchFamily="34" charset="0"/>
              </a:rPr>
              <a:t>① Reinforcement Learning</a:t>
            </a:r>
            <a:r>
              <a:rPr lang="en-US" altLang="ko-KR" sz="1400" dirty="0">
                <a:latin typeface="Arial" panose="020B0604020202020204" pitchFamily="34" charset="0"/>
                <a:ea typeface="Arial" panose="020B0604020202020204" pitchFamily="34" charset="0"/>
                <a:cs typeface="Arial" panose="020B0604020202020204" pitchFamily="34" charset="0"/>
              </a:rPr>
              <a:t> — Resource Management &amp; Cloud Robotics</a:t>
            </a:r>
          </a:p>
          <a:p>
            <a:pPr algn="l">
              <a:lnSpc>
                <a:spcPct val="110000"/>
              </a:lnSpc>
              <a:spcAft>
                <a:spcPts val="400"/>
              </a:spcAft>
            </a:pPr>
            <a:r>
              <a:rPr lang="en-US" altLang="ko-KR" sz="1400" b="1" dirty="0">
                <a:latin typeface="Arial" panose="020B0604020202020204" pitchFamily="34" charset="0"/>
                <a:ea typeface="Arial" panose="020B0604020202020204" pitchFamily="34" charset="0"/>
                <a:cs typeface="Arial" panose="020B0604020202020204" pitchFamily="34" charset="0"/>
              </a:rPr>
              <a:t>② Agentic AI</a:t>
            </a:r>
            <a:r>
              <a:rPr lang="en-US" altLang="ko-KR" sz="1400" dirty="0">
                <a:latin typeface="Arial" panose="020B0604020202020204" pitchFamily="34" charset="0"/>
                <a:ea typeface="Arial" panose="020B0604020202020204" pitchFamily="34" charset="0"/>
                <a:cs typeface="Arial" panose="020B0604020202020204" pitchFamily="34" charset="0"/>
              </a:rPr>
              <a:t> — LLM Agents for System Operation (Robotics &amp; V2G)</a:t>
            </a:r>
          </a:p>
          <a:p>
            <a:pPr algn="l">
              <a:lnSpc>
                <a:spcPct val="110000"/>
              </a:lnSpc>
            </a:pPr>
            <a:r>
              <a:rPr lang="en-US" altLang="ko-KR" sz="1400" b="1" dirty="0">
                <a:latin typeface="Arial" panose="020B0604020202020204" pitchFamily="34" charset="0"/>
                <a:ea typeface="Arial" panose="020B0604020202020204" pitchFamily="34" charset="0"/>
                <a:cs typeface="Arial" panose="020B0604020202020204" pitchFamily="34" charset="0"/>
              </a:rPr>
              <a:t>③ Systems Engineering</a:t>
            </a:r>
            <a:r>
              <a:rPr lang="en-US" altLang="ko-KR" sz="1400" dirty="0">
                <a:latin typeface="Arial" panose="020B0604020202020204" pitchFamily="34" charset="0"/>
                <a:ea typeface="Arial" panose="020B0604020202020204" pitchFamily="34" charset="0"/>
                <a:cs typeface="Arial" panose="020B0604020202020204" pitchFamily="34" charset="0"/>
              </a:rPr>
              <a:t> — Simulators, Testbeds, Protocols &amp; Deployment</a:t>
            </a:r>
          </a:p>
        </p:txBody>
      </p:sp>
      <p:sp>
        <p:nvSpPr>
          <p:cNvPr id="26" name="Name"/>
          <p:cNvSpPr txBox="1"/>
          <p:nvPr/>
        </p:nvSpPr>
        <p:spPr>
          <a:xfrm>
            <a:off x="731520" y="5257800"/>
            <a:ext cx="8595360" cy="1280160"/>
          </a:xfrm>
          <a:prstGeom prst="rect">
            <a:avLst/>
          </a:prstGeom>
          <a:noFill/>
        </p:spPr>
        <p:txBody>
          <a:bodyPr wrap="square" lIns="0" tIns="0" rIns="0" bIns="0" rtlCol="0">
            <a:spAutoFit/>
          </a:bodyPr>
          <a:lstStyle/>
          <a:p>
            <a:pPr algn="l">
              <a:spcAft>
                <a:spcPts val="400"/>
              </a:spcAft>
            </a:pPr>
            <a:r>
              <a:rPr lang="en-US" altLang="ko-KR" sz="1800" b="1" dirty="0">
                <a:latin typeface="Arial" panose="020B0604020202020204" pitchFamily="34" charset="0"/>
                <a:ea typeface="Arial" panose="020B0604020202020204" pitchFamily="34" charset="0"/>
                <a:cs typeface="Arial" panose="020B0604020202020204" pitchFamily="34" charset="0"/>
              </a:rPr>
              <a:t>Youngseok Lee</a:t>
            </a:r>
            <a:endParaRPr lang="en-US" altLang="ko-KR" sz="1800" dirty="0">
              <a:latin typeface="Arial" panose="020B0604020202020204" pitchFamily="34" charset="0"/>
              <a:ea typeface="Arial" panose="020B0604020202020204" pitchFamily="34" charset="0"/>
              <a:cs typeface="Arial" panose="020B0604020202020204" pitchFamily="34" charset="0"/>
            </a:endParaRPr>
          </a:p>
          <a:p>
            <a:pPr algn="l"/>
            <a:r>
              <a:rPr lang="en-US" altLang="ko-KR" sz="1200" dirty="0">
                <a:solidFill>
                  <a:srgbClr val="595959"/>
                </a:solidFill>
                <a:latin typeface="Arial" panose="020B0604020202020204" pitchFamily="34" charset="0"/>
                <a:ea typeface="Arial" panose="020B0604020202020204" pitchFamily="34" charset="0"/>
                <a:cs typeface="Arial" panose="020B0604020202020204" pitchFamily="34" charset="0"/>
              </a:rPr>
              <a:t>Ph.D. Candidate, Dept. of Electrical &amp; Computer Engineering, Sungkyunkwan University</a:t>
            </a:r>
          </a:p>
          <a:p>
            <a:pPr algn="l"/>
            <a:r>
              <a:rPr lang="en-US" altLang="ko-KR" sz="1200" dirty="0">
                <a:solidFill>
                  <a:srgbClr val="595959"/>
                </a:solidFill>
                <a:latin typeface="Arial" panose="020B0604020202020204" pitchFamily="34" charset="0"/>
                <a:ea typeface="Arial" panose="020B0604020202020204" pitchFamily="34" charset="0"/>
                <a:cs typeface="Arial" panose="020B0604020202020204" pitchFamily="34" charset="0"/>
              </a:rPr>
              <a:t>Advisor: Prof. Honguk Woo (CSI-Agent Group) · Expected graduation Feb. 2027</a:t>
            </a:r>
          </a:p>
          <a:p>
            <a:pPr algn="l"/>
            <a:r>
              <a:rPr lang="en-US" altLang="ko-KR" sz="1200" dirty="0">
                <a:solidFill>
                  <a:srgbClr val="595959"/>
                </a:solidFill>
                <a:latin typeface="Arial" panose="020B0604020202020204" pitchFamily="34" charset="0"/>
                <a:ea typeface="Arial" panose="020B0604020202020204" pitchFamily="34" charset="0"/>
                <a:cs typeface="Arial" panose="020B0604020202020204" pitchFamily="34" charset="0"/>
              </a:rPr>
              <a:t>yslee.gs@gmail.com · Google Scholar: scholar.google.com/citations?user=GhwtxtgAAAAJ</a:t>
            </a:r>
          </a:p>
        </p:txBody>
      </p:sp>
    </p:spTree>
    <p:extLst>
      <p:ext uri="{BB962C8B-B14F-4D97-AF65-F5344CB8AC3E}">
        <p14:creationId xmlns:p14="http://schemas.microsoft.com/office/powerpoint/2010/main" val="461734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0EB24-510B-00B5-09E0-0CB1D5113C89}"/>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185C7BA9-9CDD-6FA4-B173-77F84587A4A3}"/>
              </a:ext>
            </a:extLst>
          </p:cNvPr>
          <p:cNvSpPr txBox="1"/>
          <p:nvPr/>
        </p:nvSpPr>
        <p:spPr>
          <a:xfrm>
            <a:off x="173455" y="379336"/>
            <a:ext cx="8414420" cy="369332"/>
          </a:xfrm>
          <a:prstGeom prst="rect">
            <a:avLst/>
          </a:prstGeom>
          <a:noFill/>
        </p:spPr>
        <p:txBody>
          <a:bodyPr wrap="square" rtlCol="0">
            <a:spAutoFit/>
          </a:bodyPr>
          <a:lstStyle/>
          <a:p>
            <a:r>
              <a:rPr lang="en-US" altLang="ko-KR" b="1" dirty="0">
                <a:latin typeface="Arial" panose="020B0604020202020204" pitchFamily="34" charset="0"/>
                <a:ea typeface="Arial" panose="020B0604020202020204" pitchFamily="34" charset="0"/>
                <a:cs typeface="Arial" panose="020B0604020202020204" pitchFamily="34" charset="0"/>
              </a:rPr>
              <a:t>Youngseok Lee — Ph.D. Candidate, Sungkyunkwan Univ.</a:t>
            </a:r>
            <a:endParaRPr lang="en-US" altLang="ko-KR" dirty="0">
              <a:latin typeface="Arial" pitchFamily="34" charset="0"/>
              <a:ea typeface="Arial Unicode MS" pitchFamily="50" charset="-127"/>
              <a:cs typeface="Arial" pitchFamily="34" charset="0"/>
            </a:endParaRPr>
          </a:p>
        </p:txBody>
      </p:sp>
      <p:sp>
        <p:nvSpPr>
          <p:cNvPr id="12" name="TextBox 11">
            <a:extLst>
              <a:ext uri="{FF2B5EF4-FFF2-40B4-BE49-F238E27FC236}">
                <a16:creationId xmlns:a16="http://schemas.microsoft.com/office/drawing/2014/main" id="{AB5934C9-4EC8-9BFB-4E3B-C51573549FE1}"/>
              </a:ext>
            </a:extLst>
          </p:cNvPr>
          <p:cNvSpPr txBox="1"/>
          <p:nvPr/>
        </p:nvSpPr>
        <p:spPr>
          <a:xfrm>
            <a:off x="173455" y="791998"/>
            <a:ext cx="9603782" cy="1709928"/>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Education</a:t>
            </a:r>
            <a:r>
              <a:rPr lang="en-US" altLang="ko-KR" sz="1100" dirty="0">
                <a:latin typeface="Arial" panose="020B0604020202020204" pitchFamily="34" charset="0"/>
                <a:ea typeface="Arial" panose="020B0604020202020204" pitchFamily="34" charset="0"/>
                <a:cs typeface="Arial" panose="020B0604020202020204" pitchFamily="34" charset="0"/>
              </a:rPr>
              <a:t> — Integrated M.S.–Ph.D., Electrical &amp; Computer Engineering, Sungkyunkwan University (Mar. 2013 – Feb. 2027, expected) · Advisor: Prof. Honguk Woo (CSI-Agent Group) · Dissertation: Reinforcement Learning for Quality-Driven Network Control</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2018: moved to Prof. Honguk Woo's group and defined the dissertation topic · Expert Research Personnel service (Mar. 2017 – Mar. 2020) · Global Ph.D. Fellowship, 5-year term (2013–2018, Ministry of Education / NRF Korea)</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Achievements</a:t>
            </a:r>
            <a:r>
              <a:rPr lang="en-US" altLang="ko-KR" sz="1100" dirty="0">
                <a:latin typeface="Arial" panose="020B0604020202020204" pitchFamily="34" charset="0"/>
                <a:ea typeface="Arial" panose="020B0604020202020204" pitchFamily="34" charset="0"/>
                <a:cs typeface="Arial" panose="020B0604020202020204" pitchFamily="34" charset="0"/>
              </a:rPr>
              <a:t> — </a:t>
            </a:r>
            <a:r>
              <a:rPr lang="en-US" altLang="ko-KR" sz="1100" u="sng" dirty="0">
                <a:latin typeface="Arial" panose="020B0604020202020204" pitchFamily="34" charset="0"/>
                <a:ea typeface="Arial" panose="020B0604020202020204" pitchFamily="34" charset="0"/>
                <a:cs typeface="Arial" panose="020B0604020202020204" pitchFamily="34" charset="0"/>
              </a:rPr>
              <a:t>8 granted patents (US 5 / KR 3, first inventor on 4)</a:t>
            </a:r>
            <a:r>
              <a:rPr lang="en-US" altLang="ko-KR" sz="1100" dirty="0">
                <a:latin typeface="Arial" panose="020B0604020202020204" pitchFamily="34" charset="0"/>
                <a:ea typeface="Arial" panose="020B0604020202020204" pitchFamily="34" charset="0"/>
                <a:cs typeface="Arial" panose="020B0604020202020204" pitchFamily="34" charset="0"/>
              </a:rPr>
              <a:t> · </a:t>
            </a:r>
            <a:r>
              <a:rPr lang="en-US" altLang="ko-KR" sz="1100" u="sng" dirty="0">
                <a:latin typeface="Arial" panose="020B0604020202020204" pitchFamily="34" charset="0"/>
                <a:ea typeface="Arial" panose="020B0604020202020204" pitchFamily="34" charset="0"/>
                <a:cs typeface="Arial" panose="020B0604020202020204" pitchFamily="34" charset="0"/>
              </a:rPr>
              <a:t>5 systems delivered</a:t>
            </a:r>
            <a:r>
              <a:rPr lang="en-US" altLang="ko-KR" sz="1100" dirty="0">
                <a:latin typeface="Arial" panose="020B0604020202020204" pitchFamily="34" charset="0"/>
                <a:ea typeface="Arial" panose="020B0604020202020204" pitchFamily="34" charset="0"/>
                <a:cs typeface="Arial" panose="020B0604020202020204" pitchFamily="34" charset="0"/>
              </a:rPr>
              <a:t> · IEEE INFOCOM 2027 (first author, under review) · NeurIPS 2024 (second author) · 3 SCIE journal papers (first author 2 / second author 1) · 35 earlier publications (2012–2018)</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Delivered to Samsung Electronics ×2, Polaris AI, Acryl, and ADD (Agency for Defense Development), each as technical leader · 20 funded projects (principal investigator 1 · technical leader 10 · researcher 9) · 9 software copyrights</a:t>
            </a:r>
          </a:p>
        </p:txBody>
      </p:sp>
      <p:cxnSp>
        <p:nvCxnSpPr>
          <p:cNvPr id="4" name="직선 연결선 3">
            <a:extLst>
              <a:ext uri="{FF2B5EF4-FFF2-40B4-BE49-F238E27FC236}">
                <a16:creationId xmlns:a16="http://schemas.microsoft.com/office/drawing/2014/main" id="{DEAF566A-FC0D-3E49-62D0-0EC2CAAD00EE}"/>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B27A76D4-42F2-83C4-FFAD-07D4C47D2607}"/>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254C290D-EBEC-3B81-9A26-919F80572A6F}"/>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95F2FF65-9687-A7A2-C5EF-8738C1B273A7}"/>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3901E85C-06AE-34EB-817A-D47366EF25AC}"/>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0183985F-E766-A733-27C3-2A55D8D7807D}"/>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26FBC824-4158-2D7D-50EF-33F54FF50A7B}"/>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2</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40D4A926-2AF0-6AFA-4623-810F84CA9D21}"/>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anose="020B0604020202020204" pitchFamily="34" charset="0"/>
                <a:ea typeface="Arial" panose="020B0604020202020204" pitchFamily="34" charset="0"/>
                <a:cs typeface="Arial" panose="020B0604020202020204" pitchFamily="34" charset="0"/>
              </a:rPr>
              <a:t>Introduction</a:t>
            </a:r>
            <a:endParaRPr lang="en-US" altLang="ko-KR" sz="1400" dirty="0">
              <a:latin typeface="Arial" pitchFamily="34" charset="0"/>
              <a:ea typeface="Arial Unicode MS" pitchFamily="50" charset="-127"/>
              <a:cs typeface="Arial" pitchFamily="34" charset="0"/>
            </a:endParaRPr>
          </a:p>
        </p:txBody>
      </p:sp>
      <p:graphicFrame>
        <p:nvGraphicFramePr>
          <p:cNvPr id="3" name="표 2">
            <a:extLst>
              <a:ext uri="{FF2B5EF4-FFF2-40B4-BE49-F238E27FC236}">
                <a16:creationId xmlns:a16="http://schemas.microsoft.com/office/drawing/2014/main" id="{8CE62F0F-BA9F-BDDC-E621-C1EC291F55A0}"/>
              </a:ext>
            </a:extLst>
          </p:cNvPr>
          <p:cNvGraphicFramePr>
            <a:graphicFrameLocks noGrp="1"/>
          </p:cNvGraphicFramePr>
          <p:nvPr>
            <p:extLst>
              <p:ext uri="{D42A27DB-BD31-4B8C-83A1-F6EECF244321}">
                <p14:modId xmlns:p14="http://schemas.microsoft.com/office/powerpoint/2010/main" val="1458703216"/>
              </p:ext>
            </p:extLst>
          </p:nvPr>
        </p:nvGraphicFramePr>
        <p:xfrm>
          <a:off x="151109" y="2564904"/>
          <a:ext cx="9621979" cy="3766591"/>
        </p:xfrm>
        <a:graphic>
          <a:graphicData uri="http://schemas.openxmlformats.org/drawingml/2006/table">
            <a:tbl>
              <a:tblPr firstRow="1" firstCol="1" bandRow="1"/>
              <a:tblGrid>
                <a:gridCol w="2137595">
                  <a:extLst>
                    <a:ext uri="{9D8B030D-6E8A-4147-A177-3AD203B41FA5}">
                      <a16:colId xmlns:a16="http://schemas.microsoft.com/office/drawing/2014/main" val="3255583868"/>
                    </a:ext>
                  </a:extLst>
                </a:gridCol>
                <a:gridCol w="4824536">
                  <a:extLst>
                    <a:ext uri="{9D8B030D-6E8A-4147-A177-3AD203B41FA5}">
                      <a16:colId xmlns:a16="http://schemas.microsoft.com/office/drawing/2014/main" val="4141129299"/>
                    </a:ext>
                  </a:extLst>
                </a:gridCol>
                <a:gridCol w="2659848">
                  <a:extLst>
                    <a:ext uri="{9D8B030D-6E8A-4147-A177-3AD203B41FA5}">
                      <a16:colId xmlns:a16="http://schemas.microsoft.com/office/drawing/2014/main" val="1825718788"/>
                    </a:ext>
                  </a:extLst>
                </a:gridCol>
              </a:tblGrid>
              <a:tr h="237620">
                <a:tc>
                  <a:txBody>
                    <a:bodyPr/>
                    <a:lstStyle/>
                    <a:p>
                      <a:pPr algn="just">
                        <a:spcBef>
                          <a:spcPts val="120"/>
                        </a:spcBef>
                        <a:spcAft>
                          <a:spcPts val="120"/>
                        </a:spcAft>
                        <a:buNone/>
                      </a:pPr>
                      <a:r>
                        <a:rPr lang="en-US" sz="1100" b="1">
                          <a:solidFill>
                            <a:srgbClr val="1F3864"/>
                          </a:solidFill>
                          <a:effectLst/>
                          <a:latin typeface="Arial" panose="020B0604020202020204" pitchFamily="34" charset="0"/>
                          <a:ea typeface="맑은 고딕" panose="020B0503020000020004" pitchFamily="50" charset="-127"/>
                          <a:cs typeface="Arial" panose="020B0604020202020204" pitchFamily="34" charset="0"/>
                        </a:rPr>
                        <a:t>Research area</a:t>
                      </a:r>
                      <a:endParaRPr lang="ko-KR" sz="110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EF1F6"/>
                    </a:solidFill>
                  </a:tcPr>
                </a:tc>
                <a:tc>
                  <a:txBody>
                    <a:bodyPr/>
                    <a:lstStyle/>
                    <a:p>
                      <a:pPr algn="just">
                        <a:spcBef>
                          <a:spcPts val="120"/>
                        </a:spcBef>
                        <a:spcAft>
                          <a:spcPts val="120"/>
                        </a:spcAft>
                        <a:buNone/>
                      </a:pPr>
                      <a:r>
                        <a:rPr lang="en-US" sz="1100" b="1">
                          <a:solidFill>
                            <a:srgbClr val="1F3864"/>
                          </a:solidFill>
                          <a:effectLst/>
                          <a:latin typeface="Arial" panose="020B0604020202020204" pitchFamily="34" charset="0"/>
                          <a:ea typeface="맑은 고딕" panose="020B0503020000020004" pitchFamily="50" charset="-127"/>
                          <a:cs typeface="Arial" panose="020B0604020202020204" pitchFamily="34" charset="0"/>
                        </a:rPr>
                        <a:t>Representative work</a:t>
                      </a:r>
                      <a:endParaRPr lang="ko-KR" sz="110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EF1F6"/>
                    </a:solidFill>
                  </a:tcPr>
                </a:tc>
                <a:tc>
                  <a:txBody>
                    <a:bodyPr/>
                    <a:lstStyle/>
                    <a:p>
                      <a:pPr algn="just">
                        <a:spcBef>
                          <a:spcPts val="120"/>
                        </a:spcBef>
                        <a:spcAft>
                          <a:spcPts val="120"/>
                        </a:spcAft>
                        <a:buNone/>
                      </a:pPr>
                      <a:r>
                        <a:rPr lang="en-US" sz="1100" b="1" dirty="0">
                          <a:solidFill>
                            <a:srgbClr val="1F3864"/>
                          </a:solidFill>
                          <a:effectLst/>
                          <a:latin typeface="Arial" panose="020B0604020202020204" pitchFamily="34" charset="0"/>
                          <a:ea typeface="맑은 고딕" panose="020B0503020000020004" pitchFamily="50" charset="-127"/>
                          <a:cs typeface="Arial" panose="020B0604020202020204" pitchFamily="34" charset="0"/>
                        </a:rPr>
                        <a:t>Outcomes</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EF1F6"/>
                    </a:solidFill>
                  </a:tcPr>
                </a:tc>
                <a:extLst>
                  <a:ext uri="{0D108BD9-81ED-4DB2-BD59-A6C34878D82A}">
                    <a16:rowId xmlns:a16="http://schemas.microsoft.com/office/drawing/2014/main" val="4083457156"/>
                  </a:ext>
                </a:extLst>
              </a:tr>
              <a:tr h="1168834">
                <a:tc>
                  <a:txBody>
                    <a:bodyPr/>
                    <a:lstStyle/>
                    <a:p>
                      <a:pPr marL="228600" indent="-228600" algn="l">
                        <a:spcBef>
                          <a:spcPts val="120"/>
                        </a:spcBef>
                        <a:spcAft>
                          <a:spcPts val="120"/>
                        </a:spcAft>
                        <a:buNone/>
                        <a:tabLst>
                          <a:tab pos="228600" algn="l"/>
                        </a:tabLst>
                      </a:pPr>
                      <a:r>
                        <a:rPr lang="en-US" sz="1100" dirty="0">
                          <a:effectLst/>
                          <a:latin typeface="Arial" panose="020B0604020202020204" pitchFamily="34" charset="0"/>
                          <a:ea typeface="Arial Unicode MS" pitchFamily="50" charset="-127"/>
                          <a:cs typeface="Arial" panose="020B0604020202020204" pitchFamily="34" charset="0"/>
                        </a:rPr>
                        <a:t>①	</a:t>
                      </a:r>
                      <a:r>
                        <a:rPr lang="en-US" sz="1100" b="1" dirty="0">
                          <a:effectLst/>
                          <a:latin typeface="Arial" panose="020B0604020202020204" pitchFamily="34" charset="0"/>
                          <a:ea typeface="맑은 고딕" panose="020B0503020000020004" pitchFamily="50" charset="-127"/>
                          <a:cs typeface="Arial" panose="020B0604020202020204" pitchFamily="34" charset="0"/>
                        </a:rPr>
                        <a:t>Reinforcement Learning</a:t>
                      </a:r>
                      <a:r>
                        <a:rPr lang="en-US" sz="1100" dirty="0">
                          <a:effectLst/>
                          <a:latin typeface="Arial" panose="020B0604020202020204" pitchFamily="34" charset="0"/>
                          <a:ea typeface="맑은 고딕" panose="020B0503020000020004" pitchFamily="50" charset="-127"/>
                          <a:cs typeface="Arial" panose="020B0604020202020204" pitchFamily="34" charset="0"/>
                        </a:rPr>
                        <a:t> —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Resource Management &amp;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Cloud Robotics</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just">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Repot — Bandwidth allocation transferred across network environments by flow embedding and action shaping</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120"/>
                        </a:spcBef>
                        <a:spcAft>
                          <a:spcPts val="120"/>
                        </a:spcAft>
                        <a:buFont typeface="Arial" panose="020B0604020202020204" pitchFamily="34" charset="0"/>
                        <a:buChar char="○"/>
                      </a:pPr>
                      <a:r>
                        <a:rPr lang="en-US" sz="1100" dirty="0" err="1">
                          <a:effectLst/>
                          <a:latin typeface="Arial" panose="020B0604020202020204" pitchFamily="34" charset="0"/>
                          <a:ea typeface="맑은 고딕" panose="020B0503020000020004" pitchFamily="50" charset="-127"/>
                          <a:cs typeface="Arial" panose="020B0604020202020204" pitchFamily="34" charset="0"/>
                        </a:rPr>
                        <a:t>XferQoE</a:t>
                      </a:r>
                      <a:r>
                        <a:rPr lang="en-US" sz="1100" dirty="0">
                          <a:effectLst/>
                          <a:latin typeface="Arial" panose="020B0604020202020204" pitchFamily="34" charset="0"/>
                          <a:ea typeface="맑은 고딕" panose="020B0503020000020004" pitchFamily="50" charset="-127"/>
                          <a:cs typeface="Arial" panose="020B0604020202020204" pitchFamily="34" charset="0"/>
                        </a:rPr>
                        <a:t> — One QoS-pretrained rate controller, adapted per application</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by objective-weight fitting from QoE feedback</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Physical-AI PoC — Code-as-Policies demo · robot foundation model (RFM) fine-tuning on a real arm (SO-101)</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Off-board RFMs under network delay (in progress; page 12)</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l">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IEEE Access 2021 (first author)</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l">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1 first-inventor patent family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(KR 2023 · US 2026)</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l">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IEEE INFOCOM 2027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(first author, under review)</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751216"/>
                  </a:ext>
                </a:extLst>
              </a:tr>
              <a:tr h="616528">
                <a:tc>
                  <a:txBody>
                    <a:bodyPr/>
                    <a:lstStyle/>
                    <a:p>
                      <a:pPr marL="228600" indent="-228600" algn="l">
                        <a:spcBef>
                          <a:spcPts val="120"/>
                        </a:spcBef>
                        <a:spcAft>
                          <a:spcPts val="120"/>
                        </a:spcAft>
                        <a:buNone/>
                        <a:tabLst>
                          <a:tab pos="228600" algn="l"/>
                        </a:tabLst>
                      </a:pPr>
                      <a:r>
                        <a:rPr lang="en-US" sz="1100" dirty="0">
                          <a:effectLst/>
                          <a:latin typeface="Arial" panose="020B0604020202020204" pitchFamily="34" charset="0"/>
                          <a:ea typeface="Arial Unicode MS" pitchFamily="50" charset="-127"/>
                          <a:cs typeface="Arial" panose="020B0604020202020204" pitchFamily="34" charset="0"/>
                        </a:rPr>
                        <a:t>②	</a:t>
                      </a:r>
                      <a:r>
                        <a:rPr lang="en-US" sz="1100" b="1" dirty="0">
                          <a:effectLst/>
                          <a:latin typeface="Arial" panose="020B0604020202020204" pitchFamily="34" charset="0"/>
                          <a:ea typeface="맑은 고딕" panose="020B0503020000020004" pitchFamily="50" charset="-127"/>
                          <a:cs typeface="Arial" panose="020B0604020202020204" pitchFamily="34" charset="0"/>
                        </a:rPr>
                        <a:t>Agentic AI</a:t>
                      </a:r>
                      <a:r>
                        <a:rPr lang="en-US" sz="1100" dirty="0">
                          <a:effectLst/>
                          <a:latin typeface="Arial" panose="020B0604020202020204" pitchFamily="34" charset="0"/>
                          <a:ea typeface="맑은 고딕" panose="020B0503020000020004" pitchFamily="50" charset="-127"/>
                          <a:cs typeface="Arial" panose="020B0604020202020204" pitchFamily="34" charset="0"/>
                        </a:rPr>
                        <a:t> — LLM Agents</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for System Operation</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(Robotics &amp; V2G)</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just">
                        <a:spcBef>
                          <a:spcPts val="120"/>
                        </a:spcBef>
                        <a:spcAft>
                          <a:spcPts val="120"/>
                        </a:spcAft>
                        <a:buFont typeface="Arial" panose="020B0604020202020204" pitchFamily="34" charset="0"/>
                        <a:buChar char="○"/>
                      </a:pPr>
                      <a:r>
                        <a:rPr lang="en-US" sz="1100" dirty="0" err="1">
                          <a:effectLst/>
                          <a:latin typeface="Arial" panose="020B0604020202020204" pitchFamily="34" charset="0"/>
                          <a:ea typeface="맑은 고딕" panose="020B0503020000020004" pitchFamily="50" charset="-127"/>
                          <a:cs typeface="Arial" panose="020B0604020202020204" pitchFamily="34" charset="0"/>
                        </a:rPr>
                        <a:t>LDuS</a:t>
                      </a:r>
                      <a:r>
                        <a:rPr lang="en-US" sz="1100" dirty="0">
                          <a:effectLst/>
                          <a:latin typeface="Arial" panose="020B0604020202020204" pitchFamily="34" charset="0"/>
                          <a:ea typeface="맑은 고딕" panose="020B0503020000020004" pitchFamily="50" charset="-127"/>
                          <a:cs typeface="Arial" panose="020B0604020202020204" pitchFamily="34" charset="0"/>
                        </a:rPr>
                        <a:t> — LLM-guided skill diffusion for zero-shot policy adaptation</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AgentV2G (in progress) — LLM-agent V2G (vehicle-to-grid) fleet operation under drift, day-ahead → real-time; SAC dispatch policy</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l">
                        <a:spcBef>
                          <a:spcPts val="120"/>
                        </a:spcBef>
                        <a:spcAft>
                          <a:spcPts val="120"/>
                        </a:spcAft>
                        <a:buFont typeface="Arial" panose="020B0604020202020204" pitchFamily="34" charset="0"/>
                        <a:buChar char="○"/>
                      </a:pPr>
                      <a:r>
                        <a:rPr lang="en-US" sz="1100" dirty="0" err="1">
                          <a:effectLst/>
                          <a:latin typeface="Arial" panose="020B0604020202020204" pitchFamily="34" charset="0"/>
                          <a:ea typeface="맑은 고딕" panose="020B0503020000020004" pitchFamily="50" charset="-127"/>
                          <a:cs typeface="Arial" panose="020B0604020202020204" pitchFamily="34" charset="0"/>
                        </a:rPr>
                        <a:t>NeurIPS</a:t>
                      </a:r>
                      <a:r>
                        <a:rPr lang="en-US" sz="1100" dirty="0">
                          <a:effectLst/>
                          <a:latin typeface="Arial" panose="020B0604020202020204" pitchFamily="34" charset="0"/>
                          <a:ea typeface="맑은 고딕" panose="020B0503020000020004" pitchFamily="50" charset="-127"/>
                          <a:cs typeface="Arial" panose="020B0604020202020204" pitchFamily="34" charset="0"/>
                        </a:rPr>
                        <a:t> 2024 (second author)</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72950608"/>
                  </a:ext>
                </a:extLst>
              </a:tr>
              <a:tr h="1611963">
                <a:tc>
                  <a:txBody>
                    <a:bodyPr/>
                    <a:lstStyle/>
                    <a:p>
                      <a:pPr marL="228600" indent="-228600" algn="l">
                        <a:spcBef>
                          <a:spcPts val="120"/>
                        </a:spcBef>
                        <a:spcAft>
                          <a:spcPts val="120"/>
                        </a:spcAft>
                        <a:buNone/>
                        <a:tabLst>
                          <a:tab pos="228600" algn="l"/>
                        </a:tabLst>
                      </a:pPr>
                      <a:r>
                        <a:rPr lang="en-US" sz="1100" dirty="0">
                          <a:effectLst/>
                          <a:latin typeface="Arial" panose="020B0604020202020204" pitchFamily="34" charset="0"/>
                          <a:ea typeface="Arial Unicode MS" pitchFamily="50" charset="-127"/>
                          <a:cs typeface="Arial" panose="020B0604020202020204" pitchFamily="34" charset="0"/>
                        </a:rPr>
                        <a:t>③	</a:t>
                      </a:r>
                      <a:r>
                        <a:rPr lang="en-US" sz="1100" b="1" dirty="0">
                          <a:effectLst/>
                          <a:latin typeface="Arial" panose="020B0604020202020204" pitchFamily="34" charset="0"/>
                          <a:ea typeface="맑은 고딕" panose="020B0503020000020004" pitchFamily="50" charset="-127"/>
                          <a:cs typeface="Arial" panose="020B0604020202020204" pitchFamily="34" charset="0"/>
                        </a:rPr>
                        <a:t>Systems Engineering</a:t>
                      </a:r>
                      <a:r>
                        <a:rPr lang="en-US" sz="1100" dirty="0">
                          <a:effectLst/>
                          <a:latin typeface="Arial" panose="020B0604020202020204" pitchFamily="34" charset="0"/>
                          <a:ea typeface="맑은 고딕" panose="020B0503020000020004" pitchFamily="50" charset="-127"/>
                          <a:cs typeface="Arial" panose="020B0604020202020204" pitchFamily="34" charset="0"/>
                        </a:rPr>
                        <a:t> —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Simulators, Testbeds, </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Protocols &amp; Deployment</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S-Sim packet simulator → NS-3 → 16-node Raspberry Pi NiL testbed</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Code-as-Policies demo pipeline · SO-101 real-arm fine-tuning setup</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V2G fleet-operation environment (market rules · SMP · EV sessions)</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FL with knowledge distillation → edge-NPU YOLOv8n inference pipeline</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NVMe-oF storage simulator with dual-output DNN surrogate</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just">
                        <a:spcBef>
                          <a:spcPts val="0"/>
                        </a:spcBef>
                        <a:spcAft>
                          <a:spcPts val="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Delay-injection evaluation harness for off-board RFMs</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171450" indent="-171450" algn="l">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Systems delivered ×5</a:t>
                      </a:r>
                      <a:br>
                        <a:rPr lang="en-US" sz="1100" dirty="0">
                          <a:effectLst/>
                          <a:latin typeface="Arial" panose="020B0604020202020204" pitchFamily="34" charset="0"/>
                          <a:ea typeface="맑은 고딕" panose="020B0503020000020004" pitchFamily="50" charset="-127"/>
                          <a:cs typeface="Arial" panose="020B0604020202020204" pitchFamily="34" charset="0"/>
                        </a:rPr>
                      </a:br>
                      <a:r>
                        <a:rPr lang="en-US" sz="1100" dirty="0">
                          <a:effectLst/>
                          <a:latin typeface="Arial" panose="020B0604020202020204" pitchFamily="34" charset="0"/>
                          <a:ea typeface="맑은 고딕" panose="020B0503020000020004" pitchFamily="50" charset="-127"/>
                          <a:cs typeface="Arial" panose="020B0604020202020204" pitchFamily="34" charset="0"/>
                        </a:rPr>
                        <a:t>(Samsung ×2, Polaris AI, Acryl, ADD)</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p>
                      <a:pPr marL="171450" indent="-171450" algn="l">
                        <a:spcBef>
                          <a:spcPts val="120"/>
                        </a:spcBef>
                        <a:spcAft>
                          <a:spcPts val="120"/>
                        </a:spcAft>
                        <a:buFont typeface="Arial" panose="020B0604020202020204" pitchFamily="34" charset="0"/>
                        <a:buChar char="○"/>
                      </a:pPr>
                      <a:r>
                        <a:rPr lang="en-US" sz="1100" dirty="0">
                          <a:effectLst/>
                          <a:latin typeface="Arial" panose="020B0604020202020204" pitchFamily="34" charset="0"/>
                          <a:ea typeface="맑은 고딕" panose="020B0503020000020004" pitchFamily="50" charset="-127"/>
                          <a:cs typeface="Arial" panose="020B0604020202020204" pitchFamily="34" charset="0"/>
                        </a:rPr>
                        <a:t>3 US patents with Samsung (storage ×2 · IoT resource identification)</a:t>
                      </a:r>
                      <a:endParaRPr lang="ko-KR" sz="1100" dirty="0">
                        <a:effectLst/>
                        <a:latin typeface="Arial" panose="020B0604020202020204" pitchFamily="34" charset="0"/>
                        <a:ea typeface="맑은 고딕" panose="020B0503020000020004" pitchFamily="50" charset="-127"/>
                        <a:cs typeface="Arial" panose="020B0604020202020204" pitchFamily="34" charset="0"/>
                      </a:endParaRPr>
                    </a:p>
                  </a:txBody>
                  <a:tcPr marL="50800" marR="50800" marT="25400" marB="25400">
                    <a:lnL>
                      <a:noFill/>
                    </a:lnL>
                    <a:lnR>
                      <a:noFill/>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90875656"/>
                  </a:ext>
                </a:extLst>
              </a:tr>
            </a:tbl>
          </a:graphicData>
        </a:graphic>
      </p:graphicFrame>
    </p:spTree>
    <p:extLst>
      <p:ext uri="{BB962C8B-B14F-4D97-AF65-F5344CB8AC3E}">
        <p14:creationId xmlns:p14="http://schemas.microsoft.com/office/powerpoint/2010/main" val="120131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9ED5A-8FD6-7786-C93A-A29B1F975D5B}"/>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D344033F-86AF-2EE5-B64C-F635AE74E4CA}"/>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BB3430BB-6FBE-2FE7-AED0-4A0BAAA03207}"/>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62231B37-DC24-4315-186C-405E49698665}"/>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AC65597E-FE8A-6749-1609-108B99A2476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2B420A9-6FA4-5AE1-E54C-438D3D15AAAD}"/>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705C7160-390C-83A3-6001-53B1FB2106B8}"/>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A3DC6673-E704-AD20-949F-BA0E3266757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3</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7B16E8DF-BB36-07CA-4952-A34A6494AD21}"/>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Research</a:t>
            </a:r>
            <a:r>
              <a:rPr lang="ko-KR" altLang="en-US" sz="1400" b="1" dirty="0">
                <a:latin typeface="Arial" pitchFamily="34" charset="0"/>
                <a:ea typeface="Arial Unicode MS" pitchFamily="50" charset="-127"/>
                <a:cs typeface="Arial" pitchFamily="34" charset="0"/>
              </a:rPr>
              <a:t> </a:t>
            </a:r>
            <a:r>
              <a:rPr lang="en-US" altLang="ko-KR" sz="1400" b="1" dirty="0">
                <a:latin typeface="Arial" pitchFamily="34" charset="0"/>
                <a:ea typeface="Arial Unicode MS" pitchFamily="50" charset="-127"/>
                <a:cs typeface="Arial" pitchFamily="34" charset="0"/>
              </a:rPr>
              <a:t>Coverage</a:t>
            </a:r>
            <a:endParaRPr lang="en-US" altLang="ko-KR" sz="1400" dirty="0">
              <a:latin typeface="Arial" pitchFamily="34" charset="0"/>
              <a:ea typeface="Arial Unicode MS" pitchFamily="50" charset="-127"/>
              <a:cs typeface="Arial" pitchFamily="34" charset="0"/>
            </a:endParaRPr>
          </a:p>
        </p:txBody>
      </p:sp>
      <p:sp>
        <p:nvSpPr>
          <p:cNvPr id="178" name="TextBox 177">
            <a:extLst>
              <a:ext uri="{FF2B5EF4-FFF2-40B4-BE49-F238E27FC236}">
                <a16:creationId xmlns:a16="http://schemas.microsoft.com/office/drawing/2014/main" id="{3E895C00-597A-AAA4-DE90-49CB2C1DC7BD}"/>
              </a:ext>
            </a:extLst>
          </p:cNvPr>
          <p:cNvSpPr txBox="1"/>
          <p:nvPr/>
        </p:nvSpPr>
        <p:spPr>
          <a:xfrm>
            <a:off x="4342412" y="5947895"/>
            <a:ext cx="5340096" cy="22860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Closed-loop QoE-driven adaptive rate control (XferQoE)</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pic>
        <p:nvPicPr>
          <p:cNvPr id="11" name="그림 10">
            <a:extLst>
              <a:ext uri="{FF2B5EF4-FFF2-40B4-BE49-F238E27FC236}">
                <a16:creationId xmlns:a16="http://schemas.microsoft.com/office/drawing/2014/main" id="{869DD70A-F98F-DCB1-E056-CA208BCEF984}"/>
              </a:ext>
            </a:extLst>
          </p:cNvPr>
          <p:cNvPicPr>
            <a:picLocks noChangeAspect="1"/>
          </p:cNvPicPr>
          <p:nvPr/>
        </p:nvPicPr>
        <p:blipFill>
          <a:blip r:embed="rId3"/>
          <a:stretch>
            <a:fillRect/>
          </a:stretch>
        </p:blipFill>
        <p:spPr>
          <a:xfrm>
            <a:off x="4343400" y="4235756"/>
            <a:ext cx="5338186" cy="1598297"/>
          </a:xfrm>
          <a:prstGeom prst="rect">
            <a:avLst/>
          </a:prstGeom>
        </p:spPr>
      </p:pic>
      <p:sp>
        <p:nvSpPr>
          <p:cNvPr id="9" name="TextBox 8">
            <a:extLst>
              <a:ext uri="{FF2B5EF4-FFF2-40B4-BE49-F238E27FC236}">
                <a16:creationId xmlns:a16="http://schemas.microsoft.com/office/drawing/2014/main" id="{35D4346C-8C79-BEA3-6182-98AC2D3A952D}"/>
              </a:ext>
            </a:extLst>
          </p:cNvPr>
          <p:cNvSpPr txBox="1"/>
          <p:nvPr/>
        </p:nvSpPr>
        <p:spPr>
          <a:xfrm>
            <a:off x="173754" y="530061"/>
            <a:ext cx="8414420" cy="369332"/>
          </a:xfrm>
          <a:prstGeom prst="rect">
            <a:avLst/>
          </a:prstGeom>
          <a:noFill/>
        </p:spPr>
        <p:txBody>
          <a:bodyPr wrap="square" rtlCol="0">
            <a:spAutoFit/>
          </a:bodyPr>
          <a:lstStyle/>
          <a:p>
            <a:r>
              <a:rPr lang="en-US" altLang="ko-KR" b="1" dirty="0">
                <a:latin typeface="Arial" panose="020B0604020202020204" pitchFamily="34" charset="0"/>
                <a:ea typeface="Arial" panose="020B0604020202020204" pitchFamily="34" charset="0"/>
                <a:cs typeface="Arial" panose="020B0604020202020204" pitchFamily="34" charset="0"/>
              </a:rPr>
              <a:t>Control Robust to Objective and Environment Shift</a:t>
            </a:r>
            <a:endParaRPr lang="en-US" altLang="ko-KR" dirty="0">
              <a:latin typeface="Arial" pitchFamily="34" charset="0"/>
              <a:ea typeface="Arial Unicode MS" pitchFamily="50" charset="-127"/>
              <a:cs typeface="Arial" pitchFamily="34" charset="0"/>
            </a:endParaRPr>
          </a:p>
        </p:txBody>
      </p:sp>
      <p:sp>
        <p:nvSpPr>
          <p:cNvPr id="13" name="TextBox 12">
            <a:extLst>
              <a:ext uri="{FF2B5EF4-FFF2-40B4-BE49-F238E27FC236}">
                <a16:creationId xmlns:a16="http://schemas.microsoft.com/office/drawing/2014/main" id="{6DCA7219-8CE4-279C-0139-2BF7709CAC56}"/>
              </a:ext>
            </a:extLst>
          </p:cNvPr>
          <p:cNvSpPr txBox="1"/>
          <p:nvPr/>
        </p:nvSpPr>
        <p:spPr>
          <a:xfrm>
            <a:off x="173754" y="1078920"/>
            <a:ext cx="9603782" cy="2787110"/>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Problem</a:t>
            </a:r>
            <a:r>
              <a:rPr lang="en-US" altLang="ko-KR" sz="1100" dirty="0">
                <a:latin typeface="Arial" panose="020B0604020202020204" pitchFamily="34" charset="0"/>
                <a:ea typeface="Arial" panose="020B0604020202020204" pitchFamily="34" charset="0"/>
                <a:cs typeface="Arial" panose="020B0604020202020204" pitchFamily="34" charset="0"/>
              </a:rPr>
              <a:t> — A learned model matches a hand-crafted model in the source environment, yet </a:t>
            </a:r>
            <a:r>
              <a:rPr lang="en-US" altLang="ko-KR" sz="1100" u="sng" dirty="0">
                <a:latin typeface="Arial" panose="020B0604020202020204" pitchFamily="34" charset="0"/>
                <a:ea typeface="Arial" panose="020B0604020202020204" pitchFamily="34" charset="0"/>
                <a:cs typeface="Arial" panose="020B0604020202020204" pitchFamily="34" charset="0"/>
              </a:rPr>
              <a:t>degrades far more severely than the hand-crafted model when the objective or the environment shifts even slightly</a:t>
            </a:r>
            <a:r>
              <a:rPr lang="en-US" altLang="ko-KR" sz="1100" dirty="0">
                <a:latin typeface="Arial" panose="020B0604020202020204" pitchFamily="34" charset="0"/>
                <a:ea typeface="Arial" panose="020B0604020202020204" pitchFamily="34" charset="0"/>
                <a:cs typeface="Arial" panose="020B0604020202020204" pitchFamily="34" charset="0"/>
              </a:rPr>
              <a:t> between source and target (left figure)</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Such shifts occur after deployment as changes in the application objective (the definition of quality of experience, or QoE) or the execution environment (network condition, demand pattern, market rule); the hand-crafted model degrades gracefully but requires manual re-tuning for each condition, whereas the learned model needs data collection and retraining for each condition</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Goal</a:t>
            </a:r>
            <a:r>
              <a:rPr lang="en-US" altLang="ko-KR" sz="1100" dirty="0">
                <a:latin typeface="Arial" panose="020B0604020202020204" pitchFamily="34" charset="0"/>
                <a:ea typeface="Arial" panose="020B0604020202020204" pitchFamily="34" charset="0"/>
                <a:cs typeface="Arial" panose="020B0604020202020204" pitchFamily="34" charset="0"/>
              </a:rPr>
              <a:t> — Closed-loop control that combines the robustness of the hand-crafted model with the performance of the learned model and, when the objective or the environment shifts after deployment, </a:t>
            </a:r>
            <a:r>
              <a:rPr lang="en-US" altLang="ko-KR" sz="1100" u="sng" dirty="0">
                <a:latin typeface="Arial" panose="020B0604020202020204" pitchFamily="34" charset="0"/>
                <a:ea typeface="Arial" panose="020B0604020202020204" pitchFamily="34" charset="0"/>
                <a:cs typeface="Arial" panose="020B0604020202020204" pitchFamily="34" charset="0"/>
              </a:rPr>
              <a:t>adapts from a small amount of data without retraining the deployed policy</a:t>
            </a:r>
          </a:p>
          <a:p>
            <a:pPr marL="685800" lvl="1" indent="-228600" algn="just">
              <a:lnSpc>
                <a:spcPct val="110000"/>
              </a:lnSpc>
              <a:buNone/>
              <a:tabLst>
                <a:tab pos="685800" algn="l"/>
              </a:tabLst>
            </a:pPr>
            <a:r>
              <a:rPr lang="en-US" altLang="ko-KR" sz="1100" b="1" dirty="0">
                <a:latin typeface="Arial" panose="020B0604020202020204" pitchFamily="34" charset="0"/>
                <a:ea typeface="Arial Unicode MS" pitchFamily="50" charset="-127"/>
                <a:cs typeface="Arial" panose="020B0604020202020204" pitchFamily="34" charset="0"/>
              </a:rPr>
              <a:t>①	</a:t>
            </a:r>
            <a:r>
              <a:rPr lang="en-US" altLang="ko-KR" sz="1100" b="1" dirty="0">
                <a:latin typeface="Arial" panose="020B0604020202020204" pitchFamily="34" charset="0"/>
                <a:ea typeface="Arial" panose="020B0604020202020204" pitchFamily="34" charset="0"/>
                <a:cs typeface="Arial" panose="020B0604020202020204" pitchFamily="34" charset="0"/>
              </a:rPr>
              <a:t>Reinforcement Learning</a:t>
            </a:r>
            <a:r>
              <a:rPr lang="en-US" altLang="ko-KR" sz="1100" dirty="0">
                <a:latin typeface="Arial" panose="020B0604020202020204" pitchFamily="34" charset="0"/>
                <a:ea typeface="Arial" panose="020B0604020202020204" pitchFamily="34" charset="0"/>
                <a:cs typeface="Arial" panose="020B0604020202020204" pitchFamily="34" charset="0"/>
              </a:rPr>
              <a:t> — RL policies for resource management and cloud robotics: a meta-RL rate controller and a bandwidth-allocation policy that transfer to new objectives and environments with little or no retraining (XferQoE · Repot), and a SAC dispatch policy for V2G fleets (AgentV2G), with RL serving control for off-board robot foundation models in progress (page 12)</a:t>
            </a:r>
          </a:p>
          <a:p>
            <a:pPr marL="685800" lvl="1" indent="-228600" algn="just">
              <a:lnSpc>
                <a:spcPct val="110000"/>
              </a:lnSpc>
              <a:buNone/>
              <a:tabLst>
                <a:tab pos="685800" algn="l"/>
              </a:tabLst>
            </a:pPr>
            <a:r>
              <a:rPr lang="en-US" altLang="ko-KR" sz="1100" b="1" dirty="0">
                <a:latin typeface="Arial" panose="020B0604020202020204" pitchFamily="34" charset="0"/>
                <a:ea typeface="Arial Unicode MS" pitchFamily="50" charset="-127"/>
                <a:cs typeface="Arial" panose="020B0604020202020204" pitchFamily="34" charset="0"/>
              </a:rPr>
              <a:t>②	</a:t>
            </a:r>
            <a:r>
              <a:rPr lang="en-US" altLang="ko-KR" sz="1100" b="1" dirty="0">
                <a:latin typeface="Arial" panose="020B0604020202020204" pitchFamily="34" charset="0"/>
                <a:ea typeface="Arial" panose="020B0604020202020204" pitchFamily="34" charset="0"/>
                <a:cs typeface="Arial" panose="020B0604020202020204" pitchFamily="34" charset="0"/>
              </a:rPr>
              <a:t>Agentic AI</a:t>
            </a:r>
            <a:r>
              <a:rPr lang="en-US" altLang="ko-KR" sz="1100" dirty="0">
                <a:latin typeface="Arial" panose="020B0604020202020204" pitchFamily="34" charset="0"/>
                <a:ea typeface="Arial" panose="020B0604020202020204" pitchFamily="34" charset="0"/>
                <a:cs typeface="Arial" panose="020B0604020202020204" pitchFamily="34" charset="0"/>
              </a:rPr>
              <a:t> — AgentV2G uses LLM agents to turn market rules into solver-ready objectives and constraints for V2G operation; LDuS uses an LLM to turn user requirements into executable loss-function code and validate code and trajectories in a feedback loop for skill adaptation</a:t>
            </a:r>
          </a:p>
          <a:p>
            <a:pPr marL="685800" lvl="1" indent="-228600" algn="just">
              <a:lnSpc>
                <a:spcPct val="110000"/>
              </a:lnSpc>
              <a:buNone/>
              <a:tabLst>
                <a:tab pos="685800" algn="l"/>
              </a:tabLst>
            </a:pPr>
            <a:r>
              <a:rPr lang="en-US" altLang="ko-KR" sz="1100" b="1" dirty="0">
                <a:latin typeface="Arial" panose="020B0604020202020204" pitchFamily="34" charset="0"/>
                <a:ea typeface="Arial Unicode MS" pitchFamily="50" charset="-127"/>
                <a:cs typeface="Arial" panose="020B0604020202020204" pitchFamily="34" charset="0"/>
              </a:rPr>
              <a:t>③	</a:t>
            </a:r>
            <a:r>
              <a:rPr lang="en-US" altLang="ko-KR" sz="1100" b="1" dirty="0">
                <a:latin typeface="Arial" panose="020B0604020202020204" pitchFamily="34" charset="0"/>
                <a:ea typeface="Arial" panose="020B0604020202020204" pitchFamily="34" charset="0"/>
                <a:cs typeface="Arial" panose="020B0604020202020204" pitchFamily="34" charset="0"/>
              </a:rPr>
              <a:t>Systems Engineering</a:t>
            </a:r>
            <a:r>
              <a:rPr lang="en-US" altLang="ko-KR" sz="1100" dirty="0">
                <a:latin typeface="Arial" panose="020B0604020202020204" pitchFamily="34" charset="0"/>
                <a:ea typeface="Arial" panose="020B0604020202020204" pitchFamily="34" charset="0"/>
                <a:cs typeface="Arial" panose="020B0604020202020204" pitchFamily="34" charset="0"/>
              </a:rPr>
              <a:t> — The two approaches are implemented and validated on purpose-built simulators, surrogate models, and testbeds; five systems built with the same engineering were delivered to Samsung Electronics ×2, Polaris AI, Acryl, and ADD</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Representative system</a:t>
            </a:r>
            <a:r>
              <a:rPr lang="en-US" altLang="ko-KR" sz="1100" dirty="0">
                <a:latin typeface="Arial" panose="020B0604020202020204" pitchFamily="34" charset="0"/>
                <a:ea typeface="Arial" panose="020B0604020202020204" pitchFamily="34" charset="0"/>
                <a:cs typeface="Arial" panose="020B0604020202020204" pitchFamily="34" charset="0"/>
              </a:rPr>
              <a:t> — QoE-driven control loop (right figure): RL-based rate controller → network link → application QoE feedback</a:t>
            </a:r>
          </a:p>
        </p:txBody>
      </p:sp>
      <p:grpSp>
        <p:nvGrpSpPr>
          <p:cNvPr id="15" name="그룹 14">
            <a:extLst>
              <a:ext uri="{FF2B5EF4-FFF2-40B4-BE49-F238E27FC236}">
                <a16:creationId xmlns:a16="http://schemas.microsoft.com/office/drawing/2014/main" id="{5C492CE9-5DA0-0BAC-732E-962AEDA3455D}"/>
              </a:ext>
            </a:extLst>
          </p:cNvPr>
          <p:cNvGrpSpPr/>
          <p:nvPr/>
        </p:nvGrpSpPr>
        <p:grpSpPr>
          <a:xfrm>
            <a:off x="655662" y="4136176"/>
            <a:ext cx="2878039" cy="2263092"/>
            <a:chOff x="562793" y="3910513"/>
            <a:chExt cx="3096343" cy="2568791"/>
          </a:xfrm>
        </p:grpSpPr>
        <p:pic>
          <p:nvPicPr>
            <p:cNvPr id="3" name="Picture 4">
              <a:extLst>
                <a:ext uri="{FF2B5EF4-FFF2-40B4-BE49-F238E27FC236}">
                  <a16:creationId xmlns:a16="http://schemas.microsoft.com/office/drawing/2014/main" id="{3A6B67E8-0AFD-77B8-F234-5BB09EC35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793" y="3910513"/>
              <a:ext cx="3022055" cy="2353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2C6AFB8F-C75D-6777-9F31-F61AD9201371}"/>
                </a:ext>
              </a:extLst>
            </p:cNvPr>
            <p:cNvSpPr txBox="1"/>
            <p:nvPr/>
          </p:nvSpPr>
          <p:spPr>
            <a:xfrm>
              <a:off x="2326739" y="6048417"/>
              <a:ext cx="1332397" cy="430887"/>
            </a:xfrm>
            <a:prstGeom prst="rect">
              <a:avLst/>
            </a:prstGeom>
            <a:solidFill>
              <a:schemeClr val="bg1"/>
            </a:solid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Arial" panose="020B0604020202020204" pitchFamily="34" charset="0"/>
                  <a:ea typeface="맑은 고딕" panose="020B0503020000020004" pitchFamily="50" charset="-127"/>
                  <a:cs typeface="Arial" panose="020B0604020202020204" pitchFamily="34" charset="0"/>
                </a:rPr>
                <a:t>Learning-based model</a:t>
              </a:r>
              <a:endParaRPr kumimoji="0" lang="ko-KR" altLang="en-US" sz="11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14" name="TextBox 13">
              <a:extLst>
                <a:ext uri="{FF2B5EF4-FFF2-40B4-BE49-F238E27FC236}">
                  <a16:creationId xmlns:a16="http://schemas.microsoft.com/office/drawing/2014/main" id="{7D716562-C1DF-AAEF-C60C-87DF63835EA9}"/>
                </a:ext>
              </a:extLst>
            </p:cNvPr>
            <p:cNvSpPr txBox="1"/>
            <p:nvPr/>
          </p:nvSpPr>
          <p:spPr>
            <a:xfrm>
              <a:off x="1012758" y="6048417"/>
              <a:ext cx="1194553" cy="419222"/>
            </a:xfrm>
            <a:prstGeom prst="rect">
              <a:avLst/>
            </a:prstGeom>
            <a:solidFill>
              <a:schemeClr val="bg1"/>
            </a:solid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Arial" panose="020B0604020202020204" pitchFamily="34" charset="0"/>
                  <a:ea typeface="맑은 고딕" panose="020B0503020000020004" pitchFamily="50" charset="-127"/>
                  <a:cs typeface="Arial" panose="020B0604020202020204" pitchFamily="34" charset="0"/>
                </a:rPr>
                <a:t>Hand-crafted model</a:t>
              </a:r>
              <a:endParaRPr kumimoji="0" lang="ko-KR" altLang="en-US" sz="11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grpSp>
      <p:sp>
        <p:nvSpPr>
          <p:cNvPr id="23" name="TextBox 22">
            <a:extLst>
              <a:ext uri="{FF2B5EF4-FFF2-40B4-BE49-F238E27FC236}">
                <a16:creationId xmlns:a16="http://schemas.microsoft.com/office/drawing/2014/main" id="{74DB80FC-C920-8765-B81F-CD343BDDBA8E}"/>
              </a:ext>
            </a:extLst>
          </p:cNvPr>
          <p:cNvSpPr txBox="1"/>
          <p:nvPr/>
        </p:nvSpPr>
        <p:spPr>
          <a:xfrm>
            <a:off x="733871" y="6388991"/>
            <a:ext cx="2973389" cy="26161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Motivating measurement </a:t>
            </a:r>
            <a:r>
              <a:rPr lang="en-US" altLang="ko-KR" sz="1100" b="1" dirty="0">
                <a:latin typeface="Arial" panose="020B0604020202020204" pitchFamily="34" charset="0"/>
                <a:ea typeface="Arial" panose="020B0604020202020204" pitchFamily="34" charset="0"/>
                <a:cs typeface="Arial" panose="020B0604020202020204" pitchFamily="34" charset="0"/>
              </a:rPr>
              <a:t>(Repot)</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Tree>
    <p:extLst>
      <p:ext uri="{BB962C8B-B14F-4D97-AF65-F5344CB8AC3E}">
        <p14:creationId xmlns:p14="http://schemas.microsoft.com/office/powerpoint/2010/main" val="71081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B42E8-8410-5741-2D39-192E7D869211}"/>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67C72FF8-C84A-9707-021C-DC94582FD4BD}"/>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D33CD2D0-B220-9768-D9DA-34CA25B26010}"/>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2C7A089-86FF-9648-3A6E-943151F17C44}"/>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E38A1ADC-C763-8D7C-B019-78AFDC698D5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B45B632-6985-18D6-8756-E2231ADF9D8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8D248AF6-B74E-E4F4-ADE3-D8D7F86C3F13}"/>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5007FC17-1F18-03B3-7586-6C43D37AB94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4</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AEAB198A-6994-2E17-354A-CF61F7D2179F}"/>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① Reinforcement Learning — Resource Management &amp; Cloud Robotics</a:t>
            </a:r>
            <a:endParaRPr lang="en-US" altLang="ko-KR" sz="1400" dirty="0">
              <a:latin typeface="Arial" pitchFamily="34" charset="0"/>
              <a:ea typeface="Arial Unicode MS" pitchFamily="50" charset="-127"/>
              <a:cs typeface="Arial" pitchFamily="34" charset="0"/>
            </a:endParaRPr>
          </a:p>
        </p:txBody>
      </p:sp>
      <p:pic>
        <p:nvPicPr>
          <p:cNvPr id="3" name="그림 2">
            <a:extLst>
              <a:ext uri="{FF2B5EF4-FFF2-40B4-BE49-F238E27FC236}">
                <a16:creationId xmlns:a16="http://schemas.microsoft.com/office/drawing/2014/main" id="{CB3E7876-0E57-44E1-34ED-24B036D283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0266" y="4043029"/>
            <a:ext cx="2814108" cy="2351650"/>
          </a:xfrm>
          <a:prstGeom prst="rect">
            <a:avLst/>
          </a:prstGeom>
        </p:spPr>
      </p:pic>
      <p:pic>
        <p:nvPicPr>
          <p:cNvPr id="6" name="그림 5" descr="figure">
            <a:extLst>
              <a:ext uri="{FF2B5EF4-FFF2-40B4-BE49-F238E27FC236}">
                <a16:creationId xmlns:a16="http://schemas.microsoft.com/office/drawing/2014/main" id="{28FA2C31-510F-C204-49BB-51064AFC6E00}"/>
              </a:ext>
            </a:extLst>
          </p:cNvPr>
          <p:cNvPicPr>
            <a:picLocks noChangeAspect="1"/>
          </p:cNvPicPr>
          <p:nvPr/>
        </p:nvPicPr>
        <p:blipFill rotWithShape="1">
          <a:blip r:embed="rId4">
            <a:extLst>
              <a:ext uri="{28A0092B-C50C-407E-A947-70E740481C1C}">
                <a14:useLocalDpi xmlns:a14="http://schemas.microsoft.com/office/drawing/2010/main" val="0"/>
              </a:ext>
            </a:extLst>
          </a:blip>
          <a:srcRect l="49597" b="14091"/>
          <a:stretch/>
        </p:blipFill>
        <p:spPr>
          <a:xfrm>
            <a:off x="8073298" y="5168481"/>
            <a:ext cx="1100672" cy="946177"/>
          </a:xfrm>
          <a:prstGeom prst="rect">
            <a:avLst/>
          </a:prstGeom>
        </p:spPr>
      </p:pic>
      <p:pic>
        <p:nvPicPr>
          <p:cNvPr id="9" name="그림 8" descr="figure">
            <a:extLst>
              <a:ext uri="{FF2B5EF4-FFF2-40B4-BE49-F238E27FC236}">
                <a16:creationId xmlns:a16="http://schemas.microsoft.com/office/drawing/2014/main" id="{49640848-10E6-D68D-E6ED-083021CA1D73}"/>
              </a:ext>
            </a:extLst>
          </p:cNvPr>
          <p:cNvPicPr>
            <a:picLocks noChangeAspect="1"/>
          </p:cNvPicPr>
          <p:nvPr/>
        </p:nvPicPr>
        <p:blipFill rotWithShape="1">
          <a:blip r:embed="rId5">
            <a:extLst>
              <a:ext uri="{28A0092B-C50C-407E-A947-70E740481C1C}">
                <a14:useLocalDpi xmlns:a14="http://schemas.microsoft.com/office/drawing/2010/main" val="0"/>
              </a:ext>
            </a:extLst>
          </a:blip>
          <a:srcRect l="50000" b="14778"/>
          <a:stretch/>
        </p:blipFill>
        <p:spPr>
          <a:xfrm>
            <a:off x="6522565" y="5157959"/>
            <a:ext cx="1094168" cy="946177"/>
          </a:xfrm>
          <a:prstGeom prst="rect">
            <a:avLst/>
          </a:prstGeom>
        </p:spPr>
      </p:pic>
      <p:pic>
        <p:nvPicPr>
          <p:cNvPr id="11" name="그림 10" descr="figure">
            <a:extLst>
              <a:ext uri="{FF2B5EF4-FFF2-40B4-BE49-F238E27FC236}">
                <a16:creationId xmlns:a16="http://schemas.microsoft.com/office/drawing/2014/main" id="{51AE5640-2E71-FA62-3543-5CEC6159956D}"/>
              </a:ext>
            </a:extLst>
          </p:cNvPr>
          <p:cNvPicPr>
            <a:picLocks noChangeAspect="1"/>
          </p:cNvPicPr>
          <p:nvPr/>
        </p:nvPicPr>
        <p:blipFill rotWithShape="1">
          <a:blip r:embed="rId5">
            <a:extLst>
              <a:ext uri="{28A0092B-C50C-407E-A947-70E740481C1C}">
                <a14:useLocalDpi xmlns:a14="http://schemas.microsoft.com/office/drawing/2010/main" val="0"/>
              </a:ext>
            </a:extLst>
          </a:blip>
          <a:srcRect r="50000" b="17418"/>
          <a:stretch>
            <a:fillRect/>
          </a:stretch>
        </p:blipFill>
        <p:spPr>
          <a:xfrm>
            <a:off x="8100924" y="4025100"/>
            <a:ext cx="1073047" cy="830810"/>
          </a:xfrm>
          <a:prstGeom prst="rect">
            <a:avLst/>
          </a:prstGeom>
        </p:spPr>
      </p:pic>
      <p:sp>
        <p:nvSpPr>
          <p:cNvPr id="14" name="TextBox 13">
            <a:extLst>
              <a:ext uri="{FF2B5EF4-FFF2-40B4-BE49-F238E27FC236}">
                <a16:creationId xmlns:a16="http://schemas.microsoft.com/office/drawing/2014/main" id="{AA58128A-9460-B7F5-A51B-900993861FB6}"/>
              </a:ext>
            </a:extLst>
          </p:cNvPr>
          <p:cNvSpPr txBox="1"/>
          <p:nvPr/>
        </p:nvSpPr>
        <p:spPr>
          <a:xfrm>
            <a:off x="6324369" y="6143931"/>
            <a:ext cx="1490560" cy="304699"/>
          </a:xfrm>
          <a:prstGeom prst="rect">
            <a:avLst/>
          </a:prstGeom>
          <a:solidFill>
            <a:schemeClr val="bg1"/>
          </a:solidFill>
        </p:spPr>
        <p:txBody>
          <a:bodyPr wrap="square" lIns="0" tIns="0" rIns="0" bIns="0">
            <a:spAutoFit/>
          </a:bodyPr>
          <a:lstStyle/>
          <a:p>
            <a:pPr algn="ctr">
              <a:lnSpc>
                <a:spcPct val="90000"/>
              </a:lnSpc>
            </a:pPr>
            <a:r>
              <a:rPr lang="en-US" altLang="ko-KR" sz="1100" dirty="0">
                <a:latin typeface="Arial" pitchFamily="34" charset="0"/>
                <a:cs typeface="Arial" pitchFamily="34" charset="0"/>
              </a:rPr>
              <a:t>Action attention map</a:t>
            </a:r>
          </a:p>
          <a:p>
            <a:pPr algn="ctr">
              <a:lnSpc>
                <a:spcPct val="90000"/>
              </a:lnSpc>
            </a:pPr>
            <a:r>
              <a:rPr lang="en-US" altLang="ko-KR" sz="1100" dirty="0">
                <a:latin typeface="Arial" pitchFamily="34" charset="0"/>
                <a:cs typeface="Arial" pitchFamily="34" charset="0"/>
              </a:rPr>
              <a:t>(b1) During pretraining</a:t>
            </a:r>
          </a:p>
        </p:txBody>
      </p:sp>
      <p:sp>
        <p:nvSpPr>
          <p:cNvPr id="22" name="TextBox 21">
            <a:extLst>
              <a:ext uri="{FF2B5EF4-FFF2-40B4-BE49-F238E27FC236}">
                <a16:creationId xmlns:a16="http://schemas.microsoft.com/office/drawing/2014/main" id="{FE1D7B71-1BE6-1F85-016A-80EDDD533E9A}"/>
              </a:ext>
            </a:extLst>
          </p:cNvPr>
          <p:cNvSpPr txBox="1"/>
          <p:nvPr/>
        </p:nvSpPr>
        <p:spPr>
          <a:xfrm>
            <a:off x="7882126" y="6163598"/>
            <a:ext cx="1483018" cy="304699"/>
          </a:xfrm>
          <a:prstGeom prst="rect">
            <a:avLst/>
          </a:prstGeom>
          <a:solidFill>
            <a:schemeClr val="bg1"/>
          </a:solidFill>
        </p:spPr>
        <p:txBody>
          <a:bodyPr wrap="square" lIns="0" tIns="0" rIns="0" bIns="0">
            <a:spAutoFit/>
          </a:bodyPr>
          <a:lstStyle/>
          <a:p>
            <a:pPr algn="ctr">
              <a:lnSpc>
                <a:spcPct val="90000"/>
              </a:lnSpc>
            </a:pPr>
            <a:r>
              <a:rPr lang="en-US" altLang="ko-KR" sz="1100" dirty="0">
                <a:latin typeface="Arial" pitchFamily="34" charset="0"/>
                <a:cs typeface="Arial" pitchFamily="34" charset="0"/>
              </a:rPr>
              <a:t>Action attention map</a:t>
            </a:r>
          </a:p>
          <a:p>
            <a:pPr algn="ctr">
              <a:lnSpc>
                <a:spcPct val="90000"/>
              </a:lnSpc>
            </a:pPr>
            <a:r>
              <a:rPr lang="en-US" altLang="ko-KR" sz="1100" dirty="0">
                <a:latin typeface="Arial" pitchFamily="34" charset="0"/>
                <a:cs typeface="Arial" pitchFamily="34" charset="0"/>
              </a:rPr>
              <a:t>(b2) During adaptation</a:t>
            </a:r>
          </a:p>
        </p:txBody>
      </p:sp>
      <p:pic>
        <p:nvPicPr>
          <p:cNvPr id="26" name="Picture 5" descr="figure">
            <a:extLst>
              <a:ext uri="{FF2B5EF4-FFF2-40B4-BE49-F238E27FC236}">
                <a16:creationId xmlns:a16="http://schemas.microsoft.com/office/drawing/2014/main" id="{5C0D2AB1-4DF7-9ABF-99CB-E3FD96F720D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3686" y="4023212"/>
            <a:ext cx="1073047" cy="835068"/>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AA766A37-DC07-310B-9E41-17BB75EEE6D3}"/>
              </a:ext>
            </a:extLst>
          </p:cNvPr>
          <p:cNvSpPr txBox="1"/>
          <p:nvPr/>
        </p:nvSpPr>
        <p:spPr>
          <a:xfrm>
            <a:off x="6380941" y="4824331"/>
            <a:ext cx="1398536" cy="261610"/>
          </a:xfrm>
          <a:prstGeom prst="rect">
            <a:avLst/>
          </a:prstGeom>
          <a:noFill/>
          <a:ln>
            <a:noFill/>
          </a:ln>
        </p:spPr>
        <p:txBody>
          <a:bodyPr wrap="square" rtlCol="0">
            <a:spAutoFit/>
          </a:bodyPr>
          <a:lstStyle/>
          <a:p>
            <a:pPr algn="ctr"/>
            <a:r>
              <a:rPr lang="en-US" altLang="ko-KR" sz="1100" dirty="0">
                <a:latin typeface="Arial" panose="020B0604020202020204" pitchFamily="34" charset="0"/>
                <a:cs typeface="Arial" panose="020B0604020202020204" pitchFamily="34" charset="0"/>
              </a:rPr>
              <a:t>(a1) Top-view map</a:t>
            </a:r>
            <a:endParaRPr lang="ko-KR" altLang="en-US" sz="1100" dirty="0">
              <a:latin typeface="Arial" panose="020B0604020202020204" pitchFamily="34" charset="0"/>
              <a:cs typeface="Arial" panose="020B0604020202020204" pitchFamily="34" charset="0"/>
            </a:endParaRPr>
          </a:p>
        </p:txBody>
      </p:sp>
      <p:pic>
        <p:nvPicPr>
          <p:cNvPr id="32" name="그림 31" descr="figure">
            <a:extLst>
              <a:ext uri="{FF2B5EF4-FFF2-40B4-BE49-F238E27FC236}">
                <a16:creationId xmlns:a16="http://schemas.microsoft.com/office/drawing/2014/main" id="{76376554-1CBD-6DEA-7517-716BE3A93A38}"/>
              </a:ext>
            </a:extLst>
          </p:cNvPr>
          <p:cNvPicPr>
            <a:picLocks noChangeAspect="1"/>
          </p:cNvPicPr>
          <p:nvPr/>
        </p:nvPicPr>
        <p:blipFill>
          <a:blip r:embed="rId7">
            <a:extLst>
              <a:ext uri="{28A0092B-C50C-407E-A947-70E740481C1C}">
                <a14:useLocalDpi xmlns:a14="http://schemas.microsoft.com/office/drawing/2010/main" val="0"/>
              </a:ext>
            </a:extLst>
          </a:blip>
          <a:srcRect l="38851" b="89949"/>
          <a:stretch>
            <a:fillRect/>
          </a:stretch>
        </p:blipFill>
        <p:spPr>
          <a:xfrm>
            <a:off x="6467056" y="3791494"/>
            <a:ext cx="2824110" cy="195749"/>
          </a:xfrm>
          <a:prstGeom prst="rect">
            <a:avLst/>
          </a:prstGeom>
        </p:spPr>
      </p:pic>
      <p:sp>
        <p:nvSpPr>
          <p:cNvPr id="34" name="TextBox 33">
            <a:extLst>
              <a:ext uri="{FF2B5EF4-FFF2-40B4-BE49-F238E27FC236}">
                <a16:creationId xmlns:a16="http://schemas.microsoft.com/office/drawing/2014/main" id="{296B4248-9017-2624-47B4-90E477797787}"/>
              </a:ext>
            </a:extLst>
          </p:cNvPr>
          <p:cNvSpPr txBox="1"/>
          <p:nvPr/>
        </p:nvSpPr>
        <p:spPr>
          <a:xfrm>
            <a:off x="7998855" y="4817668"/>
            <a:ext cx="1277184" cy="261610"/>
          </a:xfrm>
          <a:prstGeom prst="rect">
            <a:avLst/>
          </a:prstGeom>
          <a:noFill/>
          <a:ln>
            <a:noFill/>
          </a:ln>
        </p:spPr>
        <p:txBody>
          <a:bodyPr wrap="square" rtlCol="0">
            <a:spAutoFit/>
          </a:bodyPr>
          <a:lstStyle/>
          <a:p>
            <a:pPr algn="ctr"/>
            <a:r>
              <a:rPr lang="en-US" altLang="ko-KR" sz="1100" dirty="0">
                <a:latin typeface="Arial" panose="020B0604020202020204" pitchFamily="34" charset="0"/>
                <a:cs typeface="Arial" panose="020B0604020202020204" pitchFamily="34" charset="0"/>
              </a:rPr>
              <a:t>(a2) Object map</a:t>
            </a:r>
            <a:endParaRPr lang="ko-KR" altLang="en-US" sz="1100" dirty="0">
              <a:latin typeface="Arial" panose="020B0604020202020204" pitchFamily="34" charset="0"/>
              <a:cs typeface="Arial" panose="020B0604020202020204" pitchFamily="34" charset="0"/>
            </a:endParaRPr>
          </a:p>
        </p:txBody>
      </p:sp>
      <p:pic>
        <p:nvPicPr>
          <p:cNvPr id="36" name="Picture 2" descr="figure">
            <a:extLst>
              <a:ext uri="{FF2B5EF4-FFF2-40B4-BE49-F238E27FC236}">
                <a16:creationId xmlns:a16="http://schemas.microsoft.com/office/drawing/2014/main" id="{815C620F-03E2-C074-84A7-D9361BD29E6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15517" y="4044085"/>
            <a:ext cx="1711064" cy="2303207"/>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11906725-6016-9804-F9D6-E352B4CAE8CD}"/>
              </a:ext>
            </a:extLst>
          </p:cNvPr>
          <p:cNvSpPr txBox="1"/>
          <p:nvPr/>
        </p:nvSpPr>
        <p:spPr>
          <a:xfrm>
            <a:off x="491752" y="6478051"/>
            <a:ext cx="2439356" cy="152349"/>
          </a:xfrm>
          <a:prstGeom prst="rect">
            <a:avLst/>
          </a:prstGeom>
          <a:noFill/>
          <a:ln>
            <a:noFill/>
          </a:ln>
        </p:spPr>
        <p:txBody>
          <a:bodyPr wrap="square" lIns="0" tIns="0" rIns="0" bIns="0">
            <a:spAutoFit/>
          </a:bodyPr>
          <a:lstStyle/>
          <a:p>
            <a:pPr algn="ctr">
              <a:lnSpc>
                <a:spcPct val="90000"/>
              </a:lnSpc>
            </a:pPr>
            <a:r>
              <a:rPr lang="en-US" altLang="ko-KR" sz="1100" b="1" dirty="0">
                <a:latin typeface="Arial" panose="020B0604020202020204" pitchFamily="34" charset="0"/>
                <a:cs typeface="Arial" pitchFamily="34" charset="0"/>
              </a:rPr>
              <a:t>Networked monitoring systems</a:t>
            </a:r>
          </a:p>
        </p:txBody>
      </p:sp>
      <p:sp>
        <p:nvSpPr>
          <p:cNvPr id="41" name="TextBox 40">
            <a:extLst>
              <a:ext uri="{FF2B5EF4-FFF2-40B4-BE49-F238E27FC236}">
                <a16:creationId xmlns:a16="http://schemas.microsoft.com/office/drawing/2014/main" id="{A7326B21-074C-921E-4B71-56A17CA0E4CB}"/>
              </a:ext>
            </a:extLst>
          </p:cNvPr>
          <p:cNvSpPr txBox="1"/>
          <p:nvPr/>
        </p:nvSpPr>
        <p:spPr>
          <a:xfrm>
            <a:off x="3336174" y="6467241"/>
            <a:ext cx="2439356" cy="152349"/>
          </a:xfrm>
          <a:prstGeom prst="rect">
            <a:avLst/>
          </a:prstGeom>
          <a:noFill/>
          <a:ln>
            <a:noFill/>
          </a:ln>
        </p:spPr>
        <p:txBody>
          <a:bodyPr wrap="square" lIns="0" tIns="0" rIns="0" bIns="0">
            <a:spAutoFit/>
          </a:bodyPr>
          <a:lstStyle/>
          <a:p>
            <a:pPr algn="ctr">
              <a:lnSpc>
                <a:spcPct val="90000"/>
              </a:lnSpc>
            </a:pPr>
            <a:r>
              <a:rPr lang="en-US" altLang="ko-KR" sz="1100" b="1" dirty="0">
                <a:latin typeface="Arial" panose="020B0604020202020204" pitchFamily="34" charset="0"/>
                <a:cs typeface="Arial" pitchFamily="34" charset="0"/>
              </a:rPr>
              <a:t>Action shaping model structure</a:t>
            </a:r>
          </a:p>
        </p:txBody>
      </p:sp>
      <p:cxnSp>
        <p:nvCxnSpPr>
          <p:cNvPr id="43" name="직선 화살표 연결선 42">
            <a:extLst>
              <a:ext uri="{FF2B5EF4-FFF2-40B4-BE49-F238E27FC236}">
                <a16:creationId xmlns:a16="http://schemas.microsoft.com/office/drawing/2014/main" id="{CC721177-F517-0FDA-A155-52A2513DD008}"/>
              </a:ext>
            </a:extLst>
          </p:cNvPr>
          <p:cNvCxnSpPr>
            <a:cxnSpLocks/>
          </p:cNvCxnSpPr>
          <p:nvPr/>
        </p:nvCxnSpPr>
        <p:spPr>
          <a:xfrm>
            <a:off x="7688649" y="4373464"/>
            <a:ext cx="384059"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직선 화살표 연결선 43">
            <a:extLst>
              <a:ext uri="{FF2B5EF4-FFF2-40B4-BE49-F238E27FC236}">
                <a16:creationId xmlns:a16="http://schemas.microsoft.com/office/drawing/2014/main" id="{289F50E6-554C-86D1-E2C9-2058026FE874}"/>
              </a:ext>
            </a:extLst>
          </p:cNvPr>
          <p:cNvCxnSpPr>
            <a:cxnSpLocks/>
          </p:cNvCxnSpPr>
          <p:nvPr/>
        </p:nvCxnSpPr>
        <p:spPr>
          <a:xfrm>
            <a:off x="7687082" y="5507608"/>
            <a:ext cx="384059"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71316E9D-F637-1E73-F5E2-E298FD3832E6}"/>
              </a:ext>
            </a:extLst>
          </p:cNvPr>
          <p:cNvSpPr txBox="1"/>
          <p:nvPr/>
        </p:nvSpPr>
        <p:spPr>
          <a:xfrm>
            <a:off x="6687023" y="6475714"/>
            <a:ext cx="2439356" cy="152349"/>
          </a:xfrm>
          <a:prstGeom prst="rect">
            <a:avLst/>
          </a:prstGeom>
          <a:noFill/>
          <a:ln>
            <a:noFill/>
          </a:ln>
        </p:spPr>
        <p:txBody>
          <a:bodyPr wrap="square" lIns="0" tIns="0" rIns="0" bIns="0">
            <a:spAutoFit/>
          </a:bodyPr>
          <a:lstStyle/>
          <a:p>
            <a:pPr algn="ctr">
              <a:lnSpc>
                <a:spcPct val="90000"/>
              </a:lnSpc>
            </a:pPr>
            <a:r>
              <a:rPr lang="en-US" altLang="ko-KR" sz="1100" b="1" dirty="0">
                <a:latin typeface="Arial" panose="020B0604020202020204" pitchFamily="34" charset="0"/>
                <a:ea typeface="Arial" panose="020B0604020202020204" pitchFamily="34" charset="0"/>
                <a:cs typeface="Arial" panose="020B0604020202020204" pitchFamily="34" charset="0"/>
              </a:rPr>
              <a:t>Action attention map transfer</a:t>
            </a:r>
            <a:endParaRPr lang="en-US" altLang="ko-KR" sz="1100" b="1" dirty="0">
              <a:latin typeface="Arial" panose="020B0604020202020204" pitchFamily="34" charset="0"/>
              <a:cs typeface="Arial" pitchFamily="34" charset="0"/>
            </a:endParaRPr>
          </a:p>
        </p:txBody>
      </p:sp>
      <p:sp>
        <p:nvSpPr>
          <p:cNvPr id="5" name="TextBox 4">
            <a:extLst>
              <a:ext uri="{FF2B5EF4-FFF2-40B4-BE49-F238E27FC236}">
                <a16:creationId xmlns:a16="http://schemas.microsoft.com/office/drawing/2014/main" id="{4A60E6F1-D7C2-2868-3B84-5D7A0D899C08}"/>
              </a:ext>
            </a:extLst>
          </p:cNvPr>
          <p:cNvSpPr txBox="1"/>
          <p:nvPr/>
        </p:nvSpPr>
        <p:spPr>
          <a:xfrm>
            <a:off x="172654" y="545665"/>
            <a:ext cx="9316850"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[RL, Finetuning]</a:t>
            </a:r>
            <a:r>
              <a:rPr lang="en-US" altLang="ko-KR" b="1" dirty="0">
                <a:latin typeface="Arial" panose="020B0604020202020204" pitchFamily="34" charset="0"/>
                <a:ea typeface="Arial" panose="020B0604020202020204" pitchFamily="34" charset="0"/>
                <a:cs typeface="Arial" panose="020B0604020202020204" pitchFamily="34" charset="0"/>
              </a:rPr>
              <a:t> Repot — Transferable RL for Networked Monitoring</a:t>
            </a:r>
            <a:endParaRPr lang="en-US" altLang="ko-KR" dirty="0">
              <a:latin typeface="Arial" pitchFamily="34" charset="0"/>
              <a:ea typeface="Arial Unicode MS" pitchFamily="50" charset="-127"/>
              <a:cs typeface="Arial" pitchFamily="34" charset="0"/>
            </a:endParaRPr>
          </a:p>
        </p:txBody>
      </p:sp>
      <p:sp>
        <p:nvSpPr>
          <p:cNvPr id="10" name="TextBox 9">
            <a:extLst>
              <a:ext uri="{FF2B5EF4-FFF2-40B4-BE49-F238E27FC236}">
                <a16:creationId xmlns:a16="http://schemas.microsoft.com/office/drawing/2014/main" id="{19D6C12A-DC67-8854-3182-C570D83972F0}"/>
              </a:ext>
            </a:extLst>
          </p:cNvPr>
          <p:cNvSpPr txBox="1"/>
          <p:nvPr/>
        </p:nvSpPr>
        <p:spPr>
          <a:xfrm>
            <a:off x="172654" y="1052736"/>
            <a:ext cx="9603782" cy="2514657"/>
          </a:xfrm>
          <a:prstGeom prst="rect">
            <a:avLst/>
          </a:prstGeom>
          <a:noFill/>
        </p:spPr>
        <p:txBody>
          <a:bodyPr wrap="square">
            <a:no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2020–2021 · IEEE Access 2021 (first author) · Network Monitoring System patent, KR 2023 / US 2026 (first inventor)</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 </a:t>
            </a:r>
            <a:r>
              <a:rPr lang="en-US" altLang="ko-KR" sz="1100" dirty="0">
                <a:latin typeface="Arial" panose="020B0604020202020204" pitchFamily="34" charset="0"/>
                <a:ea typeface="Arial" panose="020B0604020202020204" pitchFamily="34" charset="0"/>
                <a:cs typeface="Arial" panose="020B0604020202020204" pitchFamily="34" charset="0"/>
              </a:rPr>
              <a:t> — problem definition, algorithm design, implementation, experiments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Problem</a:t>
            </a:r>
            <a:r>
              <a:rPr lang="en-US" altLang="ko-KR" sz="1100" dirty="0">
                <a:latin typeface="Arial" panose="020B0604020202020204" pitchFamily="34" charset="0"/>
                <a:ea typeface="Arial" panose="020B0604020202020204" pitchFamily="34" charset="0"/>
                <a:cs typeface="Arial" panose="020B0604020202020204" pitchFamily="34" charset="0"/>
              </a:rPr>
              <a:t> — When sensing devices share a single link, the bandwidth allocation must keep a server's continual query accurate as the network degrades. </a:t>
            </a:r>
            <a:r>
              <a:rPr lang="en-US" altLang="ko-KR" sz="1100" u="sng" dirty="0">
                <a:latin typeface="Arial" panose="020B0604020202020204" pitchFamily="34" charset="0"/>
                <a:ea typeface="Arial" panose="020B0604020202020204" pitchFamily="34" charset="0"/>
                <a:cs typeface="Arial" panose="020B0604020202020204" pitchFamily="34" charset="0"/>
              </a:rPr>
              <a:t>Re-learning that allocation from scratch for each new network scale and condition is prohibitively expensive</a:t>
            </a:r>
            <a:r>
              <a:rPr lang="en-US" altLang="ko-KR" sz="1100" dirty="0">
                <a:latin typeface="Arial" panose="020B0604020202020204" pitchFamily="34" charset="0"/>
                <a:ea typeface="Arial" panose="020B0604020202020204" pitchFamily="34" charset="0"/>
                <a:cs typeface="Arial" panose="020B0604020202020204" pitchFamily="34" charset="0"/>
              </a:rPr>
              <a:t> (left figure)</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Approach</a:t>
            </a:r>
            <a:r>
              <a:rPr lang="en-US" altLang="ko-KR" sz="1100" dirty="0">
                <a:latin typeface="Arial" panose="020B0604020202020204" pitchFamily="34" charset="0"/>
                <a:ea typeface="Arial" panose="020B0604020202020204" pitchFamily="34" charset="0"/>
                <a:cs typeface="Arial" panose="020B0604020202020204" pitchFamily="34" charset="0"/>
              </a:rPr>
              <a:t> — Two-phase transfer (center figure): ① the policy is trained end to end with SAC (soft actor–critic) in an ideal time-slotted source environment with inexpensive samples; ② in the NS-3 target, all learned modules are frozen and a second, small SAC policy (the adjustment function, with its own critics) is trained on expensive samples. Its outputs enter the shaping function together with the frozen latent action</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Structure</a:t>
            </a:r>
            <a:r>
              <a:rPr lang="en-US" altLang="ko-KR" sz="1100" dirty="0">
                <a:latin typeface="Arial" panose="020B0604020202020204" pitchFamily="34" charset="0"/>
                <a:ea typeface="Arial" panose="020B0604020202020204" pitchFamily="34" charset="0"/>
                <a:cs typeface="Arial" panose="020B0604020202020204" pitchFamily="34" charset="0"/>
              </a:rPr>
              <a:t> — Flow embedding: a Transformer encoder (per-device MLP vectorization + self-attention over all flows) represents every stream by its history and its relation to the others in one vector space → Allocation: a trainable function emits a latent action → Shaping: a non-trainable function maps it to per-device bandwidth limits by a distance-weighted softmax; the adjustment function supplies the control values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Result</a:t>
            </a:r>
            <a:r>
              <a:rPr lang="en-US" altLang="ko-KR" sz="1100" dirty="0">
                <a:latin typeface="Arial" panose="020B0604020202020204" pitchFamily="34" charset="0"/>
                <a:ea typeface="Arial" panose="020B0604020202020204" pitchFamily="34" charset="0"/>
                <a:cs typeface="Arial" panose="020B0604020202020204" pitchFamily="34" charset="0"/>
              </a:rPr>
              <a:t> — The policy adapts with 6.25% of the from-scratch training samples and reaches 14.5–20.8% higher QoE (quality of experience) than the two learning-based baselines in the target. QoE holds at 91–94% of the equal-share reference across 49–400 devices in the source, and the SUMO (Simulation of Urban MObility) vehicle study shows +6.5% (urban) and +12.6% (suburban) over Top-Opt, a Top-K heuristic (right figure)</a:t>
            </a:r>
          </a:p>
        </p:txBody>
      </p:sp>
    </p:spTree>
    <p:extLst>
      <p:ext uri="{BB962C8B-B14F-4D97-AF65-F5344CB8AC3E}">
        <p14:creationId xmlns:p14="http://schemas.microsoft.com/office/powerpoint/2010/main" val="493398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2">
            <a:extLst>
              <a:ext uri="{FF2B5EF4-FFF2-40B4-BE49-F238E27FC236}">
                <a16:creationId xmlns:a16="http://schemas.microsoft.com/office/drawing/2014/main" id="{D33CD2D0-B220-9768-D9DA-34CA25B26010}"/>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2C7A089-86FF-9648-3A6E-943151F17C44}"/>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E38A1ADC-C763-8D7C-B019-78AFDC698D5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B45B632-6985-18D6-8756-E2231ADF9D8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8D248AF6-B74E-E4F4-ADE3-D8D7F86C3F13}"/>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cxnSp>
        <p:nvCxnSpPr>
          <p:cNvPr id="4" name="직선 연결선 3">
            <a:extLst>
              <a:ext uri="{FF2B5EF4-FFF2-40B4-BE49-F238E27FC236}">
                <a16:creationId xmlns:a16="http://schemas.microsoft.com/office/drawing/2014/main" id="{67C72FF8-C84A-9707-021C-DC94582FD4BD}"/>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07FC17-1F18-03B3-7586-6C43D37AB94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5</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AEAB198A-6994-2E17-354A-CF61F7D2179F}"/>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① Reinforcement Learning — Resource Management &amp; Cloud Robotics</a:t>
            </a:r>
          </a:p>
        </p:txBody>
      </p:sp>
      <p:sp>
        <p:nvSpPr>
          <p:cNvPr id="5" name="TextBox 4">
            <a:extLst>
              <a:ext uri="{FF2B5EF4-FFF2-40B4-BE49-F238E27FC236}">
                <a16:creationId xmlns:a16="http://schemas.microsoft.com/office/drawing/2014/main" id="{4A60E6F1-D7C2-2868-3B84-5D7A0D899C08}"/>
              </a:ext>
            </a:extLst>
          </p:cNvPr>
          <p:cNvSpPr txBox="1"/>
          <p:nvPr/>
        </p:nvSpPr>
        <p:spPr>
          <a:xfrm>
            <a:off x="172654" y="560269"/>
            <a:ext cx="9733346" cy="384721"/>
          </a:xfrm>
          <a:prstGeom prst="rect">
            <a:avLst/>
          </a:prstGeom>
          <a:noFill/>
        </p:spPr>
        <p:txBody>
          <a:bodyPr wrap="square" rtlCol="0">
            <a:spAutoFit/>
          </a:bodyPr>
          <a:lstStyle/>
          <a:p>
            <a:r>
              <a:rPr lang="en-US" altLang="ko-KR" sz="1900" b="1" dirty="0">
                <a:solidFill>
                  <a:srgbClr val="0070C0"/>
                </a:solidFill>
                <a:latin typeface="Arial" panose="020B0604020202020204" pitchFamily="34" charset="0"/>
                <a:ea typeface="Arial" panose="020B0604020202020204" pitchFamily="34" charset="0"/>
                <a:cs typeface="Arial" panose="020B0604020202020204" pitchFamily="34" charset="0"/>
              </a:rPr>
              <a:t>[Meta-RL, Transformer]</a:t>
            </a:r>
            <a:r>
              <a:rPr lang="en-US" altLang="ko-KR" sz="1900" b="1" dirty="0">
                <a:latin typeface="Arial" panose="020B0604020202020204" pitchFamily="34" charset="0"/>
                <a:ea typeface="Arial" panose="020B0604020202020204" pitchFamily="34" charset="0"/>
                <a:cs typeface="Arial" panose="020B0604020202020204" pitchFamily="34" charset="0"/>
              </a:rPr>
              <a:t> </a:t>
            </a:r>
            <a:r>
              <a:rPr lang="en-US" altLang="ko-KR" sz="1900" b="1" dirty="0" err="1">
                <a:latin typeface="Arial" panose="020B0604020202020204" pitchFamily="34" charset="0"/>
                <a:ea typeface="Arial" panose="020B0604020202020204" pitchFamily="34" charset="0"/>
                <a:cs typeface="Arial" panose="020B0604020202020204" pitchFamily="34" charset="0"/>
              </a:rPr>
              <a:t>XferQoE</a:t>
            </a:r>
            <a:r>
              <a:rPr lang="en-US" altLang="ko-KR" sz="1900" b="1" dirty="0">
                <a:latin typeface="Arial" panose="020B0604020202020204" pitchFamily="34" charset="0"/>
                <a:ea typeface="Arial" panose="020B0604020202020204" pitchFamily="34" charset="0"/>
                <a:cs typeface="Arial" panose="020B0604020202020204" pitchFamily="34" charset="0"/>
              </a:rPr>
              <a:t> — QoS-Pretrained Rate Control for Model Serving</a:t>
            </a:r>
          </a:p>
        </p:txBody>
      </p:sp>
      <p:sp>
        <p:nvSpPr>
          <p:cNvPr id="10" name="TextBox 9">
            <a:extLst>
              <a:ext uri="{FF2B5EF4-FFF2-40B4-BE49-F238E27FC236}">
                <a16:creationId xmlns:a16="http://schemas.microsoft.com/office/drawing/2014/main" id="{19D6C12A-DC67-8854-3182-C570D83972F0}"/>
              </a:ext>
            </a:extLst>
          </p:cNvPr>
          <p:cNvSpPr txBox="1"/>
          <p:nvPr/>
        </p:nvSpPr>
        <p:spPr>
          <a:xfrm>
            <a:off x="187090" y="997980"/>
            <a:ext cx="9603782" cy="3686074"/>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2024–2026 · IEEE INFOCOM 2027 (first author, under review) · Physical-AI Core-Technology PoC, MSIT (Ministry of Science and ICT) / NIPA (National IT Industry Promotion Agency), 2025</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(full cover) problem definition, algorithm design, implementation, experiments, testbed</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Target system</a:t>
            </a:r>
            <a:r>
              <a:rPr lang="en-US" altLang="ko-KR" sz="1100" dirty="0">
                <a:latin typeface="Arial" panose="020B0604020202020204" pitchFamily="34" charset="0"/>
                <a:ea typeface="Arial" panose="020B0604020202020204" pitchFamily="34" charset="0"/>
                <a:cs typeface="Arial" panose="020B0604020202020204" pitchFamily="34" charset="0"/>
              </a:rPr>
              <a:t> — A cloud robot streams observation frames over a wireless link to an edge server that runs the manipulation policy, so the served model receives only the frames the link can carry. On a limited link the highest frame quality is not the highest </a:t>
            </a:r>
            <a:r>
              <a:rPr lang="en-US" altLang="ko-KR" sz="1100" dirty="0" err="1">
                <a:latin typeface="Arial" panose="020B0604020202020204" pitchFamily="34" charset="0"/>
                <a:ea typeface="Arial" panose="020B0604020202020204" pitchFamily="34" charset="0"/>
                <a:cs typeface="Arial" panose="020B0604020202020204" pitchFamily="34" charset="0"/>
              </a:rPr>
              <a:t>QoE</a:t>
            </a:r>
            <a:r>
              <a:rPr lang="en-US" altLang="ko-KR" sz="1100" dirty="0">
                <a:latin typeface="Arial" panose="020B0604020202020204" pitchFamily="34" charset="0"/>
                <a:ea typeface="Arial" panose="020B0604020202020204" pitchFamily="34" charset="0"/>
                <a:cs typeface="Arial" panose="020B0604020202020204" pitchFamily="34" charset="0"/>
              </a:rPr>
              <a:t> (quality of experience), because quality gained at the cost of timeliness deprives the control loop of up-to-date observations. </a:t>
            </a:r>
            <a:r>
              <a:rPr lang="en-US" altLang="ko-KR" sz="1100" u="sng" dirty="0">
                <a:latin typeface="Arial" panose="020B0604020202020204" pitchFamily="34" charset="0"/>
                <a:ea typeface="Arial" panose="020B0604020202020204" pitchFamily="34" charset="0"/>
                <a:cs typeface="Arial" panose="020B0604020202020204" pitchFamily="34" charset="0"/>
              </a:rPr>
              <a:t>The best stream differs per deployment and the served model (e.g., a robot foundation model, an LLM, or a recognition model) cannot be fine-tuned for each, so </a:t>
            </a:r>
            <a:r>
              <a:rPr lang="en-US" altLang="ko-KR" sz="1100" u="sng" dirty="0" err="1">
                <a:latin typeface="Arial" panose="020B0604020202020204" pitchFamily="34" charset="0"/>
                <a:ea typeface="Arial" panose="020B0604020202020204" pitchFamily="34" charset="0"/>
                <a:cs typeface="Arial" panose="020B0604020202020204" pitchFamily="34" charset="0"/>
              </a:rPr>
              <a:t>XferQoE</a:t>
            </a:r>
            <a:r>
              <a:rPr lang="en-US" altLang="ko-KR" sz="1100" u="sng" dirty="0">
                <a:latin typeface="Arial" panose="020B0604020202020204" pitchFamily="34" charset="0"/>
                <a:ea typeface="Arial" panose="020B0604020202020204" pitchFamily="34" charset="0"/>
                <a:cs typeface="Arial" panose="020B0604020202020204" pitchFamily="34" charset="0"/>
              </a:rPr>
              <a:t> leaves the model untouched and controls the sending rate, and with it the quality, of the remotely sourced input</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Problem</a:t>
            </a:r>
            <a:r>
              <a:rPr lang="en-US" altLang="ko-KR" sz="1100" dirty="0">
                <a:latin typeface="Arial" panose="020B0604020202020204" pitchFamily="34" charset="0"/>
                <a:ea typeface="Arial" panose="020B0604020202020204" pitchFamily="34" charset="0"/>
                <a:cs typeface="Arial" panose="020B0604020202020204" pitchFamily="34" charset="0"/>
              </a:rPr>
              <a:t> — Each application weighs the QoS (quality of service) factors (timeliness, throughput, smoothness) in its own way, and its QoE is observable only through the complete network-to-application stack, so </a:t>
            </a:r>
            <a:r>
              <a:rPr lang="en-US" altLang="ko-KR" sz="1100" u="sng" dirty="0">
                <a:latin typeface="Arial" panose="020B0604020202020204" pitchFamily="34" charset="0"/>
                <a:ea typeface="Arial" panose="020B0604020202020204" pitchFamily="34" charset="0"/>
                <a:cs typeface="Arial" panose="020B0604020202020204" pitchFamily="34" charset="0"/>
              </a:rPr>
              <a:t>training a controller per application incurs both costs again: the per-application objective design and the full-stack QoE collection</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Approach</a:t>
            </a:r>
            <a:r>
              <a:rPr lang="en-US" altLang="ko-KR" sz="1100" dirty="0">
                <a:latin typeface="Arial" panose="020B0604020202020204" pitchFamily="34" charset="0"/>
                <a:ea typeface="Arial" panose="020B0604020202020204" pitchFamily="34" charset="0"/>
                <a:cs typeface="Arial" panose="020B0604020202020204" pitchFamily="34" charset="0"/>
              </a:rPr>
              <a:t> — Meta-RL (meta-reinforcement learning) in two stages: ① one rate controller is meta-pretrained on QoS objectives alone in S-Sim (Simplified Simulator), each episode sampling a task over two axes, the bandwidth dynamics (condition) and the objective weight w (trade-off), so the policy learns to infer the condition from recent history instead of being retrained for it; ② the policy is then frozen and only w is fitted from a few QoE feedback shots on each downstream application, with no gradient update (left figure)</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Structure</a:t>
            </a:r>
            <a:r>
              <a:rPr lang="en-US" altLang="ko-KR" sz="1100" dirty="0">
                <a:latin typeface="Arial" panose="020B0604020202020204" pitchFamily="34" charset="0"/>
                <a:ea typeface="Arial" panose="020B0604020202020204" pitchFamily="34" charset="0"/>
                <a:cs typeface="Arial" panose="020B0604020202020204" pitchFamily="34" charset="0"/>
              </a:rPr>
              <a:t> — SAC (soft actor–critic) with one module per meta-training axis: a regime–context encoder (a bidirectional Transformer with mean pooling → regime latent; a per-patch 1-D CNN with a cross-attention readout → step latent, 8-dim each) and factor critics (one Q-head per QoS factor, ensemble of 3) that compose the value linearly under w. The actor reads the state, both latents, and w (policy ≈ 0.3 MB, encoder ≤ 3.5 MB)</a:t>
            </a:r>
          </a:p>
        </p:txBody>
      </p:sp>
      <p:pic>
        <p:nvPicPr>
          <p:cNvPr id="22" name="Picture 21" descr="image.png"/>
          <p:cNvPicPr>
            <a:picLocks noChangeAspect="1"/>
          </p:cNvPicPr>
          <p:nvPr/>
        </p:nvPicPr>
        <p:blipFill>
          <a:blip r:embed="rId2"/>
          <a:stretch>
            <a:fillRect/>
          </a:stretch>
        </p:blipFill>
        <p:spPr>
          <a:xfrm>
            <a:off x="357028" y="4737038"/>
            <a:ext cx="4435224" cy="1883218"/>
          </a:xfrm>
          <a:prstGeom prst="rect">
            <a:avLst/>
          </a:prstGeom>
        </p:spPr>
      </p:pic>
      <p:sp>
        <p:nvSpPr>
          <p:cNvPr id="38" name="TextBox 37">
            <a:extLst>
              <a:ext uri="{FF2B5EF4-FFF2-40B4-BE49-F238E27FC236}">
                <a16:creationId xmlns:a16="http://schemas.microsoft.com/office/drawing/2014/main" id="{11906725-6016-9804-F9D6-E352B4CAE8CD}"/>
              </a:ext>
            </a:extLst>
          </p:cNvPr>
          <p:cNvSpPr txBox="1"/>
          <p:nvPr/>
        </p:nvSpPr>
        <p:spPr>
          <a:xfrm>
            <a:off x="875585" y="6620256"/>
            <a:ext cx="3114254"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QoS pretraining → QoE adaptation</a:t>
            </a:r>
          </a:p>
        </p:txBody>
      </p:sp>
      <p:pic>
        <p:nvPicPr>
          <p:cNvPr id="39" name="Picture 38" descr="image.jpg"/>
          <p:cNvPicPr>
            <a:picLocks noChangeAspect="1"/>
          </p:cNvPicPr>
          <p:nvPr/>
        </p:nvPicPr>
        <p:blipFill>
          <a:blip r:embed="rId3"/>
          <a:stretch>
            <a:fillRect/>
          </a:stretch>
        </p:blipFill>
        <p:spPr>
          <a:xfrm>
            <a:off x="4928616" y="4869161"/>
            <a:ext cx="4855464" cy="1545413"/>
          </a:xfrm>
          <a:prstGeom prst="rect">
            <a:avLst/>
          </a:prstGeom>
        </p:spPr>
      </p:pic>
      <p:sp>
        <p:nvSpPr>
          <p:cNvPr id="206" name="TextBox 37">
            <a:extLst>
              <a:ext uri="{FF2B5EF4-FFF2-40B4-BE49-F238E27FC236}">
                <a16:creationId xmlns:a16="http://schemas.microsoft.com/office/drawing/2014/main" id="{11906725-6016-9804-F9D6-E352B4CAE8CD}"/>
              </a:ext>
            </a:extLst>
          </p:cNvPr>
          <p:cNvSpPr txBox="1"/>
          <p:nvPr/>
        </p:nvSpPr>
        <p:spPr>
          <a:xfrm>
            <a:off x="4919472" y="6451150"/>
            <a:ext cx="4855464"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Adapted QoE per adaptation shot (one shot = one adaptation round)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2">
            <a:extLst>
              <a:ext uri="{FF2B5EF4-FFF2-40B4-BE49-F238E27FC236}">
                <a16:creationId xmlns:a16="http://schemas.microsoft.com/office/drawing/2014/main" id="{D33CD2D0-B220-9768-D9DA-34CA25B26010}"/>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2C7A089-86FF-9648-3A6E-943151F17C44}"/>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E38A1ADC-C763-8D7C-B019-78AFDC698D5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B45B632-6985-18D6-8756-E2231ADF9D8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8D248AF6-B74E-E4F4-ADE3-D8D7F86C3F13}"/>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cxnSp>
        <p:nvCxnSpPr>
          <p:cNvPr id="4" name="직선 연결선 3">
            <a:extLst>
              <a:ext uri="{FF2B5EF4-FFF2-40B4-BE49-F238E27FC236}">
                <a16:creationId xmlns:a16="http://schemas.microsoft.com/office/drawing/2014/main" id="{67C72FF8-C84A-9707-021C-DC94582FD4BD}"/>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07FC17-1F18-03B3-7586-6C43D37AB94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6</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AEAB198A-6994-2E17-354A-CF61F7D2179F}"/>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① Reinforcement Learning — Resource Management &amp; Cloud Robotics</a:t>
            </a:r>
          </a:p>
        </p:txBody>
      </p:sp>
      <p:sp>
        <p:nvSpPr>
          <p:cNvPr id="5" name="TextBox 4">
            <a:extLst>
              <a:ext uri="{FF2B5EF4-FFF2-40B4-BE49-F238E27FC236}">
                <a16:creationId xmlns:a16="http://schemas.microsoft.com/office/drawing/2014/main" id="{4A60E6F1-D7C2-2868-3B84-5D7A0D899C08}"/>
              </a:ext>
            </a:extLst>
          </p:cNvPr>
          <p:cNvSpPr txBox="1"/>
          <p:nvPr/>
        </p:nvSpPr>
        <p:spPr>
          <a:xfrm>
            <a:off x="-9520" y="467380"/>
            <a:ext cx="9915520"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[Sim2Real]</a:t>
            </a:r>
            <a:r>
              <a:rPr lang="en-US" altLang="ko-KR" b="1" dirty="0">
                <a:latin typeface="Arial" panose="020B0604020202020204" pitchFamily="34" charset="0"/>
                <a:ea typeface="Arial" panose="020B0604020202020204" pitchFamily="34" charset="0"/>
                <a:cs typeface="Arial" panose="020B0604020202020204" pitchFamily="34" charset="0"/>
              </a:rPr>
              <a:t> </a:t>
            </a:r>
            <a:r>
              <a:rPr lang="en-US" altLang="ko-KR" sz="1600" b="1" dirty="0" err="1">
                <a:latin typeface="Arial" panose="020B0604020202020204" pitchFamily="34" charset="0"/>
                <a:ea typeface="Arial" panose="020B0604020202020204" pitchFamily="34" charset="0"/>
                <a:cs typeface="Arial" panose="020B0604020202020204" pitchFamily="34" charset="0"/>
              </a:rPr>
              <a:t>XferQoE</a:t>
            </a:r>
            <a:r>
              <a:rPr lang="en-US" altLang="ko-KR" sz="1600" b="1" dirty="0">
                <a:latin typeface="Arial" panose="020B0604020202020204" pitchFamily="34" charset="0"/>
                <a:ea typeface="Arial" panose="020B0604020202020204" pitchFamily="34" charset="0"/>
                <a:cs typeface="Arial" panose="020B0604020202020204" pitchFamily="34" charset="0"/>
              </a:rPr>
              <a:t> </a:t>
            </a:r>
            <a:r>
              <a:rPr lang="en-US" altLang="ko-KR" b="1" dirty="0">
                <a:latin typeface="Arial" panose="020B0604020202020204" pitchFamily="34" charset="0"/>
                <a:ea typeface="Arial" panose="020B0604020202020204" pitchFamily="34" charset="0"/>
                <a:cs typeface="Arial" panose="020B0604020202020204" pitchFamily="34" charset="0"/>
              </a:rPr>
              <a:t>— Frozen Rate Controller on a Real Wi-Fi Link with a Simulated Robot</a:t>
            </a:r>
          </a:p>
        </p:txBody>
      </p:sp>
      <p:sp>
        <p:nvSpPr>
          <p:cNvPr id="10" name="TextBox 9">
            <a:extLst>
              <a:ext uri="{FF2B5EF4-FFF2-40B4-BE49-F238E27FC236}">
                <a16:creationId xmlns:a16="http://schemas.microsoft.com/office/drawing/2014/main" id="{19D6C12A-DC67-8854-3182-C570D83972F0}"/>
              </a:ext>
            </a:extLst>
          </p:cNvPr>
          <p:cNvSpPr txBox="1"/>
          <p:nvPr/>
        </p:nvSpPr>
        <p:spPr>
          <a:xfrm>
            <a:off x="172654" y="864759"/>
            <a:ext cx="9603782" cy="2889958"/>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Target system</a:t>
            </a:r>
            <a:r>
              <a:rPr lang="en-US" altLang="ko-KR" sz="1100" dirty="0">
                <a:latin typeface="Arial" panose="020B0604020202020204" pitchFamily="34" charset="0"/>
                <a:ea typeface="Arial" panose="020B0604020202020204" pitchFamily="34" charset="0"/>
                <a:cs typeface="Arial" panose="020B0604020202020204" pitchFamily="34" charset="0"/>
              </a:rPr>
              <a:t> — The edge server runs the manipulation policy and the rate controller, and only observations cross the wireless link. </a:t>
            </a:r>
            <a:r>
              <a:rPr lang="en-US" altLang="ko-KR" sz="1100" u="sng" dirty="0">
                <a:latin typeface="Arial" panose="020B0604020202020204" pitchFamily="34" charset="0"/>
                <a:ea typeface="Arial" panose="020B0604020202020204" pitchFamily="34" charset="0"/>
                <a:cs typeface="Arial" panose="020B0604020202020204" pitchFamily="34" charset="0"/>
              </a:rPr>
              <a:t>The Sim2Real target is therefore the network side, while the robot runs in ManiSkill3 (SAPIEN, learned policy) and Meta-World (MuJoCo, scripted policy) simulation and its task QoE (quality of experience) is defined from manipulation success, control continuity, and completion efficiency</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Built</a:t>
            </a:r>
            <a:r>
              <a:rPr lang="en-US" altLang="ko-KR" sz="1100" dirty="0">
                <a:latin typeface="Arial" panose="020B0604020202020204" pitchFamily="34" charset="0"/>
                <a:ea typeface="Arial" panose="020B0604020202020204" pitchFamily="34" charset="0"/>
                <a:cs typeface="Arial" panose="020B0604020202020204" pitchFamily="34" charset="0"/>
              </a:rPr>
              <a:t> — </a:t>
            </a:r>
            <a:r>
              <a:rPr lang="en-US" altLang="ko-KR" sz="1100" u="sng" dirty="0">
                <a:latin typeface="Arial" panose="020B0604020202020204" pitchFamily="34" charset="0"/>
                <a:ea typeface="Arial" panose="020B0604020202020204" pitchFamily="34" charset="0"/>
                <a:cs typeface="Arial" panose="020B0604020202020204" pitchFamily="34" charset="0"/>
              </a:rPr>
              <a:t>The NiL (network-in-the-loop) testbed: one Raspberry Pi 4 sender for robot control or up to 16 for monitoring on a real 802.11ac link via an access point to the edge server</a:t>
            </a:r>
            <a:r>
              <a:rPr lang="en-US" altLang="ko-KR" sz="1100" dirty="0">
                <a:latin typeface="Arial" panose="020B0604020202020204" pitchFamily="34" charset="0"/>
                <a:ea typeface="Arial" panose="020B0604020202020204" pitchFamily="34" charset="0"/>
                <a:cs typeface="Arial" panose="020B0604020202020204" pitchFamily="34" charset="0"/>
              </a:rPr>
              <a:t>. C/C++ daemons implement episode-level clock synchronization. A sender-side queue model and frame-deadline expiry accounting track traffic; the receiver reconstructs queue growth, dropped bytes, and frame lateness from sender-stamped packet headers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Validation path</a:t>
            </a:r>
            <a:r>
              <a:rPr lang="en-US" altLang="ko-KR" sz="1100" dirty="0">
                <a:latin typeface="Arial" panose="020B0604020202020204" pitchFamily="34" charset="0"/>
                <a:ea typeface="Arial" panose="020B0604020202020204" pitchFamily="34" charset="0"/>
                <a:cs typeface="Arial" panose="020B0604020202020204" pitchFamily="34" charset="0"/>
              </a:rPr>
              <a:t> — Three network environments of increasing fidelity replay the Puffer bandwidth trace (the hardest to predict of the eight traces) behind one state-input, rate-output interface shared by all three: packet-level C++ S-Sim → full-stack NS-3, the NiL testbed, a real Raspberry Pi 4 with its OS stack and packet timing. </a:t>
            </a:r>
            <a:r>
              <a:rPr lang="en-US" altLang="ko-KR" sz="1100" u="sng" dirty="0">
                <a:latin typeface="Arial" panose="020B0604020202020204" pitchFamily="34" charset="0"/>
                <a:ea typeface="Arial" panose="020B0604020202020204" pitchFamily="34" charset="0"/>
                <a:cs typeface="Arial" panose="020B0604020202020204" pitchFamily="34" charset="0"/>
              </a:rPr>
              <a:t>The same frozen rate controller runs on all three with its parameters unchanged</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Result</a:t>
            </a:r>
            <a:r>
              <a:rPr lang="en-US" altLang="ko-KR" sz="1100" dirty="0">
                <a:latin typeface="Arial" panose="020B0604020202020204" pitchFamily="34" charset="0"/>
                <a:ea typeface="Arial" panose="020B0604020202020204" pitchFamily="34" charset="0"/>
                <a:cs typeface="Arial" panose="020B0604020202020204" pitchFamily="34" charset="0"/>
              </a:rPr>
              <a:t> — On the link, only the objective weights are refit while the rate controller stays frozen. XferQoE has the highest QoE in all three real-link evaluations. ManiSkill3 QoE is 0.439 vs. 0.367 for the per-application hand-crafted controller (success rate 67.8% vs. 64.7%, table)</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Demo video, S-Sim</a:t>
            </a:r>
            <a:r>
              <a:rPr lang="en-US" altLang="ko-KR" sz="1100" dirty="0">
                <a:latin typeface="Arial" panose="020B0604020202020204" pitchFamily="34" charset="0"/>
                <a:ea typeface="Arial" panose="020B0604020202020204" pitchFamily="34" charset="0"/>
                <a:cs typeface="Arial" panose="020B0604020202020204" pitchFamily="34" charset="0"/>
              </a:rPr>
              <a:t> — Same trace, first 10 PokeCube tasks at 5× speed, one example run: STEER (left, a learning-based rate controller) keeps mean frame quality at 50.6%, but the robot receives a complete observation on only 51.6% of its control ticks and finishes in 171.7 s with 2 of the 10 tasks failing. XferQoE (right) lowers mean frame quality to 27.2%, reaches 86.8% of ticks, and finishes in 95.6 s with 1 failing</a:t>
            </a:r>
          </a:p>
        </p:txBody>
      </p:sp>
      <p:pic>
        <p:nvPicPr>
          <p:cNvPr id="22" name="Picture 21" descr="image.png"/>
          <p:cNvPicPr>
            <a:picLocks noChangeAspect="1"/>
          </p:cNvPicPr>
          <p:nvPr/>
        </p:nvPicPr>
        <p:blipFill>
          <a:blip r:embed="rId4"/>
          <a:stretch>
            <a:fillRect/>
          </a:stretch>
        </p:blipFill>
        <p:spPr>
          <a:xfrm>
            <a:off x="4901184" y="3886200"/>
            <a:ext cx="4572000" cy="923544"/>
          </a:xfrm>
          <a:prstGeom prst="rect">
            <a:avLst/>
          </a:prstGeom>
        </p:spPr>
      </p:pic>
      <p:sp>
        <p:nvSpPr>
          <p:cNvPr id="38" name="TextBox 37">
            <a:extLst>
              <a:ext uri="{FF2B5EF4-FFF2-40B4-BE49-F238E27FC236}">
                <a16:creationId xmlns:a16="http://schemas.microsoft.com/office/drawing/2014/main" id="{11906725-6016-9804-F9D6-E352B4CAE8CD}"/>
              </a:ext>
            </a:extLst>
          </p:cNvPr>
          <p:cNvSpPr txBox="1"/>
          <p:nvPr/>
        </p:nvSpPr>
        <p:spPr>
          <a:xfrm>
            <a:off x="4901184" y="4849744"/>
            <a:ext cx="4572000"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NiL testbed: Raspberry Pi 4 senders, Wi-Fi AP, edge server</a:t>
            </a:r>
          </a:p>
        </p:txBody>
      </p:sp>
      <p:sp>
        <p:nvSpPr>
          <p:cNvPr id="39" name="TableCaption"/>
          <p:cNvSpPr txBox="1"/>
          <p:nvPr/>
        </p:nvSpPr>
        <p:spPr>
          <a:xfrm>
            <a:off x="4096512" y="5138928"/>
            <a:ext cx="5650992" cy="152349"/>
          </a:xfrm>
          <a:prstGeom prst="rect">
            <a:avLst/>
          </a:prstGeom>
          <a:noFill/>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Real-link robot control, ManiSkill3 PokeCube (HC = hand-crafted)</a:t>
            </a:r>
          </a:p>
        </p:txBody>
      </p:sp>
      <p:graphicFrame>
        <p:nvGraphicFramePr>
          <p:cNvPr id="40" name="Table 39"/>
          <p:cNvGraphicFramePr>
            <a:graphicFrameLocks noGrp="1"/>
          </p:cNvGraphicFramePr>
          <p:nvPr/>
        </p:nvGraphicFramePr>
        <p:xfrm>
          <a:off x="4096512" y="5331277"/>
          <a:ext cx="5650992" cy="1371981"/>
        </p:xfrm>
        <a:graphic>
          <a:graphicData uri="http://schemas.openxmlformats.org/drawingml/2006/table">
            <a:tbl>
              <a:tblPr>
                <a:tableStyleId>{5C22544A-7EE6-4342-B048-85BDC9FD1C3A}</a:tableStyleId>
              </a:tblPr>
              <a:tblGrid>
                <a:gridCol w="794108">
                  <a:extLst>
                    <a:ext uri="{9D8B030D-6E8A-4147-A177-3AD203B41FA5}">
                      <a16:colId xmlns:a16="http://schemas.microsoft.com/office/drawing/2014/main" val="20000"/>
                    </a:ext>
                  </a:extLst>
                </a:gridCol>
                <a:gridCol w="528584">
                  <a:extLst>
                    <a:ext uri="{9D8B030D-6E8A-4147-A177-3AD203B41FA5}">
                      <a16:colId xmlns:a16="http://schemas.microsoft.com/office/drawing/2014/main" val="20001"/>
                    </a:ext>
                  </a:extLst>
                </a:gridCol>
                <a:gridCol w="673570">
                  <a:extLst>
                    <a:ext uri="{9D8B030D-6E8A-4147-A177-3AD203B41FA5}">
                      <a16:colId xmlns:a16="http://schemas.microsoft.com/office/drawing/2014/main" val="20002"/>
                    </a:ext>
                  </a:extLst>
                </a:gridCol>
                <a:gridCol w="588088">
                  <a:extLst>
                    <a:ext uri="{9D8B030D-6E8A-4147-A177-3AD203B41FA5}">
                      <a16:colId xmlns:a16="http://schemas.microsoft.com/office/drawing/2014/main" val="20003"/>
                    </a:ext>
                  </a:extLst>
                </a:gridCol>
                <a:gridCol w="786627">
                  <a:extLst>
                    <a:ext uri="{9D8B030D-6E8A-4147-A177-3AD203B41FA5}">
                      <a16:colId xmlns:a16="http://schemas.microsoft.com/office/drawing/2014/main" val="20004"/>
                    </a:ext>
                  </a:extLst>
                </a:gridCol>
                <a:gridCol w="758612">
                  <a:extLst>
                    <a:ext uri="{9D8B030D-6E8A-4147-A177-3AD203B41FA5}">
                      <a16:colId xmlns:a16="http://schemas.microsoft.com/office/drawing/2014/main" val="20005"/>
                    </a:ext>
                  </a:extLst>
                </a:gridCol>
                <a:gridCol w="663707">
                  <a:extLst>
                    <a:ext uri="{9D8B030D-6E8A-4147-A177-3AD203B41FA5}">
                      <a16:colId xmlns:a16="http://schemas.microsoft.com/office/drawing/2014/main" val="20006"/>
                    </a:ext>
                  </a:extLst>
                </a:gridCol>
                <a:gridCol w="857696">
                  <a:extLst>
                    <a:ext uri="{9D8B030D-6E8A-4147-A177-3AD203B41FA5}">
                      <a16:colId xmlns:a16="http://schemas.microsoft.com/office/drawing/2014/main" val="20007"/>
                    </a:ext>
                  </a:extLst>
                </a:gridCol>
              </a:tblGrid>
              <a:tr h="539877">
                <a:tc>
                  <a:txBody>
                    <a:bodyPr/>
                    <a:lstStyle/>
                    <a:p>
                      <a:pPr algn="ctr"/>
                      <a:r>
                        <a:rPr lang="ko-KR" sz="950" b="1">
                          <a:latin typeface="Arial" panose="020B0604020202020204" pitchFamily="34" charset="0"/>
                          <a:cs typeface="Arial" panose="020B0604020202020204" pitchFamily="34" charset="0"/>
                        </a:rPr>
                        <a:t>Method</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QoE</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Success Rate (%)</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Frame Quality (%)</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Control Continuity (%)</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Efficiency (%)</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Working Time (s)</a:t>
                      </a:r>
                    </a:p>
                  </a:txBody>
                  <a:tcPr marL="45720" marR="45720" marT="27432" marB="27432" anchor="ctr">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Completion Time (s)</a:t>
                      </a:r>
                    </a:p>
                  </a:txBody>
                  <a:tcPr marL="45720" marR="45720" marT="27432" marB="27432" anchor="ctr">
                    <a:lnB w="9525" cap="flat" cmpd="sng" algn="ctr">
                      <a:solidFill>
                        <a:srgbClr val="BFBFBF"/>
                      </a:solidFill>
                    </a:lnB>
                    <a:solidFill>
                      <a:srgbClr val="EEF1F6"/>
                    </a:solidFill>
                  </a:tcPr>
                </a:tc>
                <a:extLst>
                  <a:ext uri="{0D108BD9-81ED-4DB2-BD59-A6C34878D82A}">
                    <a16:rowId xmlns:a16="http://schemas.microsoft.com/office/drawing/2014/main" val="10000"/>
                  </a:ext>
                </a:extLst>
              </a:tr>
              <a:tr h="208026">
                <a:tc>
                  <a:txBody>
                    <a:bodyPr/>
                    <a:lstStyle/>
                    <a:p>
                      <a:pPr algn="ctr"/>
                      <a:r>
                        <a:rPr lang="ko-KR" sz="900">
                          <a:latin typeface="Arial" panose="020B0604020202020204" pitchFamily="34" charset="0"/>
                          <a:cs typeface="Arial" panose="020B0604020202020204" pitchFamily="34" charset="0"/>
                        </a:rPr>
                        <a:t>XferQoE</a:t>
                      </a:r>
                    </a:p>
                  </a:txBody>
                  <a:tcPr marL="45720" marR="4572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0.439</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67.8</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27.3</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88.5</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81.4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7.7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9.34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1"/>
                  </a:ext>
                </a:extLst>
              </a:tr>
              <a:tr h="208026">
                <a:tc>
                  <a:txBody>
                    <a:bodyPr/>
                    <a:lstStyle/>
                    <a:p>
                      <a:pPr algn="ctr"/>
                      <a:r>
                        <a:rPr lang="ko-KR" sz="900">
                          <a:latin typeface="Arial" panose="020B0604020202020204" pitchFamily="34" charset="0"/>
                          <a:cs typeface="Arial" panose="020B0604020202020204" pitchFamily="34" charset="0"/>
                        </a:rPr>
                        <a:t>STEER</a:t>
                      </a:r>
                    </a:p>
                  </a:txBody>
                  <a:tcPr marL="45720" marR="4572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0.003</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54.2</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37.5</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59.1</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86.6</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7.2</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14.54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2"/>
                  </a:ext>
                </a:extLst>
              </a:tr>
              <a:tr h="208026">
                <a:tc>
                  <a:txBody>
                    <a:bodyPr/>
                    <a:lstStyle/>
                    <a:p>
                      <a:pPr algn="ctr"/>
                      <a:r>
                        <a:rPr lang="ko-KR" sz="900">
                          <a:latin typeface="Arial" panose="020B0604020202020204" pitchFamily="34" charset="0"/>
                          <a:cs typeface="Arial" panose="020B0604020202020204" pitchFamily="34" charset="0"/>
                        </a:rPr>
                        <a:t>GLOBEX</a:t>
                      </a:r>
                    </a:p>
                  </a:txBody>
                  <a:tcPr marL="45720" marR="4572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0.203</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60.7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33.4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74.0</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85.4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7.2</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10.94</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3"/>
                  </a:ext>
                </a:extLst>
              </a:tr>
              <a:tr h="208026">
                <a:tc>
                  <a:txBody>
                    <a:bodyPr/>
                    <a:lstStyle/>
                    <a:p>
                      <a:pPr algn="ctr"/>
                      <a:r>
                        <a:rPr lang="ko-KR" sz="900">
                          <a:latin typeface="Arial" panose="020B0604020202020204" pitchFamily="34" charset="0"/>
                          <a:cs typeface="Arial" panose="020B0604020202020204" pitchFamily="34" charset="0"/>
                        </a:rPr>
                        <a:t>Per-app HC</a:t>
                      </a:r>
                    </a:p>
                  </a:txBody>
                  <a:tcPr marL="45720" marR="4572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0.367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64.7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25.7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86.7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80.8</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7.7</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r"/>
                      <a:r>
                        <a:rPr lang="ko-KR" sz="900">
                          <a:latin typeface="Arial" panose="020B0604020202020204" pitchFamily="34" charset="0"/>
                          <a:cs typeface="Arial" panose="020B0604020202020204" pitchFamily="34" charset="0"/>
                        </a:rPr>
                        <a:t>9.36</a:t>
                      </a:r>
                    </a:p>
                  </a:txBody>
                  <a:tcPr marL="45720" marR="36000" marT="27432" marB="27432" anchor="ctr">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4"/>
                  </a:ext>
                </a:extLst>
              </a:tr>
            </a:tbl>
          </a:graphicData>
        </a:graphic>
      </p:graphicFrame>
      <p:sp>
        <p:nvSpPr>
          <p:cNvPr id="207" name="TextBox 37">
            <a:extLst>
              <a:ext uri="{FF2B5EF4-FFF2-40B4-BE49-F238E27FC236}">
                <a16:creationId xmlns:a16="http://schemas.microsoft.com/office/drawing/2014/main" id="{11906725-6016-9804-F9D6-E352B4CAE8CD}"/>
              </a:ext>
            </a:extLst>
          </p:cNvPr>
          <p:cNvSpPr txBox="1"/>
          <p:nvPr/>
        </p:nvSpPr>
        <p:spPr>
          <a:xfrm>
            <a:off x="182880" y="6084184"/>
            <a:ext cx="3840480"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Demo video: STEER vs. XferQoE</a:t>
            </a:r>
          </a:p>
        </p:txBody>
      </p:sp>
      <p:pic>
        <p:nvPicPr>
          <p:cNvPr id="41" name="race_all.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2880" y="3886200"/>
            <a:ext cx="3840480" cy="2157984"/>
          </a:xfrm>
          <a:prstGeom prst="rect">
            <a:avLst/>
          </a:prstGeom>
        </p:spPr>
      </p:pic>
      <p:sp>
        <p:nvSpPr>
          <p:cNvPr id="208" name="VideoLink"/>
          <p:cNvSpPr/>
          <p:nvPr/>
        </p:nvSpPr>
        <p:spPr>
          <a:xfrm>
            <a:off x="182880" y="6355080"/>
            <a:ext cx="2953512" cy="146304"/>
          </a:xfrm>
          <a:prstGeom prst="roundRect">
            <a:avLst/>
          </a:prstGeom>
          <a:solidFill>
            <a:srgbClr val="D9E2F3"/>
          </a:solidFill>
          <a:ln>
            <a:noFill/>
          </a:ln>
        </p:spPr>
        <p:txBody>
          <a:bodyPr wrap="none" lIns="0" tIns="0" rIns="0" bIns="0" rtlCol="0" anchor="ctr"/>
          <a:lstStyle/>
          <a:p>
            <a:pPr algn="ctr"/>
            <a:r>
              <a:rPr lang="en-US" altLang="ko-KR" sz="800" dirty="0">
                <a:ea typeface="맑은 고딕"/>
                <a:hlinkClick r:id="rId6"/>
              </a:rPr>
              <a:t>sonny0714.github.io/</a:t>
            </a:r>
            <a:r>
              <a:rPr lang="en-US" altLang="ko-KR" sz="800" dirty="0" err="1">
                <a:ea typeface="맑은 고딕"/>
                <a:hlinkClick r:id="rId6"/>
              </a:rPr>
              <a:t>demo_video_robot</a:t>
            </a:r>
            <a:r>
              <a:rPr lang="en-US" altLang="ko-KR" sz="800" dirty="0">
                <a:ea typeface="맑은 고딕"/>
                <a:hlinkClick r:id="rId6"/>
              </a:rPr>
              <a:t>/xferqoe-vs-steer.html</a:t>
            </a:r>
            <a:endParaRPr lang="en-US" altLang="ko-KR" sz="800" dirty="0">
              <a:latin typeface="맑은 고딕"/>
              <a:ea typeface="맑은 고딕"/>
              <a:hlinkClick r:id="rId6"/>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400"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1"/>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2">
            <a:extLst>
              <a:ext uri="{FF2B5EF4-FFF2-40B4-BE49-F238E27FC236}">
                <a16:creationId xmlns:a16="http://schemas.microsoft.com/office/drawing/2014/main" id="{D33CD2D0-B220-9768-D9DA-34CA25B26010}"/>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2C7A089-86FF-9648-3A6E-943151F17C44}"/>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E38A1ADC-C763-8D7C-B019-78AFDC698D5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B45B632-6985-18D6-8756-E2231ADF9D8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8D248AF6-B74E-E4F4-ADE3-D8D7F86C3F13}"/>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cxnSp>
        <p:nvCxnSpPr>
          <p:cNvPr id="4" name="직선 연결선 3">
            <a:extLst>
              <a:ext uri="{FF2B5EF4-FFF2-40B4-BE49-F238E27FC236}">
                <a16:creationId xmlns:a16="http://schemas.microsoft.com/office/drawing/2014/main" id="{67C72FF8-C84A-9707-021C-DC94582FD4BD}"/>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07FC17-1F18-03B3-7586-6C43D37AB94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7</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AEAB198A-6994-2E17-354A-CF61F7D2179F}"/>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① Reinforcement Learning — Resource Management &amp; Cloud Robotics</a:t>
            </a:r>
          </a:p>
        </p:txBody>
      </p:sp>
      <p:sp>
        <p:nvSpPr>
          <p:cNvPr id="5" name="TextBox 4">
            <a:extLst>
              <a:ext uri="{FF2B5EF4-FFF2-40B4-BE49-F238E27FC236}">
                <a16:creationId xmlns:a16="http://schemas.microsoft.com/office/drawing/2014/main" id="{4A60E6F1-D7C2-2868-3B84-5D7A0D899C08}"/>
              </a:ext>
            </a:extLst>
          </p:cNvPr>
          <p:cNvSpPr txBox="1"/>
          <p:nvPr/>
        </p:nvSpPr>
        <p:spPr>
          <a:xfrm>
            <a:off x="172654" y="436866"/>
            <a:ext cx="9603782"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[RFM, VLM, VLA]</a:t>
            </a:r>
            <a:r>
              <a:rPr lang="en-US" altLang="ko-KR" b="1" dirty="0">
                <a:latin typeface="Arial" panose="020B0604020202020204" pitchFamily="34" charset="0"/>
                <a:ea typeface="Arial" panose="020B0604020202020204" pitchFamily="34" charset="0"/>
                <a:cs typeface="Arial" panose="020B0604020202020204" pitchFamily="34" charset="0"/>
              </a:rPr>
              <a:t> Physical-AI PoC — Code-as-Policies Demo, RFM Fine-Tuning</a:t>
            </a:r>
          </a:p>
        </p:txBody>
      </p:sp>
      <p:sp>
        <p:nvSpPr>
          <p:cNvPr id="10" name="TextBox 9">
            <a:extLst>
              <a:ext uri="{FF2B5EF4-FFF2-40B4-BE49-F238E27FC236}">
                <a16:creationId xmlns:a16="http://schemas.microsoft.com/office/drawing/2014/main" id="{19D6C12A-DC67-8854-3182-C570D83972F0}"/>
              </a:ext>
            </a:extLst>
          </p:cNvPr>
          <p:cNvSpPr txBox="1"/>
          <p:nvPr/>
        </p:nvSpPr>
        <p:spPr>
          <a:xfrm>
            <a:off x="172654" y="795091"/>
            <a:ext cx="9603782" cy="3820982"/>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Physical-AI Core-Technology PoC (MSIT / NIPA, 2025, researcher): the four-stage demo was recorded in Jan. 2026. The SO-101 work (Mar.–May 2026) is a separate effort toward human-to-robot transfer</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Participant</a:t>
            </a:r>
            <a:r>
              <a:rPr lang="en-US" altLang="ko-KR" sz="1100" dirty="0">
                <a:latin typeface="Arial" panose="020B0604020202020204" pitchFamily="34" charset="0"/>
                <a:ea typeface="Arial" panose="020B0604020202020204" pitchFamily="34" charset="0"/>
                <a:cs typeface="Arial" panose="020B0604020202020204" pitchFamily="34" charset="0"/>
              </a:rPr>
              <a:t> in the PoC demo (pipeline structure design, LeRobot runs; jointly with the lab) and carried out the SO-101 work (encoder pretraining, data collection, fine-tuning, real-arm tests)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Demo: skill-based Code-as-Policies</a:t>
            </a:r>
            <a:r>
              <a:rPr lang="en-US" altLang="ko-KR" sz="1100" dirty="0">
                <a:latin typeface="Arial" panose="020B0604020202020204" pitchFamily="34" charset="0"/>
                <a:ea typeface="Arial" panose="020B0604020202020204" pitchFamily="34" charset="0"/>
                <a:cs typeface="Arial" panose="020B0604020202020204" pitchFamily="34" charset="0"/>
              </a:rPr>
              <a:t> — The task sequence is fixed (pick → move → assemble → inspect) and the skills are predefined. For each skill, </a:t>
            </a:r>
            <a:r>
              <a:rPr lang="en-US" altLang="ko-KR" sz="1100" u="sng" dirty="0">
                <a:latin typeface="Arial" panose="020B0604020202020204" pitchFamily="34" charset="0"/>
                <a:ea typeface="Arial" panose="020B0604020202020204" pitchFamily="34" charset="0"/>
                <a:cs typeface="Arial" panose="020B0604020202020204" pitchFamily="34" charset="0"/>
              </a:rPr>
              <a:t>the prompt to Gemini (a VLM, vision-language model) carries a code skeleton written over the robot's perception and control primitives, and Gemini fills the skeleton with executable code offline</a:t>
            </a:r>
            <a:r>
              <a:rPr lang="en-US" altLang="ko-KR" sz="1100" dirty="0">
                <a:latin typeface="Arial" panose="020B0604020202020204" pitchFamily="34" charset="0"/>
                <a:ea typeface="Arial" panose="020B0604020202020204" pitchFamily="34" charset="0"/>
                <a:cs typeface="Arial" panose="020B0604020202020204" pitchFamily="34" charset="0"/>
              </a:rPr>
              <a:t>; the filled skills form the library. </a:t>
            </a:r>
            <a:r>
              <a:rPr lang="en-US" altLang="ko-KR" sz="1100" u="sng" dirty="0">
                <a:latin typeface="Arial" panose="020B0604020202020204" pitchFamily="34" charset="0"/>
                <a:ea typeface="Arial" panose="020B0604020202020204" pitchFamily="34" charset="0"/>
                <a:cs typeface="Arial" panose="020B0604020202020204" pitchFamily="34" charset="0"/>
              </a:rPr>
              <a:t>At run time Gemini reads the camera frame, selects a skill, and that code drives the arms on LeRobot (LeKiwi's arm picks, two SO-101 arms assemble). </a:t>
            </a:r>
            <a:r>
              <a:rPr lang="en-US" altLang="ko-KR" sz="1100" dirty="0">
                <a:latin typeface="Arial" panose="020B0604020202020204" pitchFamily="34" charset="0"/>
                <a:ea typeface="Arial" panose="020B0604020202020204" pitchFamily="34" charset="0"/>
                <a:cs typeface="Arial" panose="020B0604020202020204" pitchFamily="34" charset="0"/>
              </a:rPr>
              <a:t>The LeKiwi mobile base moves by line following and an inspection camera returns pass/fail (video at right). No learned policy is in the loop</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SO-101: RFM (robot foundation model) encoder fine-tuning toward human-to-robot (H2R) transfer</a:t>
            </a:r>
            <a:r>
              <a:rPr lang="en-US" altLang="ko-KR" sz="1100" dirty="0">
                <a:latin typeface="Arial" panose="020B0604020202020204" pitchFamily="34" charset="0"/>
                <a:ea typeface="Arial" panose="020B0604020202020204" pitchFamily="34" charset="0"/>
                <a:cs typeface="Arial" panose="020B0604020202020204" pitchFamily="34" charset="0"/>
              </a:rPr>
              <a:t> — The vision encoder was the part trained so that human videos could guide robot imitation learning: H2R was reproduced on public data (two ViT-B/16 encoders pretrained by masked autoencoding, on human and on manipulation videos, each as the ACT (Action Chunking with Transformers) backbone, compared offline with ImageNet pretraining). On the real arm, </a:t>
            </a:r>
            <a:r>
              <a:rPr lang="en-US" altLang="ko-KR" sz="1100" u="sng" dirty="0">
                <a:latin typeface="Arial" panose="020B0604020202020204" pitchFamily="34" charset="0"/>
                <a:ea typeface="Arial" panose="020B0604020202020204" pitchFamily="34" charset="0"/>
                <a:cs typeface="Arial" panose="020B0604020202020204" pitchFamily="34" charset="0"/>
              </a:rPr>
              <a:t>the vision encoders of the pretrained SmolVLA and π0.5 were then fine-tuned on LeRobot</a:t>
            </a:r>
            <a:r>
              <a:rPr lang="en-US" altLang="ko-KR" sz="1100" dirty="0">
                <a:latin typeface="Arial" panose="020B0604020202020204" pitchFamily="34" charset="0"/>
                <a:ea typeface="Arial" panose="020B0604020202020204" pitchFamily="34" charset="0"/>
                <a:cs typeface="Arial" panose="020B0604020202020204" pitchFamily="34" charset="0"/>
              </a:rPr>
              <a:t>, action expert frozen, on teleoperated donut pick-and-place data (104 episodes, 45,553 frames). ACT on the same data was the baseline</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Models</a:t>
            </a:r>
            <a:r>
              <a:rPr lang="en-US" altLang="ko-KR" sz="1100" dirty="0">
                <a:latin typeface="Arial" panose="020B0604020202020204" pitchFamily="34" charset="0"/>
                <a:ea typeface="Arial" panose="020B0604020202020204" pitchFamily="34" charset="0"/>
                <a:cs typeface="Arial" panose="020B0604020202020204" pitchFamily="34" charset="0"/>
              </a:rPr>
              <a:t> — ACT: CNN vision backbone + transformer encoder–decoder trained as a conditional VAE; SmolVLA: SmolVLM-2 vision-language backbone + flow-matching action expert; π0.5: PaliGemma-based VLM + flow-matching action expert</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Real-arm result</a:t>
            </a:r>
            <a:r>
              <a:rPr lang="en-US" altLang="ko-KR" sz="1100" dirty="0">
                <a:latin typeface="Arial" panose="020B0604020202020204" pitchFamily="34" charset="0"/>
                <a:ea typeface="Arial" panose="020B0604020202020204" pitchFamily="34" charset="0"/>
                <a:cs typeface="Arial" panose="020B0604020202020204" pitchFamily="34" charset="0"/>
              </a:rPr>
              <a:t> — On donut pick-and-place, 10 trials each at trained positions (in-distribution, ID) and new positions (out-of-distribution, OOD), reported as [ID, OOD]: ACT [70%, 40%], SmolVLA [90%, 50%], π0.5 [80%, 60%]. </a:t>
            </a:r>
            <a:r>
              <a:rPr lang="en-US" altLang="ko-KR" sz="1100" u="sng" dirty="0">
                <a:latin typeface="Arial" panose="020B0604020202020204" pitchFamily="34" charset="0"/>
                <a:ea typeface="Arial" panose="020B0604020202020204" pitchFamily="34" charset="0"/>
                <a:cs typeface="Arial" panose="020B0604020202020204" pitchFamily="34" charset="0"/>
              </a:rPr>
              <a:t>The gaps between policies are one or two trials of ten and the training budgets (steps, batch) differ, so no ranking or pretraining effect is claimed</a:t>
            </a:r>
          </a:p>
        </p:txBody>
      </p:sp>
      <p:pic>
        <p:nvPicPr>
          <p:cNvPr id="22" name="Picture 21" descr="image.png"/>
          <p:cNvPicPr>
            <a:picLocks noChangeAspect="1"/>
          </p:cNvPicPr>
          <p:nvPr/>
        </p:nvPicPr>
        <p:blipFill>
          <a:blip r:embed="rId5"/>
          <a:stretch>
            <a:fillRect/>
          </a:stretch>
        </p:blipFill>
        <p:spPr>
          <a:xfrm>
            <a:off x="864552" y="4628263"/>
            <a:ext cx="3950208" cy="1975104"/>
          </a:xfrm>
          <a:prstGeom prst="rect">
            <a:avLst/>
          </a:prstGeom>
        </p:spPr>
      </p:pic>
      <p:sp>
        <p:nvSpPr>
          <p:cNvPr id="38" name="TextBox 37">
            <a:extLst>
              <a:ext uri="{FF2B5EF4-FFF2-40B4-BE49-F238E27FC236}">
                <a16:creationId xmlns:a16="http://schemas.microsoft.com/office/drawing/2014/main" id="{11906725-6016-9804-F9D6-E352B4CAE8CD}"/>
              </a:ext>
            </a:extLst>
          </p:cNvPr>
          <p:cNvSpPr txBox="1"/>
          <p:nvPr/>
        </p:nvSpPr>
        <p:spPr>
          <a:xfrm>
            <a:off x="416496" y="6642739"/>
            <a:ext cx="4846320"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Demo: offline skill code; camera → Gemini selects skill → LeRobot</a:t>
            </a:r>
          </a:p>
        </p:txBody>
      </p:sp>
      <p:sp>
        <p:nvSpPr>
          <p:cNvPr id="209" name="TextBox 37">
            <a:extLst>
              <a:ext uri="{FF2B5EF4-FFF2-40B4-BE49-F238E27FC236}">
                <a16:creationId xmlns:a16="http://schemas.microsoft.com/office/drawing/2014/main" id="{11906725-6016-9804-F9D6-E352B4CAE8CD}"/>
              </a:ext>
            </a:extLst>
          </p:cNvPr>
          <p:cNvSpPr txBox="1"/>
          <p:nvPr/>
        </p:nvSpPr>
        <p:spPr>
          <a:xfrm>
            <a:off x="5500560" y="6661027"/>
            <a:ext cx="3931920"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PoC demo video (41 s): pick, move, assemble, inspect</a:t>
            </a:r>
          </a:p>
        </p:txBody>
      </p:sp>
      <p:pic>
        <p:nvPicPr>
          <p:cNvPr id="39" name="poc_demo_41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697156" y="4630092"/>
            <a:ext cx="3538728" cy="19915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034"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9"/>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934F-7FED-2F64-E20C-A09062937C63}"/>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652DA9AB-7727-CB48-E8C9-A7B7AA569817}"/>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D92C26A8-53E8-573D-F4AB-46712D826607}"/>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E94EDEA2-3024-78CF-1C84-BF4EDF205D81}"/>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CD3AF7D8-62C3-F996-CA25-0DF260021F4A}"/>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62BEDAEB-5921-DA97-D1A7-4A8CCB000755}"/>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EAA1E42D-DEA8-2B5F-478A-7FCB3AAAD8DE}"/>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1F0F8ADE-1B5C-310C-987A-0E9E13B954F5}"/>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8</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6F4D3AB4-666E-A4E5-8D9B-0AC5A858F07A}"/>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② Agentic AI — LLM</a:t>
            </a:r>
            <a:r>
              <a:rPr lang="ko-KR" altLang="en-US" sz="1400" b="1" dirty="0">
                <a:latin typeface="Arial" pitchFamily="34" charset="0"/>
                <a:ea typeface="Arial Unicode MS" pitchFamily="50" charset="-127"/>
                <a:cs typeface="Arial" pitchFamily="34" charset="0"/>
              </a:rPr>
              <a:t> </a:t>
            </a:r>
            <a:r>
              <a:rPr lang="en-US" altLang="ko-KR" sz="1400" b="1" dirty="0">
                <a:latin typeface="Arial" pitchFamily="34" charset="0"/>
                <a:ea typeface="Arial Unicode MS" pitchFamily="50" charset="-127"/>
                <a:cs typeface="Arial" pitchFamily="34" charset="0"/>
              </a:rPr>
              <a:t>Agents for System Operation (Robotics &amp; V2G)</a:t>
            </a:r>
            <a:endParaRPr lang="en-US" altLang="ko-KR" sz="1400" dirty="0">
              <a:latin typeface="Arial" pitchFamily="34" charset="0"/>
              <a:ea typeface="Arial Unicode MS" pitchFamily="50" charset="-127"/>
              <a:cs typeface="Arial" pitchFamily="34" charset="0"/>
            </a:endParaRPr>
          </a:p>
        </p:txBody>
      </p:sp>
      <p:sp>
        <p:nvSpPr>
          <p:cNvPr id="178" name="TextBox 177">
            <a:extLst>
              <a:ext uri="{FF2B5EF4-FFF2-40B4-BE49-F238E27FC236}">
                <a16:creationId xmlns:a16="http://schemas.microsoft.com/office/drawing/2014/main" id="{D3FD8C36-C268-D947-AE5A-EF45E6C193CF}"/>
              </a:ext>
            </a:extLst>
          </p:cNvPr>
          <p:cNvSpPr txBox="1"/>
          <p:nvPr/>
        </p:nvSpPr>
        <p:spPr>
          <a:xfrm>
            <a:off x="6345936" y="6565392"/>
            <a:ext cx="3429000" cy="22860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Manipulation task executions (Meta-World)</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199" name="TextBox 198">
            <a:extLst>
              <a:ext uri="{FF2B5EF4-FFF2-40B4-BE49-F238E27FC236}">
                <a16:creationId xmlns:a16="http://schemas.microsoft.com/office/drawing/2014/main" id="{6907D9A4-4223-B718-D2F5-44CE38804800}"/>
              </a:ext>
            </a:extLst>
          </p:cNvPr>
          <p:cNvSpPr txBox="1"/>
          <p:nvPr/>
        </p:nvSpPr>
        <p:spPr>
          <a:xfrm>
            <a:off x="138124" y="6551766"/>
            <a:ext cx="6435448" cy="26161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LDuS: language context → LLM-generated loss code → guided trajectory generation</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pic>
        <p:nvPicPr>
          <p:cNvPr id="8" name="그림 7" descr="figure">
            <a:extLst>
              <a:ext uri="{FF2B5EF4-FFF2-40B4-BE49-F238E27FC236}">
                <a16:creationId xmlns:a16="http://schemas.microsoft.com/office/drawing/2014/main" id="{0F8D9572-845D-F5AC-8649-668E054003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5945" y="4506862"/>
            <a:ext cx="4918060" cy="2026616"/>
          </a:xfrm>
          <a:prstGeom prst="rect">
            <a:avLst/>
          </a:prstGeom>
        </p:spPr>
      </p:pic>
      <p:pic>
        <p:nvPicPr>
          <p:cNvPr id="10" name="expert">
            <a:hlinkClick r:id="" action="ppaction://media"/>
            <a:extLst>
              <a:ext uri="{FF2B5EF4-FFF2-40B4-BE49-F238E27FC236}">
                <a16:creationId xmlns:a16="http://schemas.microsoft.com/office/drawing/2014/main" id="{4966335C-3BF5-FAA5-A039-AF82B8C2790C}"/>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7933077" y="5509811"/>
            <a:ext cx="1380672" cy="1037293"/>
          </a:xfrm>
          <a:prstGeom prst="rect">
            <a:avLst/>
          </a:prstGeom>
        </p:spPr>
      </p:pic>
      <p:pic>
        <p:nvPicPr>
          <p:cNvPr id="11" name="window-open-variant-v2_0">
            <a:hlinkClick r:id="" action="ppaction://media"/>
            <a:extLst>
              <a:ext uri="{FF2B5EF4-FFF2-40B4-BE49-F238E27FC236}">
                <a16:creationId xmlns:a16="http://schemas.microsoft.com/office/drawing/2014/main" id="{C9F16B56-C994-0741-A6C3-006D62DAA0EB}"/>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6928954" y="4426148"/>
            <a:ext cx="1380671" cy="1037292"/>
          </a:xfrm>
          <a:prstGeom prst="rect">
            <a:avLst/>
          </a:prstGeom>
        </p:spPr>
      </p:pic>
      <p:sp>
        <p:nvSpPr>
          <p:cNvPr id="3" name="TextBox 2">
            <a:extLst>
              <a:ext uri="{FF2B5EF4-FFF2-40B4-BE49-F238E27FC236}">
                <a16:creationId xmlns:a16="http://schemas.microsoft.com/office/drawing/2014/main" id="{B044F6A2-4FBE-E8F8-4DE4-DB364EDD45DE}"/>
              </a:ext>
            </a:extLst>
          </p:cNvPr>
          <p:cNvSpPr txBox="1"/>
          <p:nvPr/>
        </p:nvSpPr>
        <p:spPr>
          <a:xfrm>
            <a:off x="173754" y="467380"/>
            <a:ext cx="9732246"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[Diffusion, Action Decoder]</a:t>
            </a:r>
            <a:r>
              <a:rPr lang="en-US" altLang="ko-KR" b="1" dirty="0">
                <a:latin typeface="Arial" panose="020B0604020202020204" pitchFamily="34" charset="0"/>
                <a:ea typeface="Arial" panose="020B0604020202020204" pitchFamily="34" charset="0"/>
                <a:cs typeface="Arial" panose="020B0604020202020204" pitchFamily="34" charset="0"/>
              </a:rPr>
              <a:t> </a:t>
            </a:r>
            <a:r>
              <a:rPr lang="en-US" altLang="ko-KR" b="1" dirty="0" err="1">
                <a:latin typeface="Arial" panose="020B0604020202020204" pitchFamily="34" charset="0"/>
                <a:ea typeface="Arial" panose="020B0604020202020204" pitchFamily="34" charset="0"/>
                <a:cs typeface="Arial" panose="020B0604020202020204" pitchFamily="34" charset="0"/>
              </a:rPr>
              <a:t>LDuS</a:t>
            </a:r>
            <a:r>
              <a:rPr lang="en-US" altLang="ko-KR" b="1" dirty="0">
                <a:latin typeface="Arial" panose="020B0604020202020204" pitchFamily="34" charset="0"/>
                <a:ea typeface="Arial" panose="020B0604020202020204" pitchFamily="34" charset="0"/>
                <a:cs typeface="Arial" panose="020B0604020202020204" pitchFamily="34" charset="0"/>
              </a:rPr>
              <a:t> — LLM-Guided Skill Diffusion for Policy Adaptation</a:t>
            </a:r>
            <a:endParaRPr lang="en-US" altLang="ko-KR" dirty="0">
              <a:latin typeface="Arial" pitchFamily="34" charset="0"/>
              <a:ea typeface="Arial Unicode MS" pitchFamily="50" charset="-127"/>
              <a:cs typeface="Arial" pitchFamily="34" charset="0"/>
            </a:endParaRPr>
          </a:p>
        </p:txBody>
      </p:sp>
      <p:sp>
        <p:nvSpPr>
          <p:cNvPr id="6" name="TextBox 5">
            <a:extLst>
              <a:ext uri="{FF2B5EF4-FFF2-40B4-BE49-F238E27FC236}">
                <a16:creationId xmlns:a16="http://schemas.microsoft.com/office/drawing/2014/main" id="{3BF4EAA4-CBF7-36DD-C06A-7CDF9E874A66}"/>
              </a:ext>
            </a:extLst>
          </p:cNvPr>
          <p:cNvSpPr txBox="1"/>
          <p:nvPr/>
        </p:nvSpPr>
        <p:spPr>
          <a:xfrm>
            <a:off x="173736" y="906098"/>
            <a:ext cx="9603782" cy="3737370"/>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2023–2024 · “LLM-based Skill Diffusion for Zero-shot Policy Adaptation,” NeurIPS 2024 Main Conference Track (second author)</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problem definition, algorithm design, architecture, experiment design; robot-task validation on Meta-World</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Problem</a:t>
            </a:r>
            <a:r>
              <a:rPr lang="en-US" altLang="ko-KR" sz="1100" dirty="0">
                <a:latin typeface="Arial" panose="020B0604020202020204" pitchFamily="34" charset="0"/>
                <a:ea typeface="Arial" panose="020B0604020202020204" pitchFamily="34" charset="0"/>
                <a:cs typeface="Arial" panose="020B0604020202020204" pitchFamily="34" charset="0"/>
              </a:rPr>
              <a:t> — A skill-based policy learned from expert data </a:t>
            </a:r>
            <a:r>
              <a:rPr lang="en-US" altLang="ko-KR" sz="1100" u="sng" dirty="0">
                <a:latin typeface="Arial" panose="020B0604020202020204" pitchFamily="34" charset="0"/>
                <a:ea typeface="Arial" panose="020B0604020202020204" pitchFamily="34" charset="0"/>
                <a:cs typeface="Arial" panose="020B0604020202020204" pitchFamily="34" charset="0"/>
              </a:rPr>
              <a:t>cannot adapt to a language-specified context unseen in training, and retraining for each context is expensive</a:t>
            </a:r>
            <a:r>
              <a:rPr lang="en-US" altLang="ko-KR" sz="1100" dirty="0">
                <a:latin typeface="Arial" panose="020B0604020202020204" pitchFamily="34" charset="0"/>
                <a:ea typeface="Arial" panose="020B0604020202020204" pitchFamily="34" charset="0"/>
                <a:cs typeface="Arial" panose="020B0604020202020204" pitchFamily="34" charset="0"/>
              </a:rPr>
              <a:t> (left figure, Cases 2–3). </a:t>
            </a:r>
            <a:r>
              <a:rPr lang="en-US" altLang="ko-KR" sz="1100" u="sng" dirty="0">
                <a:latin typeface="Arial" panose="020B0604020202020204" pitchFamily="34" charset="0"/>
                <a:ea typeface="Arial" panose="020B0604020202020204" pitchFamily="34" charset="0"/>
                <a:cs typeface="Arial" panose="020B0604020202020204" pitchFamily="34" charset="0"/>
              </a:rPr>
              <a:t>Such a context is a changed environmental condition or a user requirement such as a target speed, low power usage, or a spatial constraint</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Pretraining (skill learning)</a:t>
            </a:r>
            <a:r>
              <a:rPr lang="en-US" altLang="ko-KR" sz="1100" dirty="0">
                <a:latin typeface="Arial" panose="020B0604020202020204" pitchFamily="34" charset="0"/>
                <a:ea typeface="Arial" panose="020B0604020202020204" pitchFamily="34" charset="0"/>
                <a:cs typeface="Arial" panose="020B0604020202020204" pitchFamily="34" charset="0"/>
              </a:rPr>
              <a:t> — On goal-annotated expert trajectories without context, a hierarchical skill model is trained: a VAE skill encoder maps an h-step state–action segment to a skill embedding, a skill prior predicts it from the state and the language goal encoded by CLIP (contrastive language–image pretraining), and a skill diffusion planner, a U-Net denoiser as in Diffuser, reconstructs the segment from the embedding. Sequential in-painting fixes the past states and actions into the generated trajectory, so the planner completes the rest at test time</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Adaptation (zero-shot, no policy update)</a:t>
            </a:r>
            <a:r>
              <a:rPr lang="en-US" altLang="ko-KR" sz="1100" dirty="0">
                <a:latin typeface="Arial" panose="020B0604020202020204" pitchFamily="34" charset="0"/>
                <a:ea typeface="Arial" panose="020B0604020202020204" pitchFamily="34" charset="0"/>
                <a:cs typeface="Arial" panose="020B0604020202020204" pitchFamily="34" charset="0"/>
              </a:rPr>
              <a:t> — </a:t>
            </a:r>
            <a:r>
              <a:rPr lang="en-US" altLang="ko-KR" sz="1100" u="sng" dirty="0">
                <a:latin typeface="Arial" panose="020B0604020202020204" pitchFamily="34" charset="0"/>
                <a:ea typeface="Arial" panose="020B0604020202020204" pitchFamily="34" charset="0"/>
                <a:cs typeface="Arial" panose="020B0604020202020204" pitchFamily="34" charset="0"/>
              </a:rPr>
              <a:t>In the manner of Code-as-Policies (the LLM writes executable code instead of acting directly), but for a loss function rather than the policy, GPT-3.5 turns the context into loss code, and the gradient of that loss guides every denoising step of the pretrained planner</a:t>
            </a:r>
            <a:r>
              <a:rPr lang="en-US" altLang="ko-KR" sz="1100" dirty="0">
                <a:latin typeface="Arial" panose="020B0604020202020204" pitchFamily="34" charset="0"/>
                <a:ea typeface="Arial" panose="020B0604020202020204" pitchFamily="34" charset="0"/>
                <a:cs typeface="Arial" panose="020B0604020202020204" pitchFamily="34" charset="0"/>
              </a:rPr>
              <a:t>. GPT-4 judges contact from the camera frame to gate constraints that apply only while touching the object. A closed loop validates the code and the guided trajectory, regenerating faulty code and raising the guidance frequency until the context is satisfied</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Result</a:t>
            </a:r>
            <a:r>
              <a:rPr lang="en-US" altLang="ko-KR" sz="1100" dirty="0">
                <a:latin typeface="Arial" panose="020B0604020202020204" pitchFamily="34" charset="0"/>
                <a:ea typeface="Arial" panose="020B0604020202020204" pitchFamily="34" charset="0"/>
                <a:cs typeface="Arial" panose="020B0604020202020204" pitchFamily="34" charset="0"/>
              </a:rPr>
              <a:t> — LDuS adapts zero-shot to user constraints on how a task is done (speed, force, energy use, spatial bounds) never seen in training, with no policy update. Success rate / context reward vs. </a:t>
            </a:r>
            <a:r>
              <a:rPr lang="en-US" altLang="ko-KR" sz="1100" dirty="0" err="1">
                <a:latin typeface="Arial" panose="020B0604020202020204" pitchFamily="34" charset="0"/>
                <a:ea typeface="Arial" panose="020B0604020202020204" pitchFamily="34" charset="0"/>
                <a:cs typeface="Arial" panose="020B0604020202020204" pitchFamily="34" charset="0"/>
              </a:rPr>
              <a:t>Diffuser+Guidance</a:t>
            </a:r>
            <a:r>
              <a:rPr lang="en-US" altLang="ko-KR" sz="1100" dirty="0">
                <a:latin typeface="Arial" panose="020B0604020202020204" pitchFamily="34" charset="0"/>
                <a:ea typeface="Arial" panose="020B0604020202020204" pitchFamily="34" charset="0"/>
                <a:cs typeface="Arial" panose="020B0604020202020204" pitchFamily="34" charset="0"/>
              </a:rPr>
              <a:t> (same gradient guidance, hand-written loss): Meta-World speed constraints (10 goals) 94.6% / 87.4 vs. 76.4% / 69.8; multi-stage Meta-World (3 long-horizon goals) 84.0% / 82.0 vs. 36.7% / 45.9; a force constraint active only while touching the object, contact judged from the camera frame (2 goals, right figure) 93.1% / 63.5 vs. 1.4% / 33.0</a:t>
            </a:r>
          </a:p>
          <a:p>
            <a:pPr marL="285750" indent="-285750" algn="just">
              <a:lnSpc>
                <a:spcPct val="110000"/>
              </a:lnSpc>
              <a:spcBef>
                <a:spcPts val="400"/>
              </a:spcBef>
              <a:buFont typeface="Arial" panose="020B0604020202020204" pitchFamily="34" charset="0"/>
              <a:buChar char="○"/>
            </a:pPr>
            <a:endParaRPr lang="en-US" altLang="ko-KR" sz="1100" dirty="0">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693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634" fill="hold"/>
                                        <p:tgtEl>
                                          <p:spTgt spid="11"/>
                                        </p:tgtEl>
                                      </p:cBhvr>
                                    </p:cmd>
                                  </p:childTnLst>
                                </p:cTn>
                              </p:par>
                              <p:par>
                                <p:cTn id="7" presetID="1" presetClass="mediacall" presetSubtype="0" fill="hold" nodeType="withEffect">
                                  <p:stCondLst>
                                    <p:cond delay="0"/>
                                  </p:stCondLst>
                                  <p:childTnLst>
                                    <p:cmd type="call" cmd="playFrom(0.0)">
                                      <p:cBhvr>
                                        <p:cTn id="8" dur="3173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11"/>
                </p:tgtEl>
              </p:cMediaNode>
            </p:video>
            <p:seq concurrent="1" nextAc="seek">
              <p:cTn id="10" restart="whenNotActive" fill="hold" evtFilter="cancelBubble" nodeType="interactiveSeq">
                <p:stCondLst>
                  <p:cond evt="onClick" delay="0">
                    <p:tgtEl>
                      <p:spTgt spid="11"/>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withEffect">
                                  <p:stCondLst>
                                    <p:cond delay="0"/>
                                  </p:stCondLst>
                                  <p:childTnLst>
                                    <p:cmd type="call" cmd="togglePause">
                                      <p:cBhvr>
                                        <p:cTn id="14" dur="1" fill="hold"/>
                                        <p:tgtEl>
                                          <p:spTgt spid="11"/>
                                        </p:tgtEl>
                                      </p:cBhvr>
                                    </p:cmd>
                                  </p:childTnLst>
                                </p:cTn>
                              </p:par>
                            </p:childTnLst>
                          </p:cTn>
                        </p:par>
                      </p:childTnLst>
                    </p:cTn>
                  </p:par>
                </p:childTnLst>
              </p:cTn>
              <p:nextCondLst>
                <p:cond evt="onClick" delay="0">
                  <p:tgtEl>
                    <p:spTgt spid="11"/>
                  </p:tgtEl>
                </p:cond>
              </p:nextCondLst>
            </p:seq>
            <p:video>
              <p:cMediaNode vol="80000">
                <p:cTn id="15" fill="hold" display="0">
                  <p:stCondLst>
                    <p:cond delay="indefinite"/>
                  </p:stCondLst>
                </p:cTn>
                <p:tgtEl>
                  <p:spTgt spid="10"/>
                </p:tgtEl>
              </p:cMediaNode>
            </p:video>
            <p:seq concurrent="1" nextAc="seek">
              <p:cTn id="16" restart="whenNotActive" fill="hold" evtFilter="cancelBubble" nodeType="interactiveSeq">
                <p:stCondLst>
                  <p:cond evt="onClick" delay="0">
                    <p:tgtEl>
                      <p:spTgt spid="10"/>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withEffect">
                                  <p:stCondLst>
                                    <p:cond delay="0"/>
                                  </p:stCondLst>
                                  <p:childTnLst>
                                    <p:cmd type="call" cmd="togglePause">
                                      <p:cBhvr>
                                        <p:cTn id="20"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CB41E-5474-9A6E-32A0-2DC4E7364FBC}"/>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661649D3-E8A0-19E2-C9D4-0089387E0784}"/>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B227EBC5-73DF-7986-BD80-C0A491567594}"/>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5A64F300-701D-1A67-C351-762A448CA8E5}"/>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12DF1CA8-4BF3-7180-E81D-90EAF309D052}"/>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3F4D7806-96AB-15DC-904E-B4EE61D28C7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5DBEBC16-C709-6788-660C-9833208FAA3A}"/>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F1F2537B-ED49-2D7D-EBFD-11A3B98A8335}"/>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9</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178" name="TextBox 177">
            <a:extLst>
              <a:ext uri="{FF2B5EF4-FFF2-40B4-BE49-F238E27FC236}">
                <a16:creationId xmlns:a16="http://schemas.microsoft.com/office/drawing/2014/main" id="{F2749F74-C695-56D0-76A4-A6306883C03C}"/>
              </a:ext>
            </a:extLst>
          </p:cNvPr>
          <p:cNvSpPr txBox="1"/>
          <p:nvPr/>
        </p:nvSpPr>
        <p:spPr>
          <a:xfrm>
            <a:off x="4992624" y="6583680"/>
            <a:ext cx="4782312" cy="22860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AgentV2G architecture: three role agents on a fixed graph</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199" name="TextBox 198">
            <a:extLst>
              <a:ext uri="{FF2B5EF4-FFF2-40B4-BE49-F238E27FC236}">
                <a16:creationId xmlns:a16="http://schemas.microsoft.com/office/drawing/2014/main" id="{9707E6A9-7304-0A59-240D-1C9A3F9066DD}"/>
              </a:ext>
            </a:extLst>
          </p:cNvPr>
          <p:cNvSpPr txBox="1"/>
          <p:nvPr/>
        </p:nvSpPr>
        <p:spPr>
          <a:xfrm>
            <a:off x="488504" y="6583680"/>
            <a:ext cx="4526280" cy="22860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Task stream and operating-day episode structure</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5" name="TextBox 4">
            <a:extLst>
              <a:ext uri="{FF2B5EF4-FFF2-40B4-BE49-F238E27FC236}">
                <a16:creationId xmlns:a16="http://schemas.microsoft.com/office/drawing/2014/main" id="{FB7E75EE-E5DD-ABB0-89AE-ECC99FC136A6}"/>
              </a:ext>
            </a:extLst>
          </p:cNvPr>
          <p:cNvSpPr txBox="1"/>
          <p:nvPr/>
        </p:nvSpPr>
        <p:spPr>
          <a:xfrm>
            <a:off x="173754" y="531615"/>
            <a:ext cx="8414420"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[RL Solver, LLM]</a:t>
            </a:r>
            <a:r>
              <a:rPr lang="en-US" altLang="ko-KR" b="1" dirty="0">
                <a:latin typeface="Arial" panose="020B0604020202020204" pitchFamily="34" charset="0"/>
                <a:ea typeface="Arial" panose="020B0604020202020204" pitchFamily="34" charset="0"/>
                <a:cs typeface="Arial" panose="020B0604020202020204" pitchFamily="34" charset="0"/>
              </a:rPr>
              <a:t> AgentV2G — Agentic V2G Fleet Scheduling Under Drift</a:t>
            </a:r>
            <a:endParaRPr lang="en-US" altLang="ko-KR" dirty="0">
              <a:latin typeface="Arial" pitchFamily="34" charset="0"/>
              <a:ea typeface="Arial Unicode MS" pitchFamily="50" charset="-127"/>
              <a:cs typeface="Arial" pitchFamily="34" charset="0"/>
            </a:endParaRPr>
          </a:p>
        </p:txBody>
      </p:sp>
      <p:sp>
        <p:nvSpPr>
          <p:cNvPr id="8" name="TextBox 7">
            <a:extLst>
              <a:ext uri="{FF2B5EF4-FFF2-40B4-BE49-F238E27FC236}">
                <a16:creationId xmlns:a16="http://schemas.microsoft.com/office/drawing/2014/main" id="{4E3FB9F1-992E-46D6-5159-A0A6465047E5}"/>
              </a:ext>
            </a:extLst>
          </p:cNvPr>
          <p:cNvSpPr txBox="1"/>
          <p:nvPr/>
        </p:nvSpPr>
        <p:spPr>
          <a:xfrm>
            <a:off x="173754" y="1020951"/>
            <a:ext cx="9603782" cy="3634778"/>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2026 – present · Hyundai Motor · Kia V2X (vehicle-to-everything) project (Mar. 2026 – Mar. 2027)</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(full cover) problem definition, algorithm design, implementation, experiments; construction of the V2G fleet-operation environment</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Problem</a:t>
            </a:r>
            <a:r>
              <a:rPr lang="en-US" altLang="ko-KR" sz="1100" dirty="0">
                <a:latin typeface="Arial" panose="020B0604020202020204" pitchFamily="34" charset="0"/>
                <a:ea typeface="Arial" panose="020B0604020202020204" pitchFamily="34" charset="0"/>
                <a:cs typeface="Arial" panose="020B0604020202020204" pitchFamily="34" charset="0"/>
              </a:rPr>
              <a:t> — A V2G (vehicle-to-grid) charging-hub operator commits irreversible market bids before prices, cleared fractions, and vehicle behavior are known, all drifting over weeks of operation. </a:t>
            </a:r>
            <a:r>
              <a:rPr lang="en-US" altLang="ko-KR" sz="1100" u="sng" dirty="0">
                <a:latin typeface="Arial" panose="020B0604020202020204" pitchFamily="34" charset="0"/>
                <a:ea typeface="Arial" panose="020B0604020202020204" pitchFamily="34" charset="0"/>
                <a:cs typeface="Arial" panose="020B0604020202020204" pitchFamily="34" charset="0"/>
              </a:rPr>
              <a:t>An agent free to re-plan cannot be trusted to commit, while a fixed pipeline cannot follow the drift</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Method</a:t>
            </a:r>
            <a:r>
              <a:rPr lang="en-US" altLang="ko-KR" sz="1100" dirty="0">
                <a:latin typeface="Arial" panose="020B0604020202020204" pitchFamily="34" charset="0"/>
                <a:ea typeface="Arial" panose="020B0604020202020204" pitchFamily="34" charset="0"/>
                <a:cs typeface="Arial" panose="020B0604020202020204" pitchFamily="34" charset="0"/>
              </a:rPr>
              <a:t> — </a:t>
            </a:r>
            <a:r>
              <a:rPr lang="en-US" altLang="ko-KR" sz="1100" u="sng" dirty="0">
                <a:latin typeface="Arial" panose="020B0604020202020204" pitchFamily="34" charset="0"/>
                <a:ea typeface="Arial" panose="020B0604020202020204" pitchFamily="34" charset="0"/>
                <a:cs typeface="Arial" panose="020B0604020202020204" pitchFamily="34" charset="0"/>
              </a:rPr>
              <a:t>A static orchestration graph with dynamic tool selection</a:t>
            </a:r>
            <a:r>
              <a:rPr lang="en-US" altLang="ko-KR" sz="1100" dirty="0">
                <a:latin typeface="Arial" panose="020B0604020202020204" pitchFamily="34" charset="0"/>
                <a:ea typeface="Arial" panose="020B0604020202020204" pitchFamily="34" charset="0"/>
                <a:cs typeface="Arial" panose="020B0604020202020204" pitchFamily="34" charset="0"/>
              </a:rPr>
              <a:t> (right figure): every operating day follows the same bid → clear → dispatch sequence, so the graph is fixed once, and each agent adapts only by re-selecting among verified tools where drift affects the estimates or rules</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Three role agents</a:t>
            </a:r>
            <a:r>
              <a:rPr lang="en-US" altLang="ko-KR" sz="1100" dirty="0">
                <a:latin typeface="Arial" panose="020B0604020202020204" pitchFamily="34" charset="0"/>
                <a:ea typeface="Arial" panose="020B0604020202020204" pitchFamily="34" charset="0"/>
                <a:cs typeface="Arial" panose="020B0604020202020204" pitchFamily="34" charset="0"/>
              </a:rPr>
              <a:t> — A formulation agent derives the objective and constraints from the market rules and re-derives them when the rules change. A world-model agent maintains a belief state over the unobserved inputs (prices, clearing, sessions) from an operational memory and selects the risk level of its belief corrections. A scheduler agent produces every bid and schedule through an optimization engine (MILP, mixed-integer linear programming)</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The orchestrator re-invokes an agent when a deterministic drift metric flags a change and validates every emitted artifact (formulation, belief, schedule) through membership, bounds, and scale checks and falls back to deterministic defaults when a check fails. The objective is immutable within an episode, so no agent can relax the objective it is evaluated against</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RL solver</a:t>
            </a:r>
            <a:r>
              <a:rPr lang="en-US" altLang="ko-KR" sz="1100" dirty="0">
                <a:latin typeface="Arial" panose="020B0604020202020204" pitchFamily="34" charset="0"/>
                <a:ea typeface="Arial" panose="020B0604020202020204" pitchFamily="34" charset="0"/>
                <a:cs typeface="Arial" panose="020B0604020202020204" pitchFamily="34" charset="0"/>
              </a:rPr>
              <a:t> — A SAC (soft actor–critic) policy over per-vehicle embeddings and their fleet mean, built to replace MILP in real-time dispatch</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Evaluation</a:t>
            </a:r>
            <a:r>
              <a:rPr lang="en-US" altLang="ko-KR" sz="1100" dirty="0">
                <a:latin typeface="Arial" panose="020B0604020202020204" pitchFamily="34" charset="0"/>
                <a:ea typeface="Arial" panose="020B0604020202020204" pitchFamily="34" charset="0"/>
                <a:cs typeface="Arial" panose="020B0604020202020204" pitchFamily="34" charset="0"/>
              </a:rPr>
              <a:t> — Day-ahead and real-time market scenarios on real SMP (system marginal price) and EV (electric vehicle) charging-session data, under Jeju pilot rules with EU and NEM (Australian National Electricity Market) presets; fleets of 1–1,000 EVs; a single open-weight LLM (Llama-3.1-8B-Instruct) without fine-tuning; the RL solver is benchmarked against MILP, rule-based, and oracle dispatch on 200-EV days. Metrics: episode-level operating quality and recovery under price, fleet-behavior, and market-rule drift, individually and combined (left figure)</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Scalability</a:t>
            </a:r>
            <a:r>
              <a:rPr lang="en-US" altLang="ko-KR" sz="1100" dirty="0">
                <a:latin typeface="Arial" panose="020B0604020202020204" pitchFamily="34" charset="0"/>
                <a:ea typeface="Arial" panose="020B0604020202020204" pitchFamily="34" charset="0"/>
                <a:cs typeface="Arial" panose="020B0604020202020204" pitchFamily="34" charset="0"/>
              </a:rPr>
              <a:t> — A 10,000-EV day is scheduled in ≈54 s, within Hyundai Motor's 90 s limit (feedback loop disabled)</a:t>
            </a:r>
          </a:p>
        </p:txBody>
      </p:sp>
      <p:sp>
        <p:nvSpPr>
          <p:cNvPr id="6" name="TextBox 5">
            <a:extLst>
              <a:ext uri="{FF2B5EF4-FFF2-40B4-BE49-F238E27FC236}">
                <a16:creationId xmlns:a16="http://schemas.microsoft.com/office/drawing/2014/main" id="{A5B12F80-3922-7A60-1110-BCC873DB4C63}"/>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② Agentic AI — LLM</a:t>
            </a:r>
            <a:r>
              <a:rPr lang="ko-KR" altLang="en-US" sz="1400" b="1" dirty="0">
                <a:latin typeface="Arial" pitchFamily="34" charset="0"/>
                <a:ea typeface="Arial Unicode MS" pitchFamily="50" charset="-127"/>
                <a:cs typeface="Arial" pitchFamily="34" charset="0"/>
              </a:rPr>
              <a:t> </a:t>
            </a:r>
            <a:r>
              <a:rPr lang="en-US" altLang="ko-KR" sz="1400" b="1" dirty="0">
                <a:latin typeface="Arial" pitchFamily="34" charset="0"/>
                <a:ea typeface="Arial Unicode MS" pitchFamily="50" charset="-127"/>
                <a:cs typeface="Arial" pitchFamily="34" charset="0"/>
              </a:rPr>
              <a:t>Agents for System Operation (Robotics &amp; V2G)</a:t>
            </a:r>
            <a:endParaRPr lang="en-US" altLang="ko-KR" sz="1400" dirty="0">
              <a:latin typeface="Arial" pitchFamily="34" charset="0"/>
              <a:ea typeface="Arial Unicode MS" pitchFamily="50" charset="-127"/>
              <a:cs typeface="Arial" pitchFamily="34" charset="0"/>
            </a:endParaRPr>
          </a:p>
        </p:txBody>
      </p:sp>
      <p:pic>
        <p:nvPicPr>
          <p:cNvPr id="10" name="그림 9">
            <a:extLst>
              <a:ext uri="{FF2B5EF4-FFF2-40B4-BE49-F238E27FC236}">
                <a16:creationId xmlns:a16="http://schemas.microsoft.com/office/drawing/2014/main" id="{B083C5C9-AA21-EDB7-7BC3-6C89E06334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8516" y="4917160"/>
            <a:ext cx="3986784" cy="1682496"/>
          </a:xfrm>
          <a:prstGeom prst="rect">
            <a:avLst/>
          </a:prstGeom>
        </p:spPr>
      </p:pic>
      <p:pic>
        <p:nvPicPr>
          <p:cNvPr id="13" name="그림 12">
            <a:extLst>
              <a:ext uri="{FF2B5EF4-FFF2-40B4-BE49-F238E27FC236}">
                <a16:creationId xmlns:a16="http://schemas.microsoft.com/office/drawing/2014/main" id="{DBBEDD7E-4916-2732-AC05-8894120020BE}"/>
              </a:ext>
            </a:extLst>
          </p:cNvPr>
          <p:cNvPicPr>
            <a:picLocks noChangeAspect="1"/>
          </p:cNvPicPr>
          <p:nvPr/>
        </p:nvPicPr>
        <p:blipFill>
          <a:blip r:embed="rId4" cstate="print">
            <a:extLst>
              <a:ext uri="{28A0092B-C50C-407E-A947-70E740481C1C}">
                <a14:useLocalDpi xmlns:a14="http://schemas.microsoft.com/office/drawing/2010/main" val="0"/>
              </a:ext>
            </a:extLst>
          </a:blip>
          <a:srcRect t="9014"/>
          <a:stretch>
            <a:fillRect/>
          </a:stretch>
        </p:blipFill>
        <p:spPr>
          <a:xfrm>
            <a:off x="770334" y="4953736"/>
            <a:ext cx="3776472" cy="1645920"/>
          </a:xfrm>
          <a:prstGeom prst="rect">
            <a:avLst/>
          </a:prstGeom>
        </p:spPr>
      </p:pic>
    </p:spTree>
    <p:extLst>
      <p:ext uri="{BB962C8B-B14F-4D97-AF65-F5344CB8AC3E}">
        <p14:creationId xmlns:p14="http://schemas.microsoft.com/office/powerpoint/2010/main" val="2163985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FE84-53FE-0C41-1E39-7CFADCB598C2}"/>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6134CFCF-3534-C32C-2957-7331AB60D295}"/>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28EDACC5-3E45-F129-F00D-612C183C863D}"/>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C0E34DB-2F6A-D79E-765B-72078889CB69}"/>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24A24B01-4F1A-EFAC-18A0-800FB7089D90}"/>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5B88DC9C-EE95-F656-67E7-FAA873910558}"/>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5D725B2E-F331-48FD-A7E3-429DDF828C94}"/>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156ED1B7-D921-8221-A5BB-467DA7610014}"/>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10</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39C755BB-78F7-CCDA-94D4-53E9F8FDEB14}"/>
              </a:ext>
            </a:extLst>
          </p:cNvPr>
          <p:cNvSpPr txBox="1"/>
          <p:nvPr/>
        </p:nvSpPr>
        <p:spPr>
          <a:xfrm>
            <a:off x="848545" y="142880"/>
            <a:ext cx="8924544" cy="338554"/>
          </a:xfrm>
          <a:prstGeom prst="rect">
            <a:avLst/>
          </a:prstGeom>
          <a:noFill/>
        </p:spPr>
        <p:txBody>
          <a:bodyPr wrap="square" rtlCol="0">
            <a:spAutoFit/>
          </a:bodyPr>
          <a:lstStyle/>
          <a:p>
            <a:pPr algn="r"/>
            <a:r>
              <a:rPr lang="en-US" altLang="ko-KR" sz="1400" b="1" dirty="0">
                <a:latin typeface="Arial" panose="020B0604020202020204" pitchFamily="34" charset="0"/>
                <a:ea typeface="Arial Unicode MS" pitchFamily="50" charset="-127"/>
                <a:cs typeface="Arial" pitchFamily="34" charset="0"/>
              </a:rPr>
              <a:t>③ Systems Engineering — Federated Learning &amp; Edge Deployment</a:t>
            </a:r>
            <a:endParaRPr lang="en-US" altLang="ko-KR" sz="1400" dirty="0">
              <a:latin typeface="Arial" panose="020B0604020202020204" pitchFamily="34" charset="0"/>
              <a:ea typeface="Arial Unicode MS" pitchFamily="50" charset="-127"/>
              <a:cs typeface="Arial" pitchFamily="34" charset="0"/>
            </a:endParaRPr>
          </a:p>
        </p:txBody>
      </p:sp>
      <p:sp>
        <p:nvSpPr>
          <p:cNvPr id="199" name="TextBox 198">
            <a:extLst>
              <a:ext uri="{FF2B5EF4-FFF2-40B4-BE49-F238E27FC236}">
                <a16:creationId xmlns:a16="http://schemas.microsoft.com/office/drawing/2014/main" id="{B66C161B-B24A-ED6A-3BD0-52190A1E912F}"/>
              </a:ext>
            </a:extLst>
          </p:cNvPr>
          <p:cNvSpPr txBox="1"/>
          <p:nvPr/>
        </p:nvSpPr>
        <p:spPr>
          <a:xfrm>
            <a:off x="560512" y="6479758"/>
            <a:ext cx="3703320" cy="261610"/>
          </a:xfrm>
          <a:prstGeom prst="rect">
            <a:avLst/>
          </a:prstGeom>
          <a:noFill/>
        </p:spPr>
        <p:txBody>
          <a:bodyPr wrap="square" rtlCol="0">
            <a:spAutoFit/>
          </a:bodyPr>
          <a:lstStyle/>
          <a:p>
            <a:pPr lvl="0" algn="ctr">
              <a:defRPr/>
            </a:pPr>
            <a:r>
              <a:rPr lang="en-US" altLang="ko-KR" sz="1100" b="1" dirty="0">
                <a:latin typeface="Arial" panose="020B0604020202020204" pitchFamily="34" charset="0"/>
                <a:ea typeface="Arial" panose="020B0604020202020204" pitchFamily="34" charset="0"/>
                <a:cs typeface="Arial" panose="020B0604020202020204" pitchFamily="34" charset="0"/>
              </a:rPr>
              <a:t>Cooperative Federated Learning with YOLO Models</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5" name="TextBox 4">
            <a:extLst>
              <a:ext uri="{FF2B5EF4-FFF2-40B4-BE49-F238E27FC236}">
                <a16:creationId xmlns:a16="http://schemas.microsoft.com/office/drawing/2014/main" id="{25BA8180-DE6B-E186-96C5-8CF45C6E2E59}"/>
              </a:ext>
            </a:extLst>
          </p:cNvPr>
          <p:cNvSpPr txBox="1"/>
          <p:nvPr/>
        </p:nvSpPr>
        <p:spPr>
          <a:xfrm>
            <a:off x="173754" y="581565"/>
            <a:ext cx="9701766"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[Federated Learning, Knowledge Distillation]</a:t>
            </a:r>
            <a:r>
              <a:rPr lang="en-US" altLang="ko-KR" b="1" dirty="0">
                <a:latin typeface="Arial" panose="020B0604020202020204" pitchFamily="34" charset="0"/>
                <a:ea typeface="Arial" panose="020B0604020202020204" pitchFamily="34" charset="0"/>
                <a:cs typeface="Arial" panose="020B0604020202020204" pitchFamily="34" charset="0"/>
              </a:rPr>
              <a:t> Federated Edge Inference</a:t>
            </a:r>
            <a:endParaRPr lang="en-US" altLang="ko-KR" dirty="0">
              <a:latin typeface="Arial" pitchFamily="34" charset="0"/>
              <a:ea typeface="Arial Unicode MS" pitchFamily="50" charset="-127"/>
              <a:cs typeface="Arial" pitchFamily="34" charset="0"/>
            </a:endParaRPr>
          </a:p>
        </p:txBody>
      </p:sp>
      <p:sp>
        <p:nvSpPr>
          <p:cNvPr id="10" name="TextBox 9">
            <a:extLst>
              <a:ext uri="{FF2B5EF4-FFF2-40B4-BE49-F238E27FC236}">
                <a16:creationId xmlns:a16="http://schemas.microsoft.com/office/drawing/2014/main" id="{1519C87A-DA9E-F726-4529-CE170879C4AA}"/>
              </a:ext>
            </a:extLst>
          </p:cNvPr>
          <p:cNvSpPr txBox="1"/>
          <p:nvPr/>
        </p:nvSpPr>
        <p:spPr>
          <a:xfrm>
            <a:off x="71323" y="1021146"/>
            <a:ext cx="9701766" cy="2870979"/>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Federated inference/learning framework across data-center and edge NPUs (neural processing units) · MSIT / IITP (Institute for Information &amp; Communications Technology Planning &amp; Evaluation), SW Computing Industry R&amp;D (Apr. 2021 – Jun. 2025) · Delivered to Acryl Inc. (the consortium's industry partner) · Code released on GitHub at IITP's request</a:t>
            </a:r>
          </a:p>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problem definition, algorithm design, implementation, experiments, testbed</a:t>
            </a:r>
            <a:endParaRPr lang="en-US" altLang="ko-KR" sz="1100" b="1" dirty="0">
              <a:latin typeface="Arial" panose="020B0604020202020204" pitchFamily="34" charset="0"/>
              <a:ea typeface="Arial" panose="020B0604020202020204" pitchFamily="34" charset="0"/>
              <a:cs typeface="Arial" panose="020B0604020202020204" pitchFamily="34" charset="0"/>
            </a:endParaRPr>
          </a:p>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FL (federated learning) testbed built on the open-source Flower framework</a:t>
            </a:r>
            <a:r>
              <a:rPr lang="en-US" altLang="ko-KR" sz="1100" dirty="0">
                <a:latin typeface="Arial" panose="020B0604020202020204" pitchFamily="34" charset="0"/>
                <a:ea typeface="Arial" panose="020B0604020202020204" pitchFamily="34" charset="0"/>
                <a:cs typeface="Arial" panose="020B0604020202020204" pitchFamily="34" charset="0"/>
              </a:rPr>
              <a:t> (right figure (a)) — The client side was extended with federated RL and per-client non-IID (non-independent, non-identically distributed) data composition; the learning-rate schedule, which Flower adjusts only per epoch, was made adjustable per round and set to cosine annealing; image-transform augmentation was added</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Result</a:t>
            </a:r>
            <a:r>
              <a:rPr lang="en-US" altLang="ko-KR" sz="1100" dirty="0">
                <a:latin typeface="Arial" panose="020B0604020202020204" pitchFamily="34" charset="0"/>
                <a:ea typeface="Arial" panose="020B0604020202020204" pitchFamily="34" charset="0"/>
                <a:cs typeface="Arial" panose="020B0604020202020204" pitchFamily="34" charset="0"/>
              </a:rPr>
              <a:t> — The framework reproduces Google's FedAvg accuracy on CIFAR-10; the schedule and augmentation raise accuracy from 82% to 84%, and auxiliary open data (STL-10) to 86.1%; federated RL was verified on a 2D-navigation task</a:t>
            </a:r>
          </a:p>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Cooperative federated learning with knowledge distillation</a:t>
            </a:r>
            <a:r>
              <a:rPr lang="en-US" altLang="ko-KR" sz="1100" dirty="0">
                <a:latin typeface="Arial" panose="020B0604020202020204" pitchFamily="34" charset="0"/>
                <a:ea typeface="Arial" panose="020B0604020202020204" pitchFamily="34" charset="0"/>
                <a:cs typeface="Arial" panose="020B0604020202020204" pitchFamily="34" charset="0"/>
              </a:rPr>
              <a:t> (left figure) — </a:t>
            </a:r>
            <a:r>
              <a:rPr lang="en-US" altLang="ko-KR" sz="1100" u="sng" dirty="0">
                <a:latin typeface="Arial" panose="020B0604020202020204" pitchFamily="34" charset="0"/>
                <a:ea typeface="Arial" panose="020B0604020202020204" pitchFamily="34" charset="0"/>
                <a:cs typeface="Arial" panose="020B0604020202020204" pitchFamily="34" charset="0"/>
              </a:rPr>
              <a:t>A global YOLOv8n federated from the devices' daytime traffic-sign data generalizes poorly to night, and night data is assumed scarce on the devices. After each FedAvg aggregation, the server distills a cooperative large model (a YOLOv8l pretrained on night traffic-sign data) into the global YOLOv8n through a distillation layer on the backbone's P5-level features with a dimension-matching projection</a:t>
            </a:r>
            <a:r>
              <a:rPr lang="en-US" altLang="ko-KR" sz="1100" dirty="0">
                <a:latin typeface="Arial" panose="020B0604020202020204" pitchFamily="34" charset="0"/>
                <a:ea typeface="Arial" panose="020B0604020202020204" pitchFamily="34" charset="0"/>
                <a:cs typeface="Arial" panose="020B0604020202020204" pitchFamily="34" charset="0"/>
              </a:rPr>
              <a:t> (the distillation layer was developed jointly with Acryl). Night images were synthesized with OpenCV in easy and hard modes from the daytime set that KETI (Korea Electronics Technology Institute) provided</a:t>
            </a:r>
          </a:p>
          <a:p>
            <a:pPr marL="742950" lvl="1"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Result</a:t>
            </a:r>
            <a:r>
              <a:rPr lang="en-US" altLang="ko-KR" sz="1100" dirty="0">
                <a:latin typeface="Arial" panose="020B0604020202020204" pitchFamily="34" charset="0"/>
                <a:ea typeface="Arial" panose="020B0604020202020204" pitchFamily="34" charset="0"/>
                <a:cs typeface="Arial" panose="020B0604020202020204" pitchFamily="34" charset="0"/>
              </a:rPr>
              <a:t> — Night-image accuracy reaches 80.1% (easy) and 36.6% (hard), 20 and 16 points above federated learning alone</a:t>
            </a:r>
          </a:p>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Edge–server collaborative inference pipeline for real-time traffic sign recognition</a:t>
            </a:r>
            <a:r>
              <a:rPr lang="en-US" altLang="ko-KR" sz="1100" dirty="0">
                <a:latin typeface="Arial" panose="020B0604020202020204" pitchFamily="34" charset="0"/>
                <a:ea typeface="Arial" panose="020B0604020202020204" pitchFamily="34" charset="0"/>
                <a:cs typeface="Arial" panose="020B0604020202020204" pitchFamily="34" charset="0"/>
              </a:rPr>
              <a:t> (2025; right figure (b): the partners' in-vehicle field test at Hwaseong, Gyeonggi) — The YOLO models and the inference system were deployed on Acryl's Jonathan server and the KETI NPU server</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The distilled YOLOv8n on the FPGA-based NPU (FPGA: field-programmable gate array) processes routine frames in real time. When a frame's confidence falls below 0.3 (e.g., at night or in rain), the next frame is forwarded to the server's YOLOv8l for federated inference, improving the detection of damaged or occluded signs on difficult frames</a:t>
            </a:r>
          </a:p>
        </p:txBody>
      </p:sp>
      <p:sp>
        <p:nvSpPr>
          <p:cNvPr id="8" name="TextBox 7">
            <a:extLst>
              <a:ext uri="{FF2B5EF4-FFF2-40B4-BE49-F238E27FC236}">
                <a16:creationId xmlns:a16="http://schemas.microsoft.com/office/drawing/2014/main" id="{42B38985-D692-6108-8A4A-907643A6F578}"/>
              </a:ext>
            </a:extLst>
          </p:cNvPr>
          <p:cNvSpPr txBox="1"/>
          <p:nvPr/>
        </p:nvSpPr>
        <p:spPr>
          <a:xfrm>
            <a:off x="4492432" y="6479758"/>
            <a:ext cx="5038366" cy="26161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NPU project: (a) embedded FL testbed · (b) in-vehicle field test</a:t>
            </a:r>
            <a:endParaRPr kumimoji="0" lang="ko-KR" altLang="en-US" sz="14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pic>
        <p:nvPicPr>
          <p:cNvPr id="12" name="그림 11">
            <a:extLst>
              <a:ext uri="{FF2B5EF4-FFF2-40B4-BE49-F238E27FC236}">
                <a16:creationId xmlns:a16="http://schemas.microsoft.com/office/drawing/2014/main" id="{35CF1AE9-1227-A295-C6DA-97050E8583EA}"/>
              </a:ext>
            </a:extLst>
          </p:cNvPr>
          <p:cNvPicPr>
            <a:picLocks noChangeAspect="1"/>
          </p:cNvPicPr>
          <p:nvPr/>
        </p:nvPicPr>
        <p:blipFill>
          <a:blip r:embed="rId3"/>
          <a:srcRect r="44405"/>
          <a:stretch>
            <a:fillRect/>
          </a:stretch>
        </p:blipFill>
        <p:spPr>
          <a:xfrm>
            <a:off x="7491379" y="5013176"/>
            <a:ext cx="2162135" cy="1439150"/>
          </a:xfrm>
          <a:prstGeom prst="rect">
            <a:avLst/>
          </a:prstGeom>
        </p:spPr>
      </p:pic>
      <p:grpSp>
        <p:nvGrpSpPr>
          <p:cNvPr id="32" name="그룹 31">
            <a:extLst>
              <a:ext uri="{FF2B5EF4-FFF2-40B4-BE49-F238E27FC236}">
                <a16:creationId xmlns:a16="http://schemas.microsoft.com/office/drawing/2014/main" id="{BC3694F2-B409-2B1A-B590-BF2BA9F43C2D}"/>
              </a:ext>
            </a:extLst>
          </p:cNvPr>
          <p:cNvGrpSpPr/>
          <p:nvPr/>
        </p:nvGrpSpPr>
        <p:grpSpPr>
          <a:xfrm>
            <a:off x="4376936" y="4869160"/>
            <a:ext cx="2840124" cy="1583166"/>
            <a:chOff x="4975645" y="2405907"/>
            <a:chExt cx="4930355" cy="2009593"/>
          </a:xfrm>
        </p:grpSpPr>
        <p:pic>
          <p:nvPicPr>
            <p:cNvPr id="29" name="Picture 2">
              <a:extLst>
                <a:ext uri="{FF2B5EF4-FFF2-40B4-BE49-F238E27FC236}">
                  <a16:creationId xmlns:a16="http://schemas.microsoft.com/office/drawing/2014/main" id="{DDCA12FD-C3EA-EEEC-4DE0-2F74CA4857F5}"/>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975645" y="2405907"/>
              <a:ext cx="4409463" cy="2009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3" descr="figure">
              <a:extLst>
                <a:ext uri="{FF2B5EF4-FFF2-40B4-BE49-F238E27FC236}">
                  <a16:creationId xmlns:a16="http://schemas.microsoft.com/office/drawing/2014/main" id="{73B0BC66-54EA-BC13-6101-05D58429D1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83342" y="3366518"/>
              <a:ext cx="722658" cy="600779"/>
            </a:xfrm>
            <a:prstGeom prst="rect">
              <a:avLst/>
            </a:prstGeom>
            <a:noFill/>
            <a:extLst>
              <a:ext uri="{909E8E84-426E-40DD-AFC4-6F175D3DCCD1}">
                <a14:hiddenFill xmlns:a14="http://schemas.microsoft.com/office/drawing/2010/main">
                  <a:solidFill>
                    <a:srgbClr val="FFFFFF"/>
                  </a:solidFill>
                </a14:hiddenFill>
              </a:ext>
            </a:extLst>
          </p:spPr>
        </p:pic>
      </p:grpSp>
      <p:pic>
        <p:nvPicPr>
          <p:cNvPr id="292" name="그림 291">
            <a:extLst>
              <a:ext uri="{FF2B5EF4-FFF2-40B4-BE49-F238E27FC236}">
                <a16:creationId xmlns:a16="http://schemas.microsoft.com/office/drawing/2014/main" id="{91CB6BAD-E9F0-4FFD-6E37-5E12BE0AA7B8}"/>
              </a:ext>
            </a:extLst>
          </p:cNvPr>
          <p:cNvPicPr>
            <a:picLocks noChangeAspect="1"/>
          </p:cNvPicPr>
          <p:nvPr/>
        </p:nvPicPr>
        <p:blipFill>
          <a:blip r:embed="rId6"/>
          <a:stretch>
            <a:fillRect/>
          </a:stretch>
        </p:blipFill>
        <p:spPr>
          <a:xfrm>
            <a:off x="655662" y="4869160"/>
            <a:ext cx="3482965" cy="1583166"/>
          </a:xfrm>
          <a:prstGeom prst="rect">
            <a:avLst/>
          </a:prstGeom>
        </p:spPr>
      </p:pic>
    </p:spTree>
    <p:extLst>
      <p:ext uri="{BB962C8B-B14F-4D97-AF65-F5344CB8AC3E}">
        <p14:creationId xmlns:p14="http://schemas.microsoft.com/office/powerpoint/2010/main" val="320468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50495-7B61-7C00-C9D3-2BA2E82B95A7}"/>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A3D37A4B-1D6F-2377-7D50-209D32C34C39}"/>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C885C2B7-58B3-3DF3-842E-2A72BB7B86CE}"/>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72B4A6B1-BBAC-48A8-254A-80D8E21E47F7}"/>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17BEB557-FA4C-03CC-11C1-A344FE8AD3D4}"/>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E7511EE5-2BDA-42BB-67CC-E19CABE19088}"/>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F680F252-EFCA-0BB8-DCEF-F26E98742F6C}"/>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C0E226B0-9103-276C-C0EB-2180D6CAE13C}"/>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11</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DE3A5B2E-6EAB-3E58-CCE0-A215D10D4B06}"/>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③ Systems Engineering — Pretraining Simulators &amp; Surrogates</a:t>
            </a:r>
          </a:p>
        </p:txBody>
      </p:sp>
      <p:sp>
        <p:nvSpPr>
          <p:cNvPr id="178" name="TextBox 177">
            <a:extLst>
              <a:ext uri="{FF2B5EF4-FFF2-40B4-BE49-F238E27FC236}">
                <a16:creationId xmlns:a16="http://schemas.microsoft.com/office/drawing/2014/main" id="{9F264029-DF10-7124-BF57-36EEB963DB03}"/>
              </a:ext>
            </a:extLst>
          </p:cNvPr>
          <p:cNvSpPr txBox="1"/>
          <p:nvPr/>
        </p:nvSpPr>
        <p:spPr>
          <a:xfrm>
            <a:off x="5058544" y="6441233"/>
            <a:ext cx="4464497" cy="261610"/>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b="1" dirty="0">
                <a:latin typeface="Arial" panose="020B0604020202020204" pitchFamily="34" charset="0"/>
                <a:ea typeface="맑은 고딕" panose="020B0503020000020004" pitchFamily="50" charset="-127"/>
                <a:cs typeface="Arial" panose="020B0604020202020204" pitchFamily="34" charset="0"/>
              </a:rPr>
              <a:t>A surrogate model example for NVMe-oF storage</a:t>
            </a:r>
            <a:endParaRPr kumimoji="0" lang="ko-KR" altLang="en-US" sz="11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199" name="TextBox 198">
            <a:extLst>
              <a:ext uri="{FF2B5EF4-FFF2-40B4-BE49-F238E27FC236}">
                <a16:creationId xmlns:a16="http://schemas.microsoft.com/office/drawing/2014/main" id="{F23951A0-67BB-D261-D3A9-A477A273CB7A}"/>
              </a:ext>
            </a:extLst>
          </p:cNvPr>
          <p:cNvSpPr txBox="1"/>
          <p:nvPr/>
        </p:nvSpPr>
        <p:spPr>
          <a:xfrm>
            <a:off x="279597" y="6497028"/>
            <a:ext cx="4464497" cy="261610"/>
          </a:xfrm>
          <a:prstGeom prst="rect">
            <a:avLst/>
          </a:prstGeom>
          <a:noFill/>
        </p:spPr>
        <p:txBody>
          <a:bodyPr wrap="square" rtlCol="0">
            <a:spAutoFit/>
          </a:bodyPr>
          <a:lstStyle/>
          <a:p>
            <a:pPr lvl="0" algn="ctr">
              <a:defRPr/>
            </a:pPr>
            <a:r>
              <a:rPr lang="en-US" altLang="ko-KR" sz="1100" b="1" dirty="0" err="1">
                <a:latin typeface="Arial" panose="020B0604020202020204" pitchFamily="34" charset="0"/>
                <a:cs typeface="Arial" panose="020B0604020202020204" pitchFamily="34" charset="0"/>
              </a:rPr>
              <a:t>NVMe-oF disaggregated storage systems</a:t>
            </a:r>
            <a:endParaRPr kumimoji="0" lang="ko-KR" altLang="en-US" sz="1100" b="1"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pic>
        <p:nvPicPr>
          <p:cNvPr id="6" name="그림 5">
            <a:extLst>
              <a:ext uri="{FF2B5EF4-FFF2-40B4-BE49-F238E27FC236}">
                <a16:creationId xmlns:a16="http://schemas.microsoft.com/office/drawing/2014/main" id="{6E6E4144-5940-4BB5-0E40-21A02BD542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896" y="4112598"/>
            <a:ext cx="4133088" cy="2286000"/>
          </a:xfrm>
          <a:prstGeom prst="rect">
            <a:avLst/>
          </a:prstGeom>
        </p:spPr>
      </p:pic>
      <p:pic>
        <p:nvPicPr>
          <p:cNvPr id="11" name="그림 10">
            <a:extLst>
              <a:ext uri="{FF2B5EF4-FFF2-40B4-BE49-F238E27FC236}">
                <a16:creationId xmlns:a16="http://schemas.microsoft.com/office/drawing/2014/main" id="{A32EEB8F-C5DE-2205-E85D-1E616D42E5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0793" y="4127446"/>
            <a:ext cx="2443174" cy="1814284"/>
          </a:xfrm>
          <a:prstGeom prst="rect">
            <a:avLst/>
          </a:prstGeom>
        </p:spPr>
      </p:pic>
      <p:pic>
        <p:nvPicPr>
          <p:cNvPr id="14" name="그림 13">
            <a:extLst>
              <a:ext uri="{FF2B5EF4-FFF2-40B4-BE49-F238E27FC236}">
                <a16:creationId xmlns:a16="http://schemas.microsoft.com/office/drawing/2014/main" id="{3EDF4A87-61B2-AD52-154E-45AE1F563E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4968" y="4131316"/>
            <a:ext cx="2497777" cy="1837551"/>
          </a:xfrm>
          <a:prstGeom prst="rect">
            <a:avLst/>
          </a:prstGeom>
        </p:spPr>
      </p:pic>
      <p:sp>
        <p:nvSpPr>
          <p:cNvPr id="24" name="TextBox 23">
            <a:extLst>
              <a:ext uri="{FF2B5EF4-FFF2-40B4-BE49-F238E27FC236}">
                <a16:creationId xmlns:a16="http://schemas.microsoft.com/office/drawing/2014/main" id="{404E4C66-FC03-CED4-5D95-99E88A990C51}"/>
              </a:ext>
            </a:extLst>
          </p:cNvPr>
          <p:cNvSpPr txBox="1"/>
          <p:nvPr/>
        </p:nvSpPr>
        <p:spPr>
          <a:xfrm>
            <a:off x="4991387" y="5943200"/>
            <a:ext cx="1869754" cy="430887"/>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Arial" panose="020B0604020202020204" pitchFamily="34" charset="0"/>
                <a:ea typeface="맑은 고딕" panose="020B0503020000020004" pitchFamily="50" charset="-127"/>
                <a:cs typeface="Arial" panose="020B0604020202020204" pitchFamily="34" charset="0"/>
              </a:rPr>
              <a:t>(a) Measured performance pattern</a:t>
            </a:r>
            <a:endParaRPr kumimoji="0" lang="ko-KR" altLang="en-US" sz="11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26" name="TextBox 25">
            <a:extLst>
              <a:ext uri="{FF2B5EF4-FFF2-40B4-BE49-F238E27FC236}">
                <a16:creationId xmlns:a16="http://schemas.microsoft.com/office/drawing/2014/main" id="{ACC6651D-15AB-F902-58ED-BADC59F1296B}"/>
              </a:ext>
            </a:extLst>
          </p:cNvPr>
          <p:cNvSpPr txBox="1"/>
          <p:nvPr/>
        </p:nvSpPr>
        <p:spPr>
          <a:xfrm>
            <a:off x="7418840" y="5931790"/>
            <a:ext cx="2187079" cy="430887"/>
          </a:xfrm>
          <a:prstGeom prst="rect">
            <a:avLst/>
          </a:prstGeom>
          <a:no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Arial" panose="020B0604020202020204" pitchFamily="34" charset="0"/>
                <a:ea typeface="맑은 고딕" panose="020B0503020000020004" pitchFamily="50" charset="-127"/>
                <a:cs typeface="Arial" panose="020B0604020202020204" pitchFamily="34" charset="0"/>
              </a:rPr>
              <a:t>(b) Estimated performance pattern</a:t>
            </a:r>
            <a:endParaRPr kumimoji="0" lang="ko-KR" altLang="en-US" sz="1100" i="0" u="none" strike="noStrike" kern="1200" cap="none" spc="0" normalizeH="0" baseline="0" noProof="0" dirty="0">
              <a:ln>
                <a:noFill/>
              </a:ln>
              <a:effectLst/>
              <a:uLnTx/>
              <a:uFillTx/>
              <a:latin typeface="Arial" panose="020B0604020202020204" pitchFamily="34" charset="0"/>
              <a:ea typeface="맑은 고딕" panose="020B0503020000020004" pitchFamily="50" charset="-127"/>
              <a:cs typeface="Arial" panose="020B0604020202020204" pitchFamily="34" charset="0"/>
            </a:endParaRPr>
          </a:p>
        </p:txBody>
      </p:sp>
      <p:sp>
        <p:nvSpPr>
          <p:cNvPr id="3" name="TextBox 2">
            <a:extLst>
              <a:ext uri="{FF2B5EF4-FFF2-40B4-BE49-F238E27FC236}">
                <a16:creationId xmlns:a16="http://schemas.microsoft.com/office/drawing/2014/main" id="{2C6FBD92-4C46-708C-99D7-0D0CA5E5298B}"/>
              </a:ext>
            </a:extLst>
          </p:cNvPr>
          <p:cNvSpPr txBox="1"/>
          <p:nvPr/>
        </p:nvSpPr>
        <p:spPr>
          <a:xfrm>
            <a:off x="173753" y="575719"/>
            <a:ext cx="9599335"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[Supervised Learning, Regression]</a:t>
            </a:r>
            <a:r>
              <a:rPr lang="en-US" altLang="ko-KR" b="1" dirty="0">
                <a:latin typeface="Arial" panose="020B0604020202020204" pitchFamily="34" charset="0"/>
                <a:ea typeface="Arial" panose="020B0604020202020204" pitchFamily="34" charset="0"/>
                <a:cs typeface="Arial" panose="020B0604020202020204" pitchFamily="34" charset="0"/>
              </a:rPr>
              <a:t> </a:t>
            </a:r>
            <a:r>
              <a:rPr lang="en-US" altLang="ko-KR" b="1" dirty="0" err="1">
                <a:latin typeface="Arial" panose="020B0604020202020204" pitchFamily="34" charset="0"/>
                <a:ea typeface="Arial" panose="020B0604020202020204" pitchFamily="34" charset="0"/>
                <a:cs typeface="Arial" panose="020B0604020202020204" pitchFamily="34" charset="0"/>
              </a:rPr>
              <a:t>NVMe-oF</a:t>
            </a:r>
            <a:r>
              <a:rPr lang="en-US" altLang="ko-KR" b="1" dirty="0">
                <a:latin typeface="Arial" panose="020B0604020202020204" pitchFamily="34" charset="0"/>
                <a:ea typeface="Arial" panose="020B0604020202020204" pitchFamily="34" charset="0"/>
                <a:cs typeface="Arial" panose="020B0604020202020204" pitchFamily="34" charset="0"/>
              </a:rPr>
              <a:t> Storage Simulator with a DNN Surrogate</a:t>
            </a:r>
            <a:endParaRPr lang="en-US" altLang="ko-KR" dirty="0">
              <a:latin typeface="Arial" pitchFamily="34" charset="0"/>
              <a:ea typeface="Arial Unicode MS" pitchFamily="50" charset="-127"/>
              <a:cs typeface="Arial" pitchFamily="34" charset="0"/>
            </a:endParaRPr>
          </a:p>
        </p:txBody>
      </p:sp>
      <p:sp>
        <p:nvSpPr>
          <p:cNvPr id="8" name="TextBox 7">
            <a:extLst>
              <a:ext uri="{FF2B5EF4-FFF2-40B4-BE49-F238E27FC236}">
                <a16:creationId xmlns:a16="http://schemas.microsoft.com/office/drawing/2014/main" id="{59EAC2B1-9C10-773A-F0F7-49A8C7228417}"/>
              </a:ext>
            </a:extLst>
          </p:cNvPr>
          <p:cNvSpPr txBox="1"/>
          <p:nvPr/>
        </p:nvSpPr>
        <p:spPr>
          <a:xfrm>
            <a:off x="173754" y="1097394"/>
            <a:ext cx="9603782" cy="2703025"/>
          </a:xfrm>
          <a:prstGeom prst="rect">
            <a:avLst/>
          </a:prstGeom>
          <a:noFill/>
        </p:spPr>
        <p:txBody>
          <a:bodyPr wrap="square">
            <a:no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2019–2021 · Samsung Electronics project (Aug. 2019 – Jul. 2022) · patents with Samsung: US 12,650,769 B2 (simulation), US 12,210,760 B2 (migration)</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problem definition, algorithm design, experiments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Purpose</a:t>
            </a:r>
            <a:r>
              <a:rPr lang="en-US" altLang="ko-KR" sz="1100" dirty="0">
                <a:latin typeface="Arial" panose="020B0604020202020204" pitchFamily="34" charset="0"/>
                <a:ea typeface="Arial" panose="020B0604020202020204" pitchFamily="34" charset="0"/>
                <a:cs typeface="Arial" panose="020B0604020202020204" pitchFamily="34" charset="0"/>
              </a:rPr>
              <a:t> — To reproduce a disaggregated NVMe-oF (NVMe over Fabrics; here NVMe/TCP) cluster in software (NS-3-based) so that storage-management policies (RL policies included) can be tuned for mixed configurations of heterogeneous devices in a data center</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Surrogate</a:t>
            </a:r>
            <a:r>
              <a:rPr lang="en-US" altLang="ko-KR" sz="1100" dirty="0">
                <a:latin typeface="Arial" panose="020B0604020202020204" pitchFamily="34" charset="0"/>
                <a:ea typeface="Arial" panose="020B0604020202020204" pitchFamily="34" charset="0"/>
                <a:cs typeface="Arial" panose="020B0604020202020204" pitchFamily="34" charset="0"/>
              </a:rPr>
              <a:t> — FIO (flexible I/O tester) measures per-node serviced IOPS (I/O operations per second) and latency against required IOPS. A single DNN (deep neural network) surrogate spanning device specifications </a:t>
            </a:r>
            <a:r>
              <a:rPr lang="en-US" altLang="ko-KR" sz="1100" u="sng" dirty="0">
                <a:latin typeface="Arial" panose="020B0604020202020204" pitchFamily="34" charset="0"/>
                <a:ea typeface="Arial" panose="020B0604020202020204" pitchFamily="34" charset="0"/>
                <a:cs typeface="Arial" panose="020B0604020202020204" pitchFamily="34" charset="0"/>
              </a:rPr>
              <a:t>reproduces both responses</a:t>
            </a:r>
            <a:r>
              <a:rPr lang="en-US" altLang="ko-KR" sz="1100" dirty="0">
                <a:latin typeface="Arial" panose="020B0604020202020204" pitchFamily="34" charset="0"/>
                <a:ea typeface="Arial" panose="020B0604020202020204" pitchFamily="34" charset="0"/>
                <a:cs typeface="Arial" panose="020B0604020202020204" pitchFamily="34" charset="0"/>
              </a:rPr>
              <a:t> (right figure: (a) measured vs. (b) estimated)</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Four configurations were profiled, from an RC500 SSD on 10 GbE to a Samsung PM1725a SSD on a 40 GbE NIC (network interface card). The surrogate takes a 15-bin histogram of the objects' required IOPS (1,000-IOPS bins) and is trained with an L-infinity loss on serviced IOPS and an L1 loss on latency, and its predicted responses are consistent with the FIO measurements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Configurable environment</a:t>
            </a:r>
            <a:r>
              <a:rPr lang="en-US" altLang="ko-KR" sz="1100" dirty="0">
                <a:latin typeface="Arial" panose="020B0604020202020204" pitchFamily="34" charset="0"/>
                <a:ea typeface="Arial" panose="020B0604020202020204" pitchFamily="34" charset="0"/>
                <a:cs typeface="Arial" panose="020B0604020202020204" pitchFamily="34" charset="0"/>
              </a:rPr>
              <a:t> — Devices are organized under a storage platform that aggregates them in a two-level hierarchy, so that the environment is </a:t>
            </a:r>
            <a:r>
              <a:rPr lang="en-US" altLang="ko-KR" sz="1100" u="sng" dirty="0">
                <a:latin typeface="Arial" panose="020B0604020202020204" pitchFamily="34" charset="0"/>
                <a:ea typeface="Arial" panose="020B0604020202020204" pitchFamily="34" charset="0"/>
                <a:cs typeface="Arial" panose="020B0604020202020204" pitchFamily="34" charset="0"/>
              </a:rPr>
              <a:t>reconfigured from a system specification rather than rebuilt</a:t>
            </a:r>
            <a:r>
              <a:rPr lang="en-US" altLang="ko-KR" sz="1100" dirty="0">
                <a:latin typeface="Arial" panose="020B0604020202020204" pitchFamily="34" charset="0"/>
                <a:ea typeface="Arial" panose="020B0604020202020204" pitchFamily="34" charset="0"/>
                <a:cs typeface="Arial" panose="020B0604020202020204" pitchFamily="34" charset="0"/>
              </a:rPr>
              <a:t> (left figure)</a:t>
            </a:r>
          </a:p>
          <a:p>
            <a:pPr marL="742950" lvl="1" indent="-285750" algn="just">
              <a:lnSpc>
                <a:spcPct val="110000"/>
              </a:lnSpc>
              <a:buFont typeface="Arial" panose="020B0604020202020204" pitchFamily="34" charset="0"/>
              <a:buChar char="●"/>
            </a:pPr>
            <a:r>
              <a:rPr lang="en-US" altLang="ko-KR" sz="1100" dirty="0">
                <a:latin typeface="Arial" panose="020B0604020202020204" pitchFamily="34" charset="0"/>
                <a:ea typeface="Arial" panose="020B0604020202020204" pitchFamily="34" charset="0"/>
                <a:cs typeface="Arial" panose="020B0604020202020204" pitchFamily="34" charset="0"/>
              </a:rPr>
              <a:t>A tier-level object-migration policy is evaluated across homogeneous and heterogeneous compositions of the measured devices under FIO-generated workloads (the scope covered by the migration-control patent)</a:t>
            </a:r>
          </a:p>
        </p:txBody>
      </p:sp>
    </p:spTree>
    <p:extLst>
      <p:ext uri="{BB962C8B-B14F-4D97-AF65-F5344CB8AC3E}">
        <p14:creationId xmlns:p14="http://schemas.microsoft.com/office/powerpoint/2010/main" val="1421155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2">
            <a:extLst>
              <a:ext uri="{FF2B5EF4-FFF2-40B4-BE49-F238E27FC236}">
                <a16:creationId xmlns:a16="http://schemas.microsoft.com/office/drawing/2014/main" id="{D33CD2D0-B220-9768-D9DA-34CA25B26010}"/>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42C7A089-86FF-9648-3A6E-943151F17C44}"/>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E38A1ADC-C763-8D7C-B019-78AFDC698D5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BB45B632-6985-18D6-8756-E2231ADF9D8B}"/>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8D248AF6-B74E-E4F4-ADE3-D8D7F86C3F13}"/>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cxnSp>
        <p:nvCxnSpPr>
          <p:cNvPr id="4" name="직선 연결선 3">
            <a:extLst>
              <a:ext uri="{FF2B5EF4-FFF2-40B4-BE49-F238E27FC236}">
                <a16:creationId xmlns:a16="http://schemas.microsoft.com/office/drawing/2014/main" id="{67C72FF8-C84A-9707-021C-DC94582FD4BD}"/>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007FC17-1F18-03B3-7586-6C43D37AB949}"/>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14</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7" name="TextBox 6">
            <a:extLst>
              <a:ext uri="{FF2B5EF4-FFF2-40B4-BE49-F238E27FC236}">
                <a16:creationId xmlns:a16="http://schemas.microsoft.com/office/drawing/2014/main" id="{AEAB198A-6994-2E17-354A-CF61F7D2179F}"/>
              </a:ext>
            </a:extLst>
          </p:cNvPr>
          <p:cNvSpPr txBox="1"/>
          <p:nvPr/>
        </p:nvSpPr>
        <p:spPr>
          <a:xfrm>
            <a:off x="848545" y="142880"/>
            <a:ext cx="8924544" cy="307777"/>
          </a:xfrm>
          <a:prstGeom prst="rect">
            <a:avLst/>
          </a:prstGeom>
          <a:noFill/>
        </p:spPr>
        <p:txBody>
          <a:bodyPr wrap="square" rtlCol="0">
            <a:spAutoFit/>
          </a:bodyPr>
          <a:lstStyle/>
          <a:p>
            <a:pPr algn="r"/>
            <a:r>
              <a:rPr lang="en-US" altLang="ko-KR" sz="1400" b="1" dirty="0">
                <a:latin typeface="Arial" pitchFamily="34" charset="0"/>
                <a:ea typeface="Arial Unicode MS" pitchFamily="50" charset="-127"/>
                <a:cs typeface="Arial" pitchFamily="34" charset="0"/>
              </a:rPr>
              <a:t>Ongoing Research</a:t>
            </a:r>
          </a:p>
        </p:txBody>
      </p:sp>
      <p:sp>
        <p:nvSpPr>
          <p:cNvPr id="5" name="TextBox 4">
            <a:extLst>
              <a:ext uri="{FF2B5EF4-FFF2-40B4-BE49-F238E27FC236}">
                <a16:creationId xmlns:a16="http://schemas.microsoft.com/office/drawing/2014/main" id="{4A60E6F1-D7C2-2868-3B84-5D7A0D899C08}"/>
              </a:ext>
            </a:extLst>
          </p:cNvPr>
          <p:cNvSpPr txBox="1"/>
          <p:nvPr/>
        </p:nvSpPr>
        <p:spPr>
          <a:xfrm>
            <a:off x="0" y="467380"/>
            <a:ext cx="9906000" cy="369332"/>
          </a:xfrm>
          <a:prstGeom prst="rect">
            <a:avLst/>
          </a:prstGeom>
          <a:noFill/>
        </p:spPr>
        <p:txBody>
          <a:bodyPr wrap="square" rtlCol="0">
            <a:spAutoFit/>
          </a:bodyPr>
          <a:lstStyle/>
          <a:p>
            <a:r>
              <a:rPr lang="en-US" altLang="ko-KR" b="1" dirty="0">
                <a:solidFill>
                  <a:srgbClr val="0070C0"/>
                </a:solidFill>
                <a:latin typeface="Arial" panose="020B0604020202020204" pitchFamily="34" charset="0"/>
                <a:ea typeface="Arial" panose="020B0604020202020204" pitchFamily="34" charset="0"/>
                <a:cs typeface="Arial" panose="020B0604020202020204" pitchFamily="34" charset="0"/>
              </a:rPr>
              <a:t>[RFM, VLA] </a:t>
            </a:r>
            <a:r>
              <a:rPr lang="en-US" altLang="ko-KR" b="1" dirty="0">
                <a:latin typeface="Arial" panose="020B0604020202020204" pitchFamily="34" charset="0"/>
                <a:ea typeface="Arial" panose="020B0604020202020204" pitchFamily="34" charset="0"/>
                <a:cs typeface="Arial" panose="020B0604020202020204" pitchFamily="34" charset="0"/>
              </a:rPr>
              <a:t>Off-Board Robot Foundation Models — Serving Control Under Network Delay</a:t>
            </a:r>
          </a:p>
        </p:txBody>
      </p:sp>
      <p:sp>
        <p:nvSpPr>
          <p:cNvPr id="10" name="TextBox 9">
            <a:extLst>
              <a:ext uri="{FF2B5EF4-FFF2-40B4-BE49-F238E27FC236}">
                <a16:creationId xmlns:a16="http://schemas.microsoft.com/office/drawing/2014/main" id="{19D6C12A-DC67-8854-3182-C570D83972F0}"/>
              </a:ext>
            </a:extLst>
          </p:cNvPr>
          <p:cNvSpPr txBox="1"/>
          <p:nvPr/>
        </p:nvSpPr>
        <p:spPr>
          <a:xfrm>
            <a:off x="172654" y="864759"/>
            <a:ext cx="9603782" cy="3634778"/>
          </a:xfrm>
          <a:prstGeom prst="rect">
            <a:avLst/>
          </a:prstGeom>
          <a:noFill/>
        </p:spPr>
        <p:txBody>
          <a:bodyPr wrap="square">
            <a:spAutoFit/>
          </a:bodyPr>
          <a:lstStyle/>
          <a:p>
            <a:pPr marL="285750" indent="-285750" algn="just">
              <a:lnSpc>
                <a:spcPct val="110000"/>
              </a:lnSpc>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Overview</a:t>
            </a:r>
            <a:r>
              <a:rPr lang="en-US" altLang="ko-KR" sz="1100" dirty="0">
                <a:latin typeface="Arial" panose="020B0604020202020204" pitchFamily="34" charset="0"/>
                <a:ea typeface="Arial" panose="020B0604020202020204" pitchFamily="34" charset="0"/>
                <a:cs typeface="Arial" panose="020B0604020202020204" pitchFamily="34" charset="0"/>
              </a:rPr>
              <a:t> — Ongoing research (2026 – present) · follow-on to XferQoE · Collaborative-Intelligence Physical-AI SW-Platform project (MSIT / NIPA, Aug. 2026 – Dec. 2030, researcher)</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Role: Leader</a:t>
            </a:r>
            <a:r>
              <a:rPr lang="en-US" altLang="ko-KR" sz="1100" dirty="0">
                <a:latin typeface="Arial" panose="020B0604020202020204" pitchFamily="34" charset="0"/>
                <a:ea typeface="Arial" panose="020B0604020202020204" pitchFamily="34" charset="0"/>
                <a:cs typeface="Arial" panose="020B0604020202020204" pitchFamily="34" charset="0"/>
              </a:rPr>
              <a:t> — problem definition, experiments (research direction, experiment design, and analysis)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Target system</a:t>
            </a:r>
            <a:r>
              <a:rPr lang="en-US" altLang="ko-KR" sz="1100" dirty="0">
                <a:latin typeface="Arial" panose="020B0604020202020204" pitchFamily="34" charset="0"/>
                <a:ea typeface="Arial" panose="020B0604020202020204" pitchFamily="34" charset="0"/>
                <a:cs typeface="Arial" panose="020B0604020202020204" pitchFamily="34" charset="0"/>
              </a:rPr>
              <a:t> — A robot foundation model (RFM) that a home or service robot cannot run at the control rate on board is served from an edge or cloud server. The observation uplink, the inference budget, and the action downlink then enter the control loop, and an action-chunking policy (π0.5 or SmolVLA, chunk length 50) executes several steps from one observation while the scene changes</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Evidence (measured; rates in table)</a:t>
            </a:r>
            <a:r>
              <a:rPr lang="en-US" altLang="ko-KR" sz="1100" dirty="0">
                <a:latin typeface="Arial" panose="020B0604020202020204" pitchFamily="34" charset="0"/>
                <a:ea typeface="Arial" panose="020B0604020202020204" pitchFamily="34" charset="0"/>
                <a:cs typeface="Arial" panose="020B0604020202020204" pitchFamily="34" charset="0"/>
              </a:rPr>
              <a:t> — Delay costs success or time: on static tabletop tasks, asynchronous execution (switching to the new chunk, no correction) lost success at 500 ms; synchronous execution (waiting for the new chunk) kept success but cut task throughput (successes per minute) by 35%. On a moving-ball task, both lost success and synchronous fell to 1.0% at 500 ms. Variable delay redrawn after the first chunk (uniform 0–500 or 0–1000 ms) kept the ordering of the two modes and did not differ significantly from fixed delay of equal mean</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Prior work</a:t>
            </a:r>
            <a:r>
              <a:rPr lang="en-US" altLang="ko-KR" sz="1100" dirty="0">
                <a:latin typeface="Arial" panose="020B0604020202020204" pitchFamily="34" charset="0"/>
                <a:ea typeface="Arial" panose="020B0604020202020204" pitchFamily="34" charset="0"/>
                <a:cs typeface="Arial" panose="020B0604020202020204" pitchFamily="34" charset="0"/>
              </a:rPr>
              <a:t> — On the policy side, real-time chunking (RTC, NeurIPS 2025), REMAC (ICLR 2026), and Legato (RSS 2026) correct asynchronous chunk execution for inference delay; on the network side, ComVLA (GLOBECOM 2026) fits the visual-token budget of a VLA (vision-language-action model) to the channel capacity and treats transmission delay as negligible. The runs above use neither correction nor token control</a:t>
            </a:r>
          </a:p>
          <a:p>
            <a:pPr marL="285750" indent="-285750" algn="just">
              <a:lnSpc>
                <a:spcPct val="110000"/>
              </a:lnSpc>
              <a:spcBef>
                <a:spcPts val="400"/>
              </a:spcBef>
              <a:buFont typeface="Arial" panose="020B0604020202020204" pitchFamily="34" charset="0"/>
              <a:buChar char="○"/>
            </a:pPr>
            <a:r>
              <a:rPr lang="en-US" altLang="ko-KR" sz="1100" b="1" dirty="0">
                <a:latin typeface="Arial" panose="020B0604020202020204" pitchFamily="34" charset="0"/>
                <a:ea typeface="Arial" panose="020B0604020202020204" pitchFamily="34" charset="0"/>
                <a:cs typeface="Arial" panose="020B0604020202020204" pitchFamily="34" charset="0"/>
              </a:rPr>
              <a:t>Proposed work</a:t>
            </a:r>
            <a:r>
              <a:rPr lang="en-US" altLang="ko-KR" sz="1100" dirty="0">
                <a:latin typeface="Arial" panose="020B0604020202020204" pitchFamily="34" charset="0"/>
                <a:ea typeface="Arial" panose="020B0604020202020204" pitchFamily="34" charset="0"/>
                <a:cs typeface="Arial" panose="020B0604020202020204" pitchFamily="34" charset="0"/>
              </a:rPr>
              <a:t> — Extend XferQoE to the RFM serving path: ① pretrain an RL serving controller in S-Sim on QoS components that do not depend on the RFM, transfer it to the real link through the same three network environments as on page 6, and adapt it to the served RFM by refitting only its objective weights to the robot's task outcomes; </a:t>
            </a:r>
            <a:r>
              <a:rPr lang="en-US" altLang="ko-KR" sz="1100" u="sng" dirty="0">
                <a:latin typeface="Arial" panose="020B0604020202020204" pitchFamily="34" charset="0"/>
                <a:ea typeface="Arial" panose="020B0604020202020204" pitchFamily="34" charset="0"/>
                <a:cs typeface="Arial" panose="020B0604020202020204" pitchFamily="34" charset="0"/>
              </a:rPr>
              <a:t>upstream of the remote RFM it reads the link state (bandwidth, jitter, queue) and jointly sets observation size, inference budget, and request interval</a:t>
            </a:r>
            <a:r>
              <a:rPr lang="en-US" altLang="ko-KR" sz="1100" dirty="0">
                <a:latin typeface="Arial" panose="020B0604020202020204" pitchFamily="34" charset="0"/>
                <a:ea typeface="Arial" panose="020B0604020202020204" pitchFamily="34" charset="0"/>
                <a:cs typeface="Arial" panose="020B0604020202020204" pitchFamily="34" charset="0"/>
              </a:rPr>
              <a:t>; ② train a lightweight module on the frozen RFM, supervised or by RL, to report each chunk's valid length (actions still usable under delay) and uncertainty, to be adapted alongside the controller. A possible extension is to fine-tune the RFM itself with policy-gradient RL (e.g., RLOO or GRPO) on task-success rewards gathered under network delay</a:t>
            </a:r>
          </a:p>
        </p:txBody>
      </p:sp>
      <p:sp>
        <p:nvSpPr>
          <p:cNvPr id="22" name="TableCaption"/>
          <p:cNvSpPr txBox="1"/>
          <p:nvPr/>
        </p:nvSpPr>
        <p:spPr>
          <a:xfrm>
            <a:off x="4233672" y="4736592"/>
            <a:ext cx="5367528" cy="152349"/>
          </a:xfrm>
          <a:prstGeom prst="rect">
            <a:avLst/>
          </a:prstGeom>
          <a:noFill/>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Success rate without correction (LIBERO 100 · MIKASA 200 episodes)</a:t>
            </a:r>
          </a:p>
        </p:txBody>
      </p:sp>
      <p:graphicFrame>
        <p:nvGraphicFramePr>
          <p:cNvPr id="23" name="Table 22"/>
          <p:cNvGraphicFramePr>
            <a:graphicFrameLocks noGrp="1"/>
          </p:cNvGraphicFramePr>
          <p:nvPr/>
        </p:nvGraphicFramePr>
        <p:xfrm>
          <a:off x="4233672" y="4928616"/>
          <a:ext cx="5367528" cy="1312418"/>
        </p:xfrm>
        <a:graphic>
          <a:graphicData uri="http://schemas.openxmlformats.org/drawingml/2006/table">
            <a:tbl>
              <a:tblPr>
                <a:tableStyleId>{5C22544A-7EE6-4342-B048-85BDC9FD1C3A}</a:tableStyleId>
              </a:tblPr>
              <a:tblGrid>
                <a:gridCol w="1982459">
                  <a:extLst>
                    <a:ext uri="{9D8B030D-6E8A-4147-A177-3AD203B41FA5}">
                      <a16:colId xmlns:a16="http://schemas.microsoft.com/office/drawing/2014/main" val="20000"/>
                    </a:ext>
                  </a:extLst>
                </a:gridCol>
                <a:gridCol w="691712">
                  <a:extLst>
                    <a:ext uri="{9D8B030D-6E8A-4147-A177-3AD203B41FA5}">
                      <a16:colId xmlns:a16="http://schemas.microsoft.com/office/drawing/2014/main" val="20001"/>
                    </a:ext>
                  </a:extLst>
                </a:gridCol>
                <a:gridCol w="576905">
                  <a:extLst>
                    <a:ext uri="{9D8B030D-6E8A-4147-A177-3AD203B41FA5}">
                      <a16:colId xmlns:a16="http://schemas.microsoft.com/office/drawing/2014/main" val="20002"/>
                    </a:ext>
                  </a:extLst>
                </a:gridCol>
                <a:gridCol w="729341">
                  <a:extLst>
                    <a:ext uri="{9D8B030D-6E8A-4147-A177-3AD203B41FA5}">
                      <a16:colId xmlns:a16="http://schemas.microsoft.com/office/drawing/2014/main" val="20003"/>
                    </a:ext>
                  </a:extLst>
                </a:gridCol>
                <a:gridCol w="576905">
                  <a:extLst>
                    <a:ext uri="{9D8B030D-6E8A-4147-A177-3AD203B41FA5}">
                      <a16:colId xmlns:a16="http://schemas.microsoft.com/office/drawing/2014/main" val="20004"/>
                    </a:ext>
                  </a:extLst>
                </a:gridCol>
                <a:gridCol w="810206">
                  <a:extLst>
                    <a:ext uri="{9D8B030D-6E8A-4147-A177-3AD203B41FA5}">
                      <a16:colId xmlns:a16="http://schemas.microsoft.com/office/drawing/2014/main" val="20005"/>
                    </a:ext>
                  </a:extLst>
                </a:gridCol>
              </a:tblGrid>
              <a:tr h="412242">
                <a:tc>
                  <a:txBody>
                    <a:bodyPr/>
                    <a:lstStyle/>
                    <a:p>
                      <a:pPr algn="ctr"/>
                      <a:r>
                        <a:rPr lang="ko-KR" sz="950" b="1">
                          <a:latin typeface="Arial" panose="020B0604020202020204" pitchFamily="34" charset="0"/>
                          <a:cs typeface="Arial" panose="020B0604020202020204" pitchFamily="34" charset="0"/>
                        </a:rPr>
                        <a:t>Task and execution</a:t>
                      </a:r>
                    </a:p>
                  </a:txBody>
                  <a:tcPr marL="45720" marR="45720" marT="27432" marB="27432">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No delay</a:t>
                      </a:r>
                    </a:p>
                  </a:txBody>
                  <a:tcPr marL="45720" marR="45720" marT="27432" marB="27432">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250 ms</a:t>
                      </a:r>
                    </a:p>
                    <a:p>
                      <a:pPr algn="ctr"/>
                      <a:r>
                        <a:rPr lang="ko-KR" sz="950" b="1">
                          <a:latin typeface="Arial" panose="020B0604020202020204" pitchFamily="34" charset="0"/>
                          <a:cs typeface="Arial" panose="020B0604020202020204" pitchFamily="34" charset="0"/>
                        </a:rPr>
                        <a:t>fixed</a:t>
                      </a:r>
                    </a:p>
                  </a:txBody>
                  <a:tcPr marL="45720" marR="45720" marT="27432" marB="27432">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0–500 ms</a:t>
                      </a:r>
                    </a:p>
                    <a:p>
                      <a:pPr algn="ctr"/>
                      <a:r>
                        <a:rPr lang="ko-KR" sz="950" b="1">
                          <a:latin typeface="Arial" panose="020B0604020202020204" pitchFamily="34" charset="0"/>
                          <a:cs typeface="Arial" panose="020B0604020202020204" pitchFamily="34" charset="0"/>
                        </a:rPr>
                        <a:t>variable</a:t>
                      </a:r>
                    </a:p>
                  </a:txBody>
                  <a:tcPr marL="45720" marR="45720" marT="27432" marB="27432">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500 ms</a:t>
                      </a:r>
                    </a:p>
                    <a:p>
                      <a:pPr algn="ctr"/>
                      <a:r>
                        <a:rPr lang="ko-KR" sz="950" b="1">
                          <a:latin typeface="Arial" panose="020B0604020202020204" pitchFamily="34" charset="0"/>
                          <a:cs typeface="Arial" panose="020B0604020202020204" pitchFamily="34" charset="0"/>
                        </a:rPr>
                        <a:t>fixed</a:t>
                      </a:r>
                    </a:p>
                  </a:txBody>
                  <a:tcPr marL="45720" marR="45720" marT="27432" marB="27432">
                    <a:lnB w="9525" cap="flat" cmpd="sng" algn="ctr">
                      <a:solidFill>
                        <a:srgbClr val="BFBFBF"/>
                      </a:solidFill>
                    </a:lnB>
                    <a:solidFill>
                      <a:srgbClr val="EEF1F6"/>
                    </a:solidFill>
                  </a:tcPr>
                </a:tc>
                <a:tc>
                  <a:txBody>
                    <a:bodyPr/>
                    <a:lstStyle/>
                    <a:p>
                      <a:pPr algn="ctr"/>
                      <a:r>
                        <a:rPr lang="ko-KR" sz="950" b="1">
                          <a:latin typeface="Arial" panose="020B0604020202020204" pitchFamily="34" charset="0"/>
                          <a:cs typeface="Arial" panose="020B0604020202020204" pitchFamily="34" charset="0"/>
                        </a:rPr>
                        <a:t>0–1000 ms</a:t>
                      </a:r>
                    </a:p>
                    <a:p>
                      <a:pPr algn="ctr"/>
                      <a:r>
                        <a:rPr lang="ko-KR" sz="950" b="1">
                          <a:latin typeface="Arial" panose="020B0604020202020204" pitchFamily="34" charset="0"/>
                          <a:cs typeface="Arial" panose="020B0604020202020204" pitchFamily="34" charset="0"/>
                        </a:rPr>
                        <a:t>variable</a:t>
                      </a:r>
                    </a:p>
                  </a:txBody>
                  <a:tcPr marL="45720" marR="45720" marT="27432" marB="27432">
                    <a:lnB w="9525" cap="flat" cmpd="sng" algn="ctr">
                      <a:solidFill>
                        <a:srgbClr val="BFBFBF"/>
                      </a:solidFill>
                    </a:lnB>
                    <a:solidFill>
                      <a:srgbClr val="EEF1F6"/>
                    </a:solidFill>
                  </a:tcPr>
                </a:tc>
                <a:extLst>
                  <a:ext uri="{0D108BD9-81ED-4DB2-BD59-A6C34878D82A}">
                    <a16:rowId xmlns:a16="http://schemas.microsoft.com/office/drawing/2014/main" val="10000"/>
                  </a:ext>
                </a:extLst>
              </a:tr>
              <a:tr h="225044">
                <a:tc>
                  <a:txBody>
                    <a:bodyPr/>
                    <a:lstStyle/>
                    <a:p>
                      <a:pPr algn="ctr"/>
                      <a:r>
                        <a:rPr lang="ko-KR" sz="900">
                          <a:latin typeface="Arial" panose="020B0604020202020204" pitchFamily="34" charset="0"/>
                          <a:cs typeface="Arial" panose="020B0604020202020204" pitchFamily="34" charset="0"/>
                        </a:rPr>
                        <a:t>Static tabletop (LIBERO) · async</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97%</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89%</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88%</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80%*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88%</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1"/>
                  </a:ext>
                </a:extLst>
              </a:tr>
              <a:tr h="225044">
                <a:tc>
                  <a:txBody>
                    <a:bodyPr/>
                    <a:lstStyle/>
                    <a:p>
                      <a:pPr algn="ctr"/>
                      <a:r>
                        <a:rPr lang="ko-KR" sz="900">
                          <a:latin typeface="Arial" panose="020B0604020202020204" pitchFamily="34" charset="0"/>
                          <a:cs typeface="Arial" panose="020B0604020202020204" pitchFamily="34" charset="0"/>
                        </a:rPr>
                        <a:t>Static tabletop (LIBERO) · sync</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97%</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97%</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96%</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93%</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97%</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2"/>
                  </a:ext>
                </a:extLst>
              </a:tr>
              <a:tr h="225044">
                <a:tc>
                  <a:txBody>
                    <a:bodyPr/>
                    <a:lstStyle/>
                    <a:p>
                      <a:pPr algn="ctr"/>
                      <a:r>
                        <a:rPr lang="ko-KR" sz="900">
                          <a:latin typeface="Arial" panose="020B0604020202020204" pitchFamily="34" charset="0"/>
                          <a:cs typeface="Arial" panose="020B0604020202020204" pitchFamily="34" charset="0"/>
                        </a:rPr>
                        <a:t>Moving ball (MIKASA) · async</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55.5%</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41.0%*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45.5%</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32.0%*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38.0%*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3"/>
                  </a:ext>
                </a:extLst>
              </a:tr>
              <a:tr h="225044">
                <a:tc>
                  <a:txBody>
                    <a:bodyPr/>
                    <a:lstStyle/>
                    <a:p>
                      <a:pPr algn="ctr"/>
                      <a:r>
                        <a:rPr lang="ko-KR" sz="900">
                          <a:latin typeface="Arial" panose="020B0604020202020204" pitchFamily="34" charset="0"/>
                          <a:cs typeface="Arial" panose="020B0604020202020204" pitchFamily="34" charset="0"/>
                        </a:rPr>
                        <a:t>Moving ball (MIKASA) · sync</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55.5%</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7.5%*</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10.5%*</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1.0%*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tc>
                  <a:txBody>
                    <a:bodyPr/>
                    <a:lstStyle/>
                    <a:p>
                      <a:pPr algn="l"/>
                      <a:r>
                        <a:rPr lang="ko-KR" sz="900">
                          <a:latin typeface="Arial" panose="020B0604020202020204" pitchFamily="34" charset="0"/>
                          <a:cs typeface="Arial" panose="020B0604020202020204" pitchFamily="34" charset="0"/>
                        </a:rPr>
                        <a:t>3.0%*</a:t>
                      </a:r>
                    </a:p>
                  </a:txBody>
                  <a:tcPr marL="45720" marR="45720" marT="27432" marB="27432">
                    <a:lnT w="9525" cap="flat" cmpd="sng" algn="ctr">
                      <a:solidFill>
                        <a:srgbClr val="BFBFBF"/>
                      </a:solidFill>
                      <a:prstDash val="solid"/>
                      <a:round/>
                      <a:headEnd type="none" w="med" len="med"/>
                      <a:tailEnd type="none" w="med" len="med"/>
                    </a:lnT>
                    <a:lnB w="9525" cap="flat" cmpd="sng" algn="ctr">
                      <a:solidFill>
                        <a:srgbClr val="BFBFBF"/>
                      </a:solidFill>
                    </a:lnB>
                    <a:solidFill>
                      <a:srgbClr val="FFFFFF"/>
                    </a:solidFill>
                  </a:tcPr>
                </a:tc>
                <a:extLst>
                  <a:ext uri="{0D108BD9-81ED-4DB2-BD59-A6C34878D82A}">
                    <a16:rowId xmlns:a16="http://schemas.microsoft.com/office/drawing/2014/main" val="10004"/>
                  </a:ext>
                </a:extLst>
              </a:tr>
            </a:tbl>
          </a:graphicData>
        </a:graphic>
      </p:graphicFrame>
      <p:sp>
        <p:nvSpPr>
          <p:cNvPr id="38" name="TextBox 37">
            <a:extLst>
              <a:ext uri="{FF2B5EF4-FFF2-40B4-BE49-F238E27FC236}">
                <a16:creationId xmlns:a16="http://schemas.microsoft.com/office/drawing/2014/main" id="{11906725-6016-9804-F9D6-E352B4CAE8CD}"/>
              </a:ext>
            </a:extLst>
          </p:cNvPr>
          <p:cNvSpPr txBox="1"/>
          <p:nvPr/>
        </p:nvSpPr>
        <p:spPr>
          <a:xfrm>
            <a:off x="461024" y="6237312"/>
            <a:ext cx="3483864" cy="152349"/>
          </a:xfrm>
          <a:prstGeom prst="rect">
            <a:avLst/>
          </a:prstGeom>
          <a:noFill/>
          <a:ln>
            <a:noFill/>
          </a:ln>
        </p:spPr>
        <p:txBody>
          <a:bodyPr wrap="square" lIns="0" tIns="0" rIns="0" b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100" b="1" i="0" strike="noStrike" kern="1200" cap="none" spc="0" normalizeH="0" baseline="0" noProof="0" dirty="0">
                <a:ln>
                  <a:noFill/>
                </a:ln>
                <a:effectLst/>
                <a:uLnTx/>
                <a:uFillTx/>
                <a:latin typeface="Arial" panose="020B0604020202020204" pitchFamily="34" charset="0"/>
                <a:ea typeface="Arial" panose="020B0604020202020204" pitchFamily="34" charset="0"/>
                <a:cs typeface="Arial" panose="020B0604020202020204" pitchFamily="34" charset="0"/>
              </a:rPr>
              <a:t>Moving ball: 0 ms vs. 0–1000 ms delay, sync</a:t>
            </a:r>
          </a:p>
        </p:txBody>
      </p:sp>
      <p:pic>
        <p:nvPicPr>
          <p:cNvPr id="39" name="mikasa_delay_d0_vs_sync_u0_20.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28784" y="4736592"/>
            <a:ext cx="2687708" cy="1481328"/>
          </a:xfrm>
          <a:prstGeom prst="rect">
            <a:avLst/>
          </a:prstGeom>
        </p:spPr>
      </p:pic>
      <p:sp>
        <p:nvSpPr>
          <p:cNvPr id="41" name="PageFootnote"/>
          <p:cNvSpPr txBox="1"/>
          <p:nvPr/>
        </p:nvSpPr>
        <p:spPr>
          <a:xfrm>
            <a:off x="172654" y="6597352"/>
            <a:ext cx="9603782" cy="136144"/>
          </a:xfrm>
          <a:prstGeom prst="rect">
            <a:avLst/>
          </a:prstGeom>
          <a:noFill/>
        </p:spPr>
        <p:txBody>
          <a:bodyPr wrap="square" lIns="0" tIns="0" rIns="0" bIns="0">
            <a:spAutoFit/>
          </a:bodyPr>
          <a:lstStyle/>
          <a:p>
            <a:pPr algn="l"/>
            <a:r>
              <a:rPr lang="en-US" altLang="en-US" sz="800" dirty="0">
                <a:solidFill>
                  <a:srgbClr val="595959"/>
                </a:solidFill>
                <a:latin typeface="Arial" panose="020B0604020202020204" pitchFamily="34" charset="0"/>
                <a:ea typeface="Arial" panose="020B0604020202020204" pitchFamily="34" charset="0"/>
                <a:cs typeface="Arial" panose="020B0604020202020204" pitchFamily="34" charset="0"/>
              </a:rPr>
              <a:t>* p &lt; 0.01 vs. no delay, paired McNemar test · variable = uniform random delay, redrawn per request · LIBERO: π0.5, replan every 20 steps · MIKASA: fine-tuned SmolVLA, replan every 8 steps</a:t>
            </a:r>
          </a:p>
        </p:txBody>
      </p:sp>
      <p:sp>
        <p:nvSpPr>
          <p:cNvPr id="210" name="VideoLink"/>
          <p:cNvSpPr/>
          <p:nvPr/>
        </p:nvSpPr>
        <p:spPr>
          <a:xfrm>
            <a:off x="739916" y="6411048"/>
            <a:ext cx="2926080" cy="146304"/>
          </a:xfrm>
          <a:prstGeom prst="roundRect">
            <a:avLst/>
          </a:prstGeom>
          <a:solidFill>
            <a:srgbClr val="D9E2F3"/>
          </a:solidFill>
          <a:ln>
            <a:noFill/>
          </a:ln>
        </p:spPr>
        <p:txBody>
          <a:bodyPr wrap="none" lIns="0" tIns="0" rIns="0" bIns="0" rtlCol="0" anchor="ctr"/>
          <a:lstStyle/>
          <a:p>
            <a:pPr algn="ctr"/>
            <a:r>
              <a:rPr lang="en-US" altLang="ko-KR" sz="800" dirty="0">
                <a:hlinkClick r:id="rId5"/>
              </a:rPr>
              <a:t>sonny0714.github.io/</a:t>
            </a:r>
            <a:r>
              <a:rPr lang="en-US" altLang="ko-KR" sz="800" dirty="0" err="1">
                <a:hlinkClick r:id="rId5"/>
              </a:rPr>
              <a:t>demo_video_robot</a:t>
            </a:r>
            <a:r>
              <a:rPr lang="en-US" altLang="ko-KR" sz="800" dirty="0">
                <a:hlinkClick r:id="rId5"/>
              </a:rPr>
              <a:t>/moving-ball-delay.html</a:t>
            </a:r>
            <a:endParaRPr lang="en-US" altLang="ko-KR" sz="800" dirty="0">
              <a:latin typeface="맑은 고딕"/>
              <a:ea typeface="맑은 고딕"/>
              <a:hlinkClick r:id="rId5"/>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667"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9"/>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C2CE-DC7E-7FF3-1EE3-7A6171F5980A}"/>
            </a:ext>
          </a:extLst>
        </p:cNvPr>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A5471B6A-B948-FC11-6F20-D814BC1742BF}"/>
              </a:ext>
            </a:extLst>
          </p:cNvPr>
          <p:cNvCxnSpPr>
            <a:cxnSpLocks/>
          </p:cNvCxnSpPr>
          <p:nvPr/>
        </p:nvCxnSpPr>
        <p:spPr>
          <a:xfrm>
            <a:off x="791507" y="123629"/>
            <a:ext cx="9114493" cy="0"/>
          </a:xfrm>
          <a:prstGeom prst="line">
            <a:avLst/>
          </a:prstGeom>
          <a:ln w="5080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16" name="Group 12">
            <a:extLst>
              <a:ext uri="{FF2B5EF4-FFF2-40B4-BE49-F238E27FC236}">
                <a16:creationId xmlns:a16="http://schemas.microsoft.com/office/drawing/2014/main" id="{6BBBCFC6-38EE-2783-EBFB-53593D66AD4E}"/>
              </a:ext>
            </a:extLst>
          </p:cNvPr>
          <p:cNvGrpSpPr/>
          <p:nvPr/>
        </p:nvGrpSpPr>
        <p:grpSpPr>
          <a:xfrm flipH="1">
            <a:off x="325263" y="78980"/>
            <a:ext cx="523281" cy="185738"/>
            <a:chOff x="2097881" y="6281738"/>
            <a:chExt cx="697704" cy="247649"/>
          </a:xfrm>
        </p:grpSpPr>
        <p:sp>
          <p:nvSpPr>
            <p:cNvPr id="17" name="Oval 4">
              <a:extLst>
                <a:ext uri="{FF2B5EF4-FFF2-40B4-BE49-F238E27FC236}">
                  <a16:creationId xmlns:a16="http://schemas.microsoft.com/office/drawing/2014/main" id="{2ECD611F-C51A-0C5B-DCA9-1A9CDBEC58F6}"/>
                </a:ext>
              </a:extLst>
            </p:cNvPr>
            <p:cNvSpPr/>
            <p:nvPr/>
          </p:nvSpPr>
          <p:spPr>
            <a:xfrm>
              <a:off x="2097881" y="6281738"/>
              <a:ext cx="119062" cy="119062"/>
            </a:xfrm>
            <a:prstGeom prst="ellipse">
              <a:avLst/>
            </a:prstGeom>
            <a:solidFill>
              <a:schemeClr val="accent5"/>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8" name="Oval 5">
              <a:extLst>
                <a:ext uri="{FF2B5EF4-FFF2-40B4-BE49-F238E27FC236}">
                  <a16:creationId xmlns:a16="http://schemas.microsoft.com/office/drawing/2014/main" id="{2753591D-F659-8E9A-D742-71A8434A3AFE}"/>
                </a:ext>
              </a:extLst>
            </p:cNvPr>
            <p:cNvSpPr/>
            <p:nvPr/>
          </p:nvSpPr>
          <p:spPr>
            <a:xfrm>
              <a:off x="2295524" y="6410325"/>
              <a:ext cx="119062" cy="119062"/>
            </a:xfrm>
            <a:prstGeom prst="ellipse">
              <a:avLst/>
            </a:prstGeom>
            <a:solidFill>
              <a:srgbClr val="92D05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19" name="Oval 10">
              <a:extLst>
                <a:ext uri="{FF2B5EF4-FFF2-40B4-BE49-F238E27FC236}">
                  <a16:creationId xmlns:a16="http://schemas.microsoft.com/office/drawing/2014/main" id="{A251ABFC-EFD4-3856-9675-19F61594AB35}"/>
                </a:ext>
              </a:extLst>
            </p:cNvPr>
            <p:cNvSpPr/>
            <p:nvPr/>
          </p:nvSpPr>
          <p:spPr>
            <a:xfrm>
              <a:off x="2478880" y="6281738"/>
              <a:ext cx="119062" cy="119062"/>
            </a:xfrm>
            <a:prstGeom prst="ellipse">
              <a:avLst/>
            </a:prstGeom>
            <a:solidFill>
              <a:srgbClr val="41B176"/>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sp>
          <p:nvSpPr>
            <p:cNvPr id="20" name="Oval 11">
              <a:extLst>
                <a:ext uri="{FF2B5EF4-FFF2-40B4-BE49-F238E27FC236}">
                  <a16:creationId xmlns:a16="http://schemas.microsoft.com/office/drawing/2014/main" id="{550EDC5B-4990-B3E5-8625-E324018DB618}"/>
                </a:ext>
              </a:extLst>
            </p:cNvPr>
            <p:cNvSpPr/>
            <p:nvPr/>
          </p:nvSpPr>
          <p:spPr>
            <a:xfrm>
              <a:off x="2676523" y="6410325"/>
              <a:ext cx="119062" cy="119062"/>
            </a:xfrm>
            <a:prstGeom prst="ellipse">
              <a:avLst/>
            </a:prstGeom>
            <a:solidFill>
              <a:srgbClr val="F7C370"/>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en-US" sz="1350">
                <a:solidFill>
                  <a:sysClr val="window" lastClr="FFFFFF"/>
                </a:solidFill>
                <a:latin typeface="Muli"/>
              </a:endParaRPr>
            </a:p>
          </p:txBody>
        </p:sp>
      </p:grpSp>
      <p:sp>
        <p:nvSpPr>
          <p:cNvPr id="21" name="TextBox 20">
            <a:extLst>
              <a:ext uri="{FF2B5EF4-FFF2-40B4-BE49-F238E27FC236}">
                <a16:creationId xmlns:a16="http://schemas.microsoft.com/office/drawing/2014/main" id="{AC0C523B-FAA3-4931-FAA5-A3684E65916E}"/>
              </a:ext>
            </a:extLst>
          </p:cNvPr>
          <p:cNvSpPr txBox="1"/>
          <p:nvPr/>
        </p:nvSpPr>
        <p:spPr>
          <a:xfrm>
            <a:off x="-9520" y="15922"/>
            <a:ext cx="366548"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fld id="{691AF18D-0852-4468-85C6-A271F63CD70E}" type="slidenum">
              <a:rPr lang="en-US" sz="1050" b="1">
                <a:solidFill>
                  <a:schemeClr val="tx2"/>
                </a:solidFill>
                <a:latin typeface="Montserrat"/>
              </a:rPr>
              <a:pPr algn="ctr">
                <a:defRPr/>
              </a:pPr>
              <a:t>15</a:t>
            </a:fld>
            <a:endParaRPr lang="en-US" sz="1050" b="1" dirty="0">
              <a:solidFill>
                <a:schemeClr val="tx2"/>
              </a:solidFill>
              <a:latin typeface="Montserrat"/>
              <a:ea typeface="Open Sans Light" panose="020B0306030504020204" pitchFamily="34" charset="0"/>
              <a:cs typeface="Open Sans Light" panose="020B0306030504020204" pitchFamily="34" charset="0"/>
            </a:endParaRPr>
          </a:p>
        </p:txBody>
      </p:sp>
      <p:sp>
        <p:nvSpPr>
          <p:cNvPr id="5" name="TextBox 4">
            <a:extLst>
              <a:ext uri="{FF2B5EF4-FFF2-40B4-BE49-F238E27FC236}">
                <a16:creationId xmlns:a16="http://schemas.microsoft.com/office/drawing/2014/main" id="{6E926540-3C05-F7FF-95CC-840359D4579C}"/>
              </a:ext>
            </a:extLst>
          </p:cNvPr>
          <p:cNvSpPr txBox="1"/>
          <p:nvPr/>
        </p:nvSpPr>
        <p:spPr>
          <a:xfrm>
            <a:off x="173736" y="406716"/>
            <a:ext cx="8414420" cy="430887"/>
          </a:xfrm>
          <a:prstGeom prst="rect">
            <a:avLst/>
          </a:prstGeom>
          <a:noFill/>
        </p:spPr>
        <p:txBody>
          <a:bodyPr wrap="square" rtlCol="0">
            <a:spAutoFit/>
          </a:bodyPr>
          <a:lstStyle/>
          <a:p>
            <a:r>
              <a:rPr lang="en-US" altLang="ko-KR" sz="2200" b="1" dirty="0">
                <a:latin typeface="Arial" panose="020B0604020202020204" pitchFamily="34" charset="0"/>
                <a:ea typeface="Arial" panose="020B0604020202020204" pitchFamily="34" charset="0"/>
                <a:cs typeface="Arial" panose="020B0604020202020204" pitchFamily="34" charset="0"/>
              </a:rPr>
              <a:t>Summary and Contact</a:t>
            </a:r>
            <a:endParaRPr lang="en-US" altLang="ko-KR" sz="2200" dirty="0">
              <a:latin typeface="Arial" pitchFamily="34" charset="0"/>
              <a:ea typeface="Arial Unicode MS" pitchFamily="50" charset="-127"/>
              <a:cs typeface="Arial" pitchFamily="34" charset="0"/>
            </a:endParaRPr>
          </a:p>
        </p:txBody>
      </p:sp>
      <p:sp>
        <p:nvSpPr>
          <p:cNvPr id="10" name="TextBox 9">
            <a:extLst>
              <a:ext uri="{FF2B5EF4-FFF2-40B4-BE49-F238E27FC236}">
                <a16:creationId xmlns:a16="http://schemas.microsoft.com/office/drawing/2014/main" id="{FB7447F0-0347-1437-7EEF-24081CCBAFBD}"/>
              </a:ext>
            </a:extLst>
          </p:cNvPr>
          <p:cNvSpPr txBox="1"/>
          <p:nvPr/>
        </p:nvSpPr>
        <p:spPr>
          <a:xfrm>
            <a:off x="173736" y="849135"/>
            <a:ext cx="9603782" cy="1738617"/>
          </a:xfrm>
          <a:prstGeom prst="rect">
            <a:avLst/>
          </a:prstGeom>
          <a:noFill/>
        </p:spPr>
        <p:txBody>
          <a:bodyPr wrap="square">
            <a:spAutoFit/>
          </a:bodyPr>
          <a:lstStyle/>
          <a:p>
            <a:pPr marL="285750" marR="0" lvl="0" indent="-285750" algn="just" defTabSz="914400" rtl="0" eaLnBrk="1" fontAlgn="auto" latinLnBrk="1" hangingPunct="1">
              <a:lnSpc>
                <a:spcPct val="110000"/>
              </a:lnSpc>
              <a:spcBef>
                <a:spcPts val="200"/>
              </a:spcBef>
              <a:spcAft>
                <a:spcPts val="500"/>
              </a:spcAft>
              <a:buClrTx/>
              <a:buSzTx/>
              <a:buFont typeface="Arial" panose="020B0604020202020204" pitchFamily="34" charset="0"/>
              <a:buChar char="○"/>
              <a:tabLst/>
              <a:defRPr/>
            </a:pPr>
            <a:r>
              <a:rPr kumimoji="0" lang="en-US" altLang="ko-KR" sz="1100" b="1"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Contact</a:t>
            </a:r>
            <a:r>
              <a:rPr kumimoji="0" lang="en-US" altLang="ko-KR" sz="11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 — </a:t>
            </a:r>
            <a:r>
              <a:rPr kumimoji="0" lang="en-US" altLang="ko-KR" sz="1100" b="0" i="0" u="none" strike="noStrike" kern="1200" cap="none" spc="0" normalizeH="0" baseline="0" noProof="0" dirty="0" err="1">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Youngseok</a:t>
            </a:r>
            <a:r>
              <a:rPr kumimoji="0" lang="en-US" altLang="ko-KR" sz="11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 Lee · </a:t>
            </a:r>
            <a:r>
              <a:rPr kumimoji="0" lang="en-US" altLang="ko-KR" sz="11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hlinkClick r:id="rId3"/>
              </a:rPr>
              <a:t>yslee.gs@gmail.com</a:t>
            </a:r>
            <a:r>
              <a:rPr kumimoji="0" lang="en-US" altLang="ko-KR" sz="1100" b="0" i="0" u="none" strike="noStrike" kern="1200" cap="none" spc="0" normalizeH="0" baseline="0" noProof="0" dirty="0">
                <a:ln>
                  <a:noFill/>
                </a:ln>
                <a:solidFill>
                  <a:prstClr val="black"/>
                </a:solidFill>
                <a:effectLst/>
                <a:uLnTx/>
                <a:uFillTx/>
                <a:latin typeface="Arial" panose="020B0604020202020204" pitchFamily="34" charset="0"/>
                <a:ea typeface="Arial" panose="020B0604020202020204" pitchFamily="34" charset="0"/>
                <a:cs typeface="Arial" panose="020B0604020202020204" pitchFamily="34" charset="0"/>
              </a:rPr>
              <a:t> · scholar.google.com/citations?user=GhwtxtgAAAAJ</a:t>
            </a:r>
            <a:endParaRPr lang="en-US" altLang="ko-KR" sz="1100" b="1" dirty="0">
              <a:latin typeface="Arial" panose="020B0604020202020204" pitchFamily="34" charset="0"/>
              <a:ea typeface="Arial" panose="020B0604020202020204" pitchFamily="34" charset="0"/>
              <a:cs typeface="Arial" panose="020B0604020202020204" pitchFamily="34" charset="0"/>
            </a:endParaRPr>
          </a:p>
          <a:p>
            <a:pPr marL="228600" indent="-228600" algn="just">
              <a:lnSpc>
                <a:spcPct val="110000"/>
              </a:lnSpc>
              <a:spcBef>
                <a:spcPts val="400"/>
              </a:spcBef>
              <a:buNone/>
              <a:tabLst>
                <a:tab pos="228600" algn="l"/>
              </a:tabLst>
            </a:pPr>
            <a:r>
              <a:rPr lang="en-US" altLang="ko-KR" sz="1100" b="1" dirty="0">
                <a:latin typeface="Arial" panose="020B0604020202020204" pitchFamily="34" charset="0"/>
                <a:ea typeface="Arial Unicode MS" pitchFamily="50" charset="-127"/>
                <a:cs typeface="Arial" panose="020B0604020202020204" pitchFamily="34" charset="0"/>
              </a:rPr>
              <a:t>①	</a:t>
            </a:r>
            <a:r>
              <a:rPr lang="en-US" altLang="ko-KR" sz="1100" b="1" dirty="0">
                <a:latin typeface="Arial" panose="020B0604020202020204" pitchFamily="34" charset="0"/>
                <a:ea typeface="Arial" panose="020B0604020202020204" pitchFamily="34" charset="0"/>
                <a:cs typeface="Arial" panose="020B0604020202020204" pitchFamily="34" charset="0"/>
              </a:rPr>
              <a:t>Reinforcement Learning</a:t>
            </a:r>
            <a:r>
              <a:rPr lang="en-US" altLang="ko-KR" sz="1100" dirty="0">
                <a:latin typeface="Arial" panose="020B0604020202020204" pitchFamily="34" charset="0"/>
                <a:ea typeface="Arial" panose="020B0604020202020204" pitchFamily="34" charset="0"/>
                <a:cs typeface="Arial" panose="020B0604020202020204" pitchFamily="34" charset="0"/>
              </a:rPr>
              <a:t> — RL policies for resource management and cloud robotics: a meta-RL rate controller and a bandwidth-allocation policy that transfer to new objectives and environments with little or no retraining (XferQoE · Repot), and a SAC dispatch policy for V2G fleets (AgentV2G)</a:t>
            </a:r>
          </a:p>
          <a:p>
            <a:pPr marL="228600" indent="-228600" algn="just">
              <a:lnSpc>
                <a:spcPct val="110000"/>
              </a:lnSpc>
              <a:spcBef>
                <a:spcPts val="400"/>
              </a:spcBef>
              <a:buNone/>
              <a:tabLst>
                <a:tab pos="228600" algn="l"/>
              </a:tabLst>
            </a:pPr>
            <a:r>
              <a:rPr lang="en-US" altLang="ko-KR" sz="1100" b="1" dirty="0">
                <a:latin typeface="Arial" panose="020B0604020202020204" pitchFamily="34" charset="0"/>
                <a:ea typeface="Arial Unicode MS" pitchFamily="50" charset="-127"/>
                <a:cs typeface="Arial" panose="020B0604020202020204" pitchFamily="34" charset="0"/>
              </a:rPr>
              <a:t>②	</a:t>
            </a:r>
            <a:r>
              <a:rPr lang="en-US" altLang="ko-KR" sz="1100" b="1" dirty="0">
                <a:latin typeface="Arial" panose="020B0604020202020204" pitchFamily="34" charset="0"/>
                <a:ea typeface="Arial" panose="020B0604020202020204" pitchFamily="34" charset="0"/>
                <a:cs typeface="Arial" panose="020B0604020202020204" pitchFamily="34" charset="0"/>
              </a:rPr>
              <a:t>Agentic AI</a:t>
            </a:r>
            <a:r>
              <a:rPr lang="en-US" altLang="ko-KR" sz="1100" dirty="0">
                <a:latin typeface="Arial" panose="020B0604020202020204" pitchFamily="34" charset="0"/>
                <a:ea typeface="Arial" panose="020B0604020202020204" pitchFamily="34" charset="0"/>
                <a:cs typeface="Arial" panose="020B0604020202020204" pitchFamily="34" charset="0"/>
              </a:rPr>
              <a:t> — AgentV2G uses LLM agents to turn market rules into solver-ready objectives and constraints for V2G operation, with a SAC policy for real-time dispatch; LDuS uses an LLM to turn user requirements into executable loss-function code and validate code and trajectories in a feedback loop for skill adaptation</a:t>
            </a:r>
          </a:p>
          <a:p>
            <a:pPr marL="228600" indent="-228600" algn="just">
              <a:lnSpc>
                <a:spcPct val="110000"/>
              </a:lnSpc>
              <a:spcBef>
                <a:spcPts val="400"/>
              </a:spcBef>
              <a:buNone/>
              <a:tabLst>
                <a:tab pos="228600" algn="l"/>
              </a:tabLst>
            </a:pPr>
            <a:r>
              <a:rPr lang="en-US" altLang="ko-KR" sz="1100" b="1" dirty="0">
                <a:latin typeface="Arial" panose="020B0604020202020204" pitchFamily="34" charset="0"/>
                <a:ea typeface="Arial Unicode MS" pitchFamily="50" charset="-127"/>
                <a:cs typeface="Arial" panose="020B0604020202020204" pitchFamily="34" charset="0"/>
              </a:rPr>
              <a:t>③	</a:t>
            </a:r>
            <a:r>
              <a:rPr lang="en-US" altLang="ko-KR" sz="1100" b="1" dirty="0">
                <a:latin typeface="Arial" panose="020B0604020202020204" pitchFamily="34" charset="0"/>
                <a:ea typeface="Arial" panose="020B0604020202020204" pitchFamily="34" charset="0"/>
                <a:cs typeface="Arial" panose="020B0604020202020204" pitchFamily="34" charset="0"/>
              </a:rPr>
              <a:t>Systems Engineering</a:t>
            </a:r>
            <a:r>
              <a:rPr lang="en-US" altLang="ko-KR" sz="1100" dirty="0">
                <a:latin typeface="Arial" panose="020B0604020202020204" pitchFamily="34" charset="0"/>
                <a:ea typeface="Arial" panose="020B0604020202020204" pitchFamily="34" charset="0"/>
                <a:cs typeface="Arial" panose="020B0604020202020204" pitchFamily="34" charset="0"/>
              </a:rPr>
              <a:t> — Both approaches are implemented and validated on purpose-built simulators, surrogate models, and testbeds; five systems built with the same engineering were delivered to Samsung Electronics ×2, Polaris AI, Acryl, and ADD</a:t>
            </a:r>
          </a:p>
        </p:txBody>
      </p:sp>
      <p:sp>
        <p:nvSpPr>
          <p:cNvPr id="22" name="TableTitle"/>
          <p:cNvSpPr txBox="1"/>
          <p:nvPr/>
        </p:nvSpPr>
        <p:spPr>
          <a:xfrm>
            <a:off x="173736" y="2624328"/>
            <a:ext cx="5486400" cy="320040"/>
          </a:xfrm>
          <a:prstGeom prst="rect">
            <a:avLst/>
          </a:prstGeom>
          <a:noFill/>
        </p:spPr>
        <p:txBody>
          <a:bodyPr wrap="square" lIns="0" tIns="18288" rIns="0" bIns="0" rtlCol="0">
            <a:spAutoFit/>
          </a:bodyPr>
          <a:lstStyle/>
          <a:p>
            <a:pPr algn="l"/>
            <a:r>
              <a:rPr lang="en-US" altLang="ko-KR" sz="1100" b="1" dirty="0">
                <a:latin typeface="Arial" panose="020B0604020202020204" pitchFamily="34" charset="0"/>
                <a:ea typeface="Arial" panose="020B0604020202020204" pitchFamily="34" charset="0"/>
                <a:cs typeface="Arial" panose="020B0604020202020204" pitchFamily="34" charset="0"/>
              </a:rPr>
              <a:t>Selected publications and patents (links)</a:t>
            </a:r>
            <a:endParaRPr lang="en-US" altLang="ko-KR" sz="1100" dirty="0">
              <a:latin typeface="Arial" panose="020B0604020202020204" pitchFamily="34" charset="0"/>
              <a:ea typeface="Arial" panose="020B0604020202020204" pitchFamily="34" charset="0"/>
              <a:cs typeface="Arial" panose="020B0604020202020204" pitchFamily="34" charset="0"/>
            </a:endParaRPr>
          </a:p>
        </p:txBody>
      </p:sp>
      <p:graphicFrame>
        <p:nvGraphicFramePr>
          <p:cNvPr id="23" name="SummaryTable"/>
          <p:cNvGraphicFramePr>
            <a:graphicFrameLocks noGrp="1"/>
          </p:cNvGraphicFramePr>
          <p:nvPr/>
        </p:nvGraphicFramePr>
        <p:xfrm>
          <a:off x="173736" y="2944368"/>
          <a:ext cx="9601200" cy="390888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246888">
                <a:tc>
                  <a:txBody>
                    <a:bodyPr/>
                    <a:lstStyle/>
                    <a:p>
                      <a:pPr algn="l">
                        <a:spcBef>
                          <a:spcPts val="60"/>
                        </a:spcBef>
                        <a:spcAft>
                          <a:spcPts val="60"/>
                        </a:spcAft>
                        <a:buNone/>
                      </a:pPr>
                      <a:r>
                        <a:rPr lang="en-US" altLang="ko-KR" sz="1050" b="1" dirty="0">
                          <a:solidFill>
                            <a:srgbClr val="1F3864"/>
                          </a:solidFill>
                          <a:latin typeface="Arial" panose="020B0604020202020204" pitchFamily="34" charset="0"/>
                          <a:ea typeface="Arial" panose="020B0604020202020204" pitchFamily="34" charset="0"/>
                          <a:cs typeface="Arial" panose="020B0604020202020204" pitchFamily="34" charset="0"/>
                        </a:rPr>
                        <a:t>Type</a:t>
                      </a:r>
                      <a:endParaRPr lang="en-US" altLang="ko-KR" sz="1050" dirty="0">
                        <a:solidFill>
                          <a:srgbClr val="1F3864"/>
                        </a:solidFill>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solidFill>
                      <a:srgbClr val="EEF1F6"/>
                    </a:solidFill>
                  </a:tcPr>
                </a:tc>
                <a:tc>
                  <a:txBody>
                    <a:bodyPr/>
                    <a:lstStyle/>
                    <a:p>
                      <a:pPr algn="l">
                        <a:spcBef>
                          <a:spcPts val="60"/>
                        </a:spcBef>
                        <a:spcAft>
                          <a:spcPts val="60"/>
                        </a:spcAft>
                        <a:buNone/>
                      </a:pPr>
                      <a:r>
                        <a:rPr lang="en-US" altLang="ko-KR" sz="1050" b="1" dirty="0">
                          <a:solidFill>
                            <a:srgbClr val="1F3864"/>
                          </a:solidFill>
                          <a:latin typeface="Arial" panose="020B0604020202020204" pitchFamily="34" charset="0"/>
                          <a:ea typeface="Arial" panose="020B0604020202020204" pitchFamily="34" charset="0"/>
                          <a:cs typeface="Arial" panose="020B0604020202020204" pitchFamily="34" charset="0"/>
                        </a:rPr>
                        <a:t>Title</a:t>
                      </a:r>
                      <a:endParaRPr lang="en-US" altLang="ko-KR" sz="1050" dirty="0">
                        <a:solidFill>
                          <a:srgbClr val="1F3864"/>
                        </a:solidFill>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solidFill>
                      <a:srgbClr val="EEF1F6"/>
                    </a:solidFill>
                  </a:tcPr>
                </a:tc>
                <a:tc>
                  <a:txBody>
                    <a:bodyPr/>
                    <a:lstStyle/>
                    <a:p>
                      <a:pPr algn="l">
                        <a:spcBef>
                          <a:spcPts val="60"/>
                        </a:spcBef>
                        <a:spcAft>
                          <a:spcPts val="60"/>
                        </a:spcAft>
                        <a:buNone/>
                      </a:pPr>
                      <a:r>
                        <a:rPr lang="en-US" altLang="ko-KR" sz="1050" b="1" dirty="0">
                          <a:solidFill>
                            <a:srgbClr val="1F3864"/>
                          </a:solidFill>
                          <a:latin typeface="Arial" panose="020B0604020202020204" pitchFamily="34" charset="0"/>
                          <a:ea typeface="Arial" panose="020B0604020202020204" pitchFamily="34" charset="0"/>
                          <a:cs typeface="Arial" panose="020B0604020202020204" pitchFamily="34" charset="0"/>
                        </a:rPr>
                        <a:t>Venue · Registration</a:t>
                      </a:r>
                      <a:endParaRPr lang="en-US" altLang="ko-KR" sz="1050" dirty="0">
                        <a:solidFill>
                          <a:srgbClr val="1F3864"/>
                        </a:solidFill>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solidFill>
                      <a:srgbClr val="EEF1F6"/>
                    </a:solidFill>
                  </a:tcPr>
                </a:tc>
                <a:tc>
                  <a:txBody>
                    <a:bodyPr/>
                    <a:lstStyle/>
                    <a:p>
                      <a:pPr algn="ctr">
                        <a:spcBef>
                          <a:spcPts val="60"/>
                        </a:spcBef>
                        <a:spcAft>
                          <a:spcPts val="60"/>
                        </a:spcAft>
                        <a:buNone/>
                      </a:pPr>
                      <a:r>
                        <a:rPr lang="en-US" altLang="ko-KR" sz="1050" b="1" dirty="0">
                          <a:solidFill>
                            <a:srgbClr val="1F3864"/>
                          </a:solidFill>
                          <a:latin typeface="Arial" panose="020B0604020202020204" pitchFamily="34" charset="0"/>
                          <a:ea typeface="Arial" panose="020B0604020202020204" pitchFamily="34" charset="0"/>
                          <a:cs typeface="Arial" panose="020B0604020202020204" pitchFamily="34" charset="0"/>
                        </a:rPr>
                        <a:t>Link</a:t>
                      </a:r>
                      <a:endParaRPr lang="en-US" altLang="ko-KR" sz="1050" dirty="0">
                        <a:solidFill>
                          <a:srgbClr val="1F3864"/>
                        </a:solidFill>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solidFill>
                      <a:srgbClr val="EEF1F6"/>
                    </a:solidFill>
                  </a:tcPr>
                </a:tc>
                <a:extLst>
                  <a:ext uri="{0D108BD9-81ED-4DB2-BD59-A6C34878D82A}">
                    <a16:rowId xmlns:a16="http://schemas.microsoft.com/office/drawing/2014/main" val="10000"/>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Paper · top-tier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XferQoE: QoS-to-QoE transfer for adaptive rate control</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IEEE INFOCOM 2027 · first author</a:t>
                      </a:r>
                    </a:p>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under review</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1"/>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Paper · top-tier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LLM-based skill diffusion for zero-shot policy adaptation (LDuS)</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NeurIPS 2024 Main Conference Track · second author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4"/>
                        </a:rPr>
                        <a:t>NeurIPS</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2"/>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Paper · SCIE</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Repot: Transferable reinforcement learning for quality-centric networked monitoring in various environments</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IEEE Access, vol. 9, 2021 · first author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5"/>
                        </a:rPr>
                        <a:t>DOI</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3"/>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Paper · SCIE</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Gemma: Reinforcement learning-based graph embedding and mapping for virtual network applications</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IEEE Access, vol. 9, 2021 · second author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6"/>
                        </a:rPr>
                        <a:t>DOI</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4"/>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Paper · SCIE</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Continual prediction of bug-fix time using deep learning-based activity stream embedding (DASENet)</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IEEE Access, vol. 8, 2020 · first author</a:t>
                      </a:r>
                    </a:p>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33 citations</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7"/>
                        </a:rPr>
                        <a:t>DOI</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5"/>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Patent · first inventor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Graph Embedding-Based Virtual Network Mapping Method</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KR 10-2629731 (2024)</a:t>
                      </a:r>
                    </a:p>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US 12,047,250 B2 (2024)</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8"/>
                        </a:rPr>
                        <a:t>KR</a:t>
                      </a:r>
                      <a:r>
                        <a:rPr lang="en-US" altLang="ko-KR" sz="1050" dirty="0">
                          <a:latin typeface="Arial" panose="020B0604020202020204" pitchFamily="34" charset="0"/>
                          <a:ea typeface="Arial" panose="020B0604020202020204" pitchFamily="34" charset="0"/>
                          <a:cs typeface="Arial" panose="020B0604020202020204" pitchFamily="34" charset="0"/>
                        </a:rPr>
                        <a:t> · </a:t>
                      </a:r>
                      <a:r>
                        <a:rPr lang="en-US" altLang="ko-KR" sz="1050" dirty="0">
                          <a:latin typeface="Arial" panose="020B0604020202020204" pitchFamily="34" charset="0"/>
                          <a:ea typeface="Arial" panose="020B0604020202020204" pitchFamily="34" charset="0"/>
                          <a:cs typeface="Arial" panose="020B0604020202020204" pitchFamily="34" charset="0"/>
                          <a:hlinkClick r:id="rId9"/>
                        </a:rPr>
                        <a:t>US</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6"/>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Patent · first inventor</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Network Monitoring System</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KR 10-2574070 (2023)</a:t>
                      </a:r>
                    </a:p>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US 12,556,492 B2 (2026)</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10"/>
                        </a:rPr>
                        <a:t>KR</a:t>
                      </a:r>
                      <a:r>
                        <a:rPr lang="en-US" altLang="ko-KR" sz="1050" dirty="0">
                          <a:latin typeface="Arial" panose="020B0604020202020204" pitchFamily="34" charset="0"/>
                          <a:ea typeface="Arial" panose="020B0604020202020204" pitchFamily="34" charset="0"/>
                          <a:cs typeface="Arial" panose="020B0604020202020204" pitchFamily="34" charset="0"/>
                        </a:rPr>
                        <a:t> · </a:t>
                      </a:r>
                      <a:r>
                        <a:rPr lang="en-US" altLang="ko-KR" sz="1050" dirty="0">
                          <a:latin typeface="Arial" panose="020B0604020202020204" pitchFamily="34" charset="0"/>
                          <a:ea typeface="Arial" panose="020B0604020202020204" pitchFamily="34" charset="0"/>
                          <a:cs typeface="Arial" panose="020B0604020202020204" pitchFamily="34" charset="0"/>
                          <a:hlinkClick r:id="rId11"/>
                        </a:rPr>
                        <a:t>US</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7"/>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Patent · with Samsung</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Object Storage System, Migration Control Device, and Migration Control Method</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US 12,210,760 B2 (2025)</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12"/>
                        </a:rPr>
                        <a:t>US</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8"/>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Patent · with Samsung</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Simulation Method and Modeling Method</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US 12,650,769 B2 (2026)</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13"/>
                        </a:rPr>
                        <a:t>USPTO</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09"/>
                  </a:ext>
                </a:extLst>
              </a:tr>
              <a:tr h="246888">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Patent · with Samsung</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Electronic Apparatus, System for Internet-of-Things Environment and Control Method Thereof</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l">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rPr>
                        <a:t>US 10,742,742 B2 (2020)</a:t>
                      </a: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tc>
                  <a:txBody>
                    <a:bodyPr/>
                    <a:lstStyle/>
                    <a:p>
                      <a:pPr algn="ctr">
                        <a:spcBef>
                          <a:spcPts val="60"/>
                        </a:spcBef>
                        <a:spcAft>
                          <a:spcPts val="60"/>
                        </a:spcAft>
                        <a:buNone/>
                      </a:pPr>
                      <a:r>
                        <a:rPr lang="en-US" altLang="ko-KR" sz="1050" dirty="0">
                          <a:latin typeface="Arial" panose="020B0604020202020204" pitchFamily="34" charset="0"/>
                          <a:ea typeface="Arial" panose="020B0604020202020204" pitchFamily="34" charset="0"/>
                          <a:cs typeface="Arial" panose="020B0604020202020204" pitchFamily="34" charset="0"/>
                          <a:hlinkClick r:id="rId14"/>
                        </a:rPr>
                        <a:t>US</a:t>
                      </a:r>
                      <a:endParaRPr lang="en-US" altLang="ko-KR" sz="1050" dirty="0">
                        <a:latin typeface="Arial" panose="020B0604020202020204" pitchFamily="34" charset="0"/>
                        <a:ea typeface="Arial" panose="020B0604020202020204" pitchFamily="34" charset="0"/>
                        <a:cs typeface="Arial" panose="020B0604020202020204" pitchFamily="34" charset="0"/>
                      </a:endParaRPr>
                    </a:p>
                  </a:txBody>
                  <a:tcPr marL="50800" marR="50800" marT="18000" marB="18000" anchor="ctr">
                    <a:lnL>
                      <a:noFill/>
                    </a:lnL>
                    <a:lnR>
                      <a:noFill/>
                    </a:lnR>
                    <a:lnT w="12700" cap="flat" cmpd="sng" algn="ctr">
                      <a:solidFill>
                        <a:srgbClr val="BFBFBF"/>
                      </a:solidFill>
                      <a:prstDash val="solid"/>
                    </a:lnT>
                    <a:lnB w="12700" cap="flat" cmpd="sng" algn="ctr">
                      <a:solidFill>
                        <a:srgbClr val="BFBFBF"/>
                      </a:solidFill>
                      <a:prstDash val="soli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48413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11882</TotalTime>
  <Words>6258</Words>
  <Application>Microsoft Office PowerPoint</Application>
  <PresentationFormat>A4 용지(210x297mm)</PresentationFormat>
  <Paragraphs>336</Paragraphs>
  <Slides>13</Slides>
  <Notes>10</Notes>
  <HiddenSlides>0</HiddenSlides>
  <MMClips>5</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13</vt:i4>
      </vt:variant>
    </vt:vector>
  </HeadingPairs>
  <TitlesOfParts>
    <vt:vector size="18" baseType="lpstr">
      <vt:lpstr>Muli</vt:lpstr>
      <vt:lpstr>맑은 고딕</vt:lpstr>
      <vt:lpstr>Arial</vt:lpstr>
      <vt:lpstr>Montserrat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Portfolio: Closed-Loop Control Systems Robust to Objective and Environment Shift</dc:title>
  <dc:creator>Youngseok Lee</dc:creator>
  <cp:lastModifiedBy>Youngseok Lee</cp:lastModifiedBy>
  <cp:revision>795</cp:revision>
  <cp:lastPrinted>2026-09-28T08:20:52Z</cp:lastPrinted>
  <dcterms:created xsi:type="dcterms:W3CDTF">2020-06-29T22:42:46Z</dcterms:created>
  <dcterms:modified xsi:type="dcterms:W3CDTF">2026-10-11T13:38:37Z</dcterms:modified>
</cp:coreProperties>
</file>