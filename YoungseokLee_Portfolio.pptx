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3.avi" ContentType="video/x-msvideo"/>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406" r:id="rId3"/>
    <p:sldId id="404" r:id="rId4"/>
    <p:sldId id="413" r:id="rId6"/>
    <p:sldId id="414" r:id="rId7"/>
    <p:sldId id="417" r:id="rId15"/>
    <p:sldId id="418" r:id="rId23"/>
    <p:sldId id="407" r:id="rId5"/>
    <p:sldId id="416" r:id="rId8"/>
    <p:sldId id="402" r:id="rId9"/>
    <p:sldId id="403" r:id="rId10"/>
    <p:sldId id="409" r:id="rId11"/>
    <p:sldId id="410" r:id="rId12"/>
    <p:sldId id="411" r:id="rId16"/>
  </p:sldIdLst>
  <p:sldSz cx="9906000" cy="6858000" type="A4"/>
  <p:notesSz cx="10234613" cy="7104063"/>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1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F1F6"/>
    <a:srgbClr val="90C221"/>
    <a:srgbClr val="0680C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40" autoAdjust="0"/>
    <p:restoredTop sz="89312" autoAdjust="0"/>
  </p:normalViewPr>
  <p:slideViewPr>
    <p:cSldViewPr>
      <p:cViewPr varScale="1">
        <p:scale>
          <a:sx n="109" d="100"/>
          <a:sy n="109" d="100"/>
        </p:scale>
        <p:origin x="936" y="102"/>
      </p:cViewPr>
      <p:guideLst>
        <p:guide orient="horz" pos="2160"/>
        <p:guide pos="31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8.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9.xml"/><Relationship Id="rId9" Type="http://schemas.openxmlformats.org/officeDocument/2006/relationships/slide" Target="slides/slide10.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5" Type="http://schemas.openxmlformats.org/officeDocument/2006/relationships/slide" Target="slides/slide6.xml"/><Relationship Id="rId16" Type="http://schemas.openxmlformats.org/officeDocument/2006/relationships/slide" Target="slides/slide16.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3"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4434999" cy="355203"/>
          </a:xfrm>
          <a:prstGeom prst="rect">
            <a:avLst/>
          </a:prstGeom>
        </p:spPr>
        <p:txBody>
          <a:bodyPr vert="horz" lIns="99075" tIns="49538" rIns="99075" bIns="49538" rtlCol="0"/>
          <a:lstStyle>
            <a:lvl1pPr algn="l">
              <a:defRPr sz="1300"/>
            </a:lvl1pPr>
          </a:lstStyle>
          <a:p>
            <a:endParaRPr lang="ko-KR" altLang="en-US"/>
          </a:p>
        </p:txBody>
      </p:sp>
      <p:sp>
        <p:nvSpPr>
          <p:cNvPr id="3" name="날짜 개체 틀 2"/>
          <p:cNvSpPr>
            <a:spLocks noGrp="1"/>
          </p:cNvSpPr>
          <p:nvPr>
            <p:ph type="dt" idx="1"/>
          </p:nvPr>
        </p:nvSpPr>
        <p:spPr>
          <a:xfrm>
            <a:off x="5797246" y="0"/>
            <a:ext cx="4434999" cy="355203"/>
          </a:xfrm>
          <a:prstGeom prst="rect">
            <a:avLst/>
          </a:prstGeom>
        </p:spPr>
        <p:txBody>
          <a:bodyPr vert="horz" lIns="99075" tIns="49538" rIns="99075" bIns="49538" rtlCol="0"/>
          <a:lstStyle>
            <a:lvl1pPr algn="r">
              <a:defRPr sz="1300"/>
            </a:lvl1pPr>
          </a:lstStyle>
          <a:p>
            <a:fld id="{29D768EB-444E-4D81-A708-0D21A7707A4B}" type="datetimeFigureOut">
              <a:rPr lang="ko-KR" altLang="en-US" smtClean="0"/>
              <a:t>2026-10-11</a:t>
            </a:fld>
            <a:endParaRPr lang="ko-KR" altLang="en-US"/>
          </a:p>
        </p:txBody>
      </p:sp>
      <p:sp>
        <p:nvSpPr>
          <p:cNvPr id="4" name="슬라이드 이미지 개체 틀 3"/>
          <p:cNvSpPr>
            <a:spLocks noGrp="1" noRot="1" noChangeAspect="1"/>
          </p:cNvSpPr>
          <p:nvPr>
            <p:ph type="sldImg" idx="2"/>
          </p:nvPr>
        </p:nvSpPr>
        <p:spPr>
          <a:xfrm>
            <a:off x="3194050" y="533400"/>
            <a:ext cx="3846513" cy="2663825"/>
          </a:xfrm>
          <a:prstGeom prst="rect">
            <a:avLst/>
          </a:prstGeom>
          <a:noFill/>
          <a:ln w="12700">
            <a:solidFill>
              <a:prstClr val="black"/>
            </a:solidFill>
          </a:ln>
        </p:spPr>
        <p:txBody>
          <a:bodyPr vert="horz" lIns="99075" tIns="49538" rIns="99075" bIns="49538" rtlCol="0" anchor="ctr"/>
          <a:lstStyle/>
          <a:p>
            <a:endParaRPr lang="ko-KR" altLang="en-US"/>
          </a:p>
        </p:txBody>
      </p:sp>
      <p:sp>
        <p:nvSpPr>
          <p:cNvPr id="5" name="슬라이드 노트 개체 틀 4"/>
          <p:cNvSpPr>
            <a:spLocks noGrp="1"/>
          </p:cNvSpPr>
          <p:nvPr>
            <p:ph type="body" sz="quarter" idx="3"/>
          </p:nvPr>
        </p:nvSpPr>
        <p:spPr>
          <a:xfrm>
            <a:off x="1023462" y="3374430"/>
            <a:ext cx="8187690" cy="3196828"/>
          </a:xfrm>
          <a:prstGeom prst="rect">
            <a:avLst/>
          </a:prstGeom>
        </p:spPr>
        <p:txBody>
          <a:bodyPr vert="horz" lIns="99075" tIns="49538" rIns="99075" bIns="49538" rtlCol="0"/>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6747627"/>
            <a:ext cx="4434999" cy="355203"/>
          </a:xfrm>
          <a:prstGeom prst="rect">
            <a:avLst/>
          </a:prstGeom>
        </p:spPr>
        <p:txBody>
          <a:bodyPr vert="horz" lIns="99075" tIns="49538" rIns="99075" bIns="49538" rtlCol="0" anchor="b"/>
          <a:lstStyle>
            <a:lvl1pPr algn="l">
              <a:defRPr sz="1300"/>
            </a:lvl1pPr>
          </a:lstStyle>
          <a:p>
            <a:endParaRPr lang="ko-KR" altLang="en-US"/>
          </a:p>
        </p:txBody>
      </p:sp>
      <p:sp>
        <p:nvSpPr>
          <p:cNvPr id="7" name="슬라이드 번호 개체 틀 6"/>
          <p:cNvSpPr>
            <a:spLocks noGrp="1"/>
          </p:cNvSpPr>
          <p:nvPr>
            <p:ph type="sldNum" sz="quarter" idx="5"/>
          </p:nvPr>
        </p:nvSpPr>
        <p:spPr>
          <a:xfrm>
            <a:off x="5797246" y="6747627"/>
            <a:ext cx="4434999" cy="355203"/>
          </a:xfrm>
          <a:prstGeom prst="rect">
            <a:avLst/>
          </a:prstGeom>
        </p:spPr>
        <p:txBody>
          <a:bodyPr vert="horz" lIns="99075" tIns="49538" rIns="99075" bIns="49538" rtlCol="0" anchor="b"/>
          <a:lstStyle>
            <a:lvl1pPr algn="r">
              <a:defRPr sz="1300"/>
            </a:lvl1pPr>
          </a:lstStyle>
          <a:p>
            <a:fld id="{9D558E6B-DCEC-4D25-8F20-EC2A837435CB}" type="slidenum">
              <a:rPr lang="ko-KR" altLang="en-US" smtClean="0"/>
              <a:t>‹#›</a:t>
            </a:fld>
            <a:endParaRPr lang="ko-KR" altLang="en-US"/>
          </a:p>
        </p:txBody>
      </p:sp>
    </p:spTree>
    <p:extLst>
      <p:ext uri="{BB962C8B-B14F-4D97-AF65-F5344CB8AC3E}">
        <p14:creationId xmlns:p14="http://schemas.microsoft.com/office/powerpoint/2010/main" val="1477188347"/>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9D558E6B-DCEC-4D25-8F20-EC2A837435CB}" type="slidenum">
              <a:rPr lang="ko-KR" altLang="en-US" smtClean="0"/>
              <a:t>1</a:t>
            </a:fld>
            <a:endParaRPr lang="ko-KR" altLang="en-US"/>
          </a:p>
        </p:txBody>
      </p:sp>
    </p:spTree>
    <p:extLst>
      <p:ext uri="{BB962C8B-B14F-4D97-AF65-F5344CB8AC3E}">
        <p14:creationId xmlns:p14="http://schemas.microsoft.com/office/powerpoint/2010/main" val="33484569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2A70E-04FF-2091-2C78-0C9DC9247619}"/>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5D9DE26-8B14-87AC-EE28-2D2D60021782}"/>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B415E1B3-B2F3-3C95-B803-D70786BE73B2}"/>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44E5DCD2-43A7-E5F5-5347-69BEE3F66CE1}"/>
              </a:ext>
            </a:extLst>
          </p:cNvPr>
          <p:cNvSpPr>
            <a:spLocks noGrp="1"/>
          </p:cNvSpPr>
          <p:nvPr>
            <p:ph type="sldNum" sz="quarter" idx="10"/>
          </p:nvPr>
        </p:nvSpPr>
        <p:spPr/>
        <p:txBody>
          <a:bodyPr/>
          <a:lstStyle/>
          <a:p>
            <a:fld id="{9D558E6B-DCEC-4D25-8F20-EC2A837435CB}" type="slidenum">
              <a:rPr lang="ko-KR" altLang="en-US" smtClean="0"/>
              <a:t>2</a:t>
            </a:fld>
            <a:endParaRPr lang="ko-KR" altLang="en-US"/>
          </a:p>
        </p:txBody>
      </p:sp>
    </p:spTree>
    <p:extLst>
      <p:ext uri="{BB962C8B-B14F-4D97-AF65-F5344CB8AC3E}">
        <p14:creationId xmlns:p14="http://schemas.microsoft.com/office/powerpoint/2010/main" val="12925600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39867-5F5A-1898-3782-003CFBCC48DA}"/>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85066C5D-9BEF-80D1-B9C2-C74AAD033E6F}"/>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43F68C8B-3498-AE4D-4DD8-70CE83BC577E}"/>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E55D1D44-1ADB-4429-7E94-0ACC3547CFC7}"/>
              </a:ext>
            </a:extLst>
          </p:cNvPr>
          <p:cNvSpPr>
            <a:spLocks noGrp="1"/>
          </p:cNvSpPr>
          <p:nvPr>
            <p:ph type="sldNum" sz="quarter" idx="10"/>
          </p:nvPr>
        </p:nvSpPr>
        <p:spPr/>
        <p:txBody>
          <a:bodyPr/>
          <a:lstStyle/>
          <a:p>
            <a:fld id="{9D558E6B-DCEC-4D25-8F20-EC2A837435CB}" type="slidenum">
              <a:rPr lang="ko-KR" altLang="en-US" smtClean="0"/>
              <a:t>3</a:t>
            </a:fld>
            <a:endParaRPr lang="ko-KR" altLang="en-US"/>
          </a:p>
        </p:txBody>
      </p:sp>
    </p:spTree>
    <p:extLst>
      <p:ext uri="{BB962C8B-B14F-4D97-AF65-F5344CB8AC3E}">
        <p14:creationId xmlns:p14="http://schemas.microsoft.com/office/powerpoint/2010/main" val="1339237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5B0DB-45E5-628E-6337-9E1BE1AF7FA8}"/>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19E74023-96C8-3DBA-3A9D-19950073AB7A}"/>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3B396F3F-9E8D-B868-47B1-34753A194405}"/>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707342D2-62D9-533E-3084-9564028B2447}"/>
              </a:ext>
            </a:extLst>
          </p:cNvPr>
          <p:cNvSpPr>
            <a:spLocks noGrp="1"/>
          </p:cNvSpPr>
          <p:nvPr>
            <p:ph type="sldNum" sz="quarter" idx="10"/>
          </p:nvPr>
        </p:nvSpPr>
        <p:spPr/>
        <p:txBody>
          <a:bodyPr/>
          <a:lstStyle/>
          <a:p>
            <a:fld id="{9D558E6B-DCEC-4D25-8F20-EC2A837435CB}" type="slidenum">
              <a:rPr lang="ko-KR" altLang="en-US" smtClean="0"/>
              <a:t>4</a:t>
            </a:fld>
            <a:endParaRPr lang="ko-KR" altLang="en-US"/>
          </a:p>
        </p:txBody>
      </p:sp>
    </p:spTree>
    <p:extLst>
      <p:ext uri="{BB962C8B-B14F-4D97-AF65-F5344CB8AC3E}">
        <p14:creationId xmlns:p14="http://schemas.microsoft.com/office/powerpoint/2010/main" val="1363453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9D558E6B-DCEC-4D25-8F20-EC2A837435CB}" type="slidenum">
              <a:rPr lang="ko-KR" altLang="en-US" smtClean="0"/>
              <a:t>7</a:t>
            </a:fld>
            <a:endParaRPr lang="ko-KR" altLang="en-US"/>
          </a:p>
        </p:txBody>
      </p:sp>
    </p:spTree>
    <p:extLst>
      <p:ext uri="{BB962C8B-B14F-4D97-AF65-F5344CB8AC3E}">
        <p14:creationId xmlns:p14="http://schemas.microsoft.com/office/powerpoint/2010/main" val="35063774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447D1-B022-E37D-ACDB-17F3ABE084C7}"/>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1E2AF5B7-E869-29E0-A893-A6DFF9E1154A}"/>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3C77CF41-F45F-80F0-126D-F196D0F40B15}"/>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AB634FB1-437C-E92A-B94D-B3B9250A4DFF}"/>
              </a:ext>
            </a:extLst>
          </p:cNvPr>
          <p:cNvSpPr>
            <a:spLocks noGrp="1"/>
          </p:cNvSpPr>
          <p:nvPr>
            <p:ph type="sldNum" sz="quarter" idx="10"/>
          </p:nvPr>
        </p:nvSpPr>
        <p:spPr/>
        <p:txBody>
          <a:bodyPr/>
          <a:lstStyle/>
          <a:p>
            <a:fld id="{9D558E6B-DCEC-4D25-8F20-EC2A837435CB}" type="slidenum">
              <a:rPr lang="ko-KR" altLang="en-US" smtClean="0"/>
              <a:t>8</a:t>
            </a:fld>
            <a:endParaRPr lang="ko-KR" altLang="en-US"/>
          </a:p>
        </p:txBody>
      </p:sp>
    </p:spTree>
    <p:extLst>
      <p:ext uri="{BB962C8B-B14F-4D97-AF65-F5344CB8AC3E}">
        <p14:creationId xmlns:p14="http://schemas.microsoft.com/office/powerpoint/2010/main" val="3891290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8467F9-25CA-64FD-AA1A-CEB165BB72E1}"/>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8D62BAA5-7C11-9A2E-B4DD-AD30BD500E53}"/>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C2465B11-E031-D9F5-5045-8384A870D5EE}"/>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0C4FAC5E-8A59-B7C9-FBDE-D2D5ACCD3EF5}"/>
              </a:ext>
            </a:extLst>
          </p:cNvPr>
          <p:cNvSpPr>
            <a:spLocks noGrp="1"/>
          </p:cNvSpPr>
          <p:nvPr>
            <p:ph type="sldNum" sz="quarter" idx="10"/>
          </p:nvPr>
        </p:nvSpPr>
        <p:spPr/>
        <p:txBody>
          <a:bodyPr/>
          <a:lstStyle/>
          <a:p>
            <a:fld id="{9D558E6B-DCEC-4D25-8F20-EC2A837435CB}" type="slidenum">
              <a:rPr lang="ko-KR" altLang="en-US" smtClean="0"/>
              <a:t>9</a:t>
            </a:fld>
            <a:endParaRPr lang="ko-KR" altLang="en-US"/>
          </a:p>
        </p:txBody>
      </p:sp>
    </p:spTree>
    <p:extLst>
      <p:ext uri="{BB962C8B-B14F-4D97-AF65-F5344CB8AC3E}">
        <p14:creationId xmlns:p14="http://schemas.microsoft.com/office/powerpoint/2010/main" val="30287598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081F0-81F7-9C32-EE24-A4ABDA9BB0C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8DA8076-7C51-C700-8A9C-266F252BEFD1}"/>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A1B2CEC4-9DD6-0139-0F20-EC1E256BA561}"/>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DE239372-E7E8-524E-AB75-98630AC62260}"/>
              </a:ext>
            </a:extLst>
          </p:cNvPr>
          <p:cNvSpPr>
            <a:spLocks noGrp="1"/>
          </p:cNvSpPr>
          <p:nvPr>
            <p:ph type="sldNum" sz="quarter" idx="10"/>
          </p:nvPr>
        </p:nvSpPr>
        <p:spPr/>
        <p:txBody>
          <a:bodyPr/>
          <a:lstStyle/>
          <a:p>
            <a:fld id="{9D558E6B-DCEC-4D25-8F20-EC2A837435CB}" type="slidenum">
              <a:rPr lang="ko-KR" altLang="en-US" smtClean="0"/>
              <a:t>10</a:t>
            </a:fld>
            <a:endParaRPr lang="ko-KR" altLang="en-US"/>
          </a:p>
        </p:txBody>
      </p:sp>
    </p:spTree>
    <p:extLst>
      <p:ext uri="{BB962C8B-B14F-4D97-AF65-F5344CB8AC3E}">
        <p14:creationId xmlns:p14="http://schemas.microsoft.com/office/powerpoint/2010/main" val="26742972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BC585-FCA8-00B3-F029-DB8B86EB492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20209935-A928-EF5A-7973-30C438FC7112}"/>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E7D56F56-60B5-62B9-D499-8F39B84414F6}"/>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3E9CB810-9667-FF21-F4BB-B78A7E00DC73}"/>
              </a:ext>
            </a:extLst>
          </p:cNvPr>
          <p:cNvSpPr>
            <a:spLocks noGrp="1"/>
          </p:cNvSpPr>
          <p:nvPr>
            <p:ph type="sldNum" sz="quarter" idx="10"/>
          </p:nvPr>
        </p:nvSpPr>
        <p:spPr/>
        <p:txBody>
          <a:bodyPr/>
          <a:lstStyle/>
          <a:p>
            <a:fld id="{9D558E6B-DCEC-4D25-8F20-EC2A837435CB}" type="slidenum">
              <a:rPr lang="ko-KR" altLang="en-US" smtClean="0"/>
              <a:t>11</a:t>
            </a:fld>
            <a:endParaRPr lang="ko-KR" altLang="en-US"/>
          </a:p>
        </p:txBody>
      </p:sp>
    </p:spTree>
    <p:extLst>
      <p:ext uri="{BB962C8B-B14F-4D97-AF65-F5344CB8AC3E}">
        <p14:creationId xmlns:p14="http://schemas.microsoft.com/office/powerpoint/2010/main" val="2088461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F3D46-71A2-845E-476B-3F401809722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9FFE697C-1CE9-04E8-3D1A-6C34C95F31B3}"/>
              </a:ext>
            </a:extLst>
          </p:cNvPr>
          <p:cNvSpPr>
            <a:spLocks noGrp="1" noRot="1" noChangeAspect="1"/>
          </p:cNvSpPr>
          <p:nvPr>
            <p:ph type="sldImg"/>
          </p:nvPr>
        </p:nvSpPr>
        <p:spPr>
          <a:xfrm>
            <a:off x="3194050" y="533400"/>
            <a:ext cx="3846513" cy="2663825"/>
          </a:xfrm>
        </p:spPr>
      </p:sp>
      <p:sp>
        <p:nvSpPr>
          <p:cNvPr id="3" name="슬라이드 노트 개체 틀 2">
            <a:extLst>
              <a:ext uri="{FF2B5EF4-FFF2-40B4-BE49-F238E27FC236}">
                <a16:creationId xmlns:a16="http://schemas.microsoft.com/office/drawing/2014/main" id="{F239D4CB-A648-E37D-073D-CA65D8AC9683}"/>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06CA1014-9851-8997-12E3-FC66C408C8FF}"/>
              </a:ext>
            </a:extLst>
          </p:cNvPr>
          <p:cNvSpPr>
            <a:spLocks noGrp="1"/>
          </p:cNvSpPr>
          <p:nvPr>
            <p:ph type="sldNum" sz="quarter" idx="10"/>
          </p:nvPr>
        </p:nvSpPr>
        <p:spPr/>
        <p:txBody>
          <a:bodyPr/>
          <a:lstStyle/>
          <a:p>
            <a:fld id="{9D558E6B-DCEC-4D25-8F20-EC2A837435CB}" type="slidenum">
              <a:rPr lang="ko-KR" altLang="en-US" smtClean="0"/>
              <a:t>15</a:t>
            </a:fld>
            <a:endParaRPr lang="ko-KR" altLang="en-US"/>
          </a:p>
        </p:txBody>
      </p:sp>
    </p:spTree>
    <p:extLst>
      <p:ext uri="{BB962C8B-B14F-4D97-AF65-F5344CB8AC3E}">
        <p14:creationId xmlns:p14="http://schemas.microsoft.com/office/powerpoint/2010/main" val="9588727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42950" y="2130426"/>
            <a:ext cx="8420100" cy="1470025"/>
          </a:xfrm>
        </p:spPr>
        <p:txBody>
          <a:bodyPr/>
          <a:lstStyle/>
          <a:p>
            <a:r>
              <a:rPr lang="ko-KR" altLang="en-US"/>
              <a:t>마스터 제목 스타일 편집</a:t>
            </a:r>
          </a:p>
        </p:txBody>
      </p:sp>
      <p:sp>
        <p:nvSpPr>
          <p:cNvPr id="3" name="부제목 2"/>
          <p:cNvSpPr>
            <a:spLocks noGrp="1"/>
          </p:cNvSpPr>
          <p:nvPr>
            <p:ph type="subTitle" idx="1"/>
          </p:nvPr>
        </p:nvSpPr>
        <p:spPr>
          <a:xfrm>
            <a:off x="1485900" y="3886200"/>
            <a:ext cx="69342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a:t>마스터 부제목 스타일 편집</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376345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588951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82506" y="4406901"/>
            <a:ext cx="8420100" cy="1362075"/>
          </a:xfrm>
        </p:spPr>
        <p:txBody>
          <a:bodyPr anchor="t"/>
          <a:lstStyle>
            <a:lvl1pPr algn="l">
              <a:defRPr sz="4000" b="1" cap="all"/>
            </a:lvl1pPr>
          </a:lstStyle>
          <a:p>
            <a:r>
              <a:rPr lang="ko-KR" altLang="en-US"/>
              <a:t>마스터 제목 스타일 편집</a:t>
            </a:r>
          </a:p>
        </p:txBody>
      </p:sp>
      <p:sp>
        <p:nvSpPr>
          <p:cNvPr id="3" name="텍스트 개체 틀 2"/>
          <p:cNvSpPr>
            <a:spLocks noGrp="1"/>
          </p:cNvSpPr>
          <p:nvPr>
            <p:ph type="body" idx="1"/>
          </p:nvPr>
        </p:nvSpPr>
        <p:spPr>
          <a:xfrm>
            <a:off x="782506" y="2906713"/>
            <a:ext cx="84201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a:t>마스터 텍스트 스타일을 편집합니다</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4834051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49530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35550" y="1600201"/>
            <a:ext cx="437515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3171194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a:t>마스터 제목 스타일 편집</a:t>
            </a:r>
          </a:p>
        </p:txBody>
      </p:sp>
      <p:sp>
        <p:nvSpPr>
          <p:cNvPr id="3" name="텍스트 개체 틀 2"/>
          <p:cNvSpPr>
            <a:spLocks noGrp="1"/>
          </p:cNvSpPr>
          <p:nvPr>
            <p:ph type="body" idx="1"/>
          </p:nvPr>
        </p:nvSpPr>
        <p:spPr>
          <a:xfrm>
            <a:off x="495300" y="1535113"/>
            <a:ext cx="437687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495300" y="2174875"/>
            <a:ext cx="437687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32111" y="1535113"/>
            <a:ext cx="437859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32111" y="2174875"/>
            <a:ext cx="437859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38884738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2"/>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073288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19782953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95300" y="273050"/>
            <a:ext cx="3259006" cy="1162050"/>
          </a:xfrm>
        </p:spPr>
        <p:txBody>
          <a:bodyPr anchor="b"/>
          <a:lstStyle>
            <a:lvl1pPr algn="l">
              <a:defRPr sz="2000" b="1"/>
            </a:lvl1pPr>
          </a:lstStyle>
          <a:p>
            <a:r>
              <a:rPr lang="ko-KR" altLang="en-US"/>
              <a:t>마스터 제목 스타일 편집</a:t>
            </a:r>
          </a:p>
        </p:txBody>
      </p:sp>
      <p:sp>
        <p:nvSpPr>
          <p:cNvPr id="3" name="내용 개체 틀 2"/>
          <p:cNvSpPr>
            <a:spLocks noGrp="1"/>
          </p:cNvSpPr>
          <p:nvPr>
            <p:ph idx="1"/>
          </p:nvPr>
        </p:nvSpPr>
        <p:spPr>
          <a:xfrm>
            <a:off x="3872971" y="273051"/>
            <a:ext cx="5537729"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495300" y="1435101"/>
            <a:ext cx="3259006"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8150398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941645" y="4800600"/>
            <a:ext cx="5943600" cy="566738"/>
          </a:xfrm>
        </p:spPr>
        <p:txBody>
          <a:bodyPr anchor="b"/>
          <a:lstStyle>
            <a:lvl1pPr algn="l">
              <a:defRPr sz="2000" b="1"/>
            </a:lvl1pPr>
          </a:lstStyle>
          <a:p>
            <a:r>
              <a:rPr lang="ko-KR" altLang="en-US"/>
              <a:t>마스터 제목 스타일 편집</a:t>
            </a:r>
          </a:p>
        </p:txBody>
      </p:sp>
      <p:sp>
        <p:nvSpPr>
          <p:cNvPr id="3" name="그림 개체 틀 2"/>
          <p:cNvSpPr>
            <a:spLocks noGrp="1"/>
          </p:cNvSpPr>
          <p:nvPr>
            <p:ph type="pic" idx="1"/>
          </p:nvPr>
        </p:nvSpPr>
        <p:spPr>
          <a:xfrm>
            <a:off x="1941645" y="612775"/>
            <a:ext cx="59436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a:t>마스터 텍스트 스타일을 편집합니다</a:t>
            </a:r>
          </a:p>
        </p:txBody>
      </p:sp>
      <p:sp>
        <p:nvSpPr>
          <p:cNvPr id="5" name="날짜 개체 틀 4"/>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2577974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2307575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181850" y="274639"/>
            <a:ext cx="2228850" cy="5851525"/>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495300" y="274639"/>
            <a:ext cx="6521450" cy="5851525"/>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10"/>
          </p:nvPr>
        </p:nvSpPr>
        <p:spPr/>
        <p:txBody>
          <a:body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13827150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95300" y="274638"/>
            <a:ext cx="8915400" cy="1143000"/>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p:cNvSpPr>
            <a:spLocks noGrp="1"/>
          </p:cNvSpPr>
          <p:nvPr>
            <p:ph type="body" idx="1"/>
          </p:nvPr>
        </p:nvSpPr>
        <p:spPr>
          <a:xfrm>
            <a:off x="495300" y="1600201"/>
            <a:ext cx="8915400" cy="4525963"/>
          </a:xfrm>
          <a:prstGeom prst="rect">
            <a:avLst/>
          </a:prstGeom>
        </p:spPr>
        <p:txBody>
          <a:bodyPr vert="horz" lIns="91440" tIns="45720" rIns="91440" bIns="45720" rtlCol="0">
            <a:normAutofit/>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p:cNvSpPr>
            <a:spLocks noGrp="1"/>
          </p:cNvSpPr>
          <p:nvPr>
            <p:ph type="dt" sz="half" idx="2"/>
          </p:nvPr>
        </p:nvSpPr>
        <p:spPr>
          <a:xfrm>
            <a:off x="495300" y="6356351"/>
            <a:ext cx="2311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777ABB5-31FF-4D61-806D-760BB4590687}" type="datetimeFigureOut">
              <a:rPr lang="ko-KR" altLang="en-US" smtClean="0"/>
              <a:t>2026-10-11</a:t>
            </a:fld>
            <a:endParaRPr lang="ko-KR" altLang="en-US"/>
          </a:p>
        </p:txBody>
      </p:sp>
      <p:sp>
        <p:nvSpPr>
          <p:cNvPr id="5" name="바닥글 개체 틀 4"/>
          <p:cNvSpPr>
            <a:spLocks noGrp="1"/>
          </p:cNvSpPr>
          <p:nvPr>
            <p:ph type="ftr" sz="quarter" idx="3"/>
          </p:nvPr>
        </p:nvSpPr>
        <p:spPr>
          <a:xfrm>
            <a:off x="3384550" y="6356351"/>
            <a:ext cx="31369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7099300" y="6356351"/>
            <a:ext cx="2311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75A145-4CE1-4908-AA74-2276B1F8FB5A}" type="slidenum">
              <a:rPr lang="ko-KR" altLang="en-US" smtClean="0"/>
              <a:t>‹#›</a:t>
            </a:fld>
            <a:endParaRPr lang="ko-KR" altLang="en-US"/>
          </a:p>
        </p:txBody>
      </p:sp>
    </p:spTree>
    <p:extLst>
      <p:ext uri="{BB962C8B-B14F-4D97-AF65-F5344CB8AC3E}">
        <p14:creationId xmlns:p14="http://schemas.microsoft.com/office/powerpoint/2010/main" val="41328530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33.png"/></Relationships>
</file>

<file path=ppt/slides/_rels/slide5.xml.rels><?xml version='1.0' encoding='UTF-8' standalone='yes'?>
<Relationships xmlns="http://schemas.openxmlformats.org/package/2006/relationships"><Relationship Id="rId1" Type="http://schemas.microsoft.com/office/2007/relationships/media" Target="../media/media6.mp4"/><Relationship Id="rId2" Type="http://schemas.openxmlformats.org/officeDocument/2006/relationships/video" Target="../media/media6.mp4"/><Relationship Id="rId3" Type="http://schemas.openxmlformats.org/officeDocument/2006/relationships/slideLayout" Target="../slideLayouts/slideLayout1.xml"/><Relationship Id="rId4" Type="http://schemas.openxmlformats.org/officeDocument/2006/relationships/image" Target="../media/image12.png"/><Relationship Id="rId5" Type="http://schemas.openxmlformats.org/officeDocument/2006/relationships/image" Target="../media/image34.png"/><Relationship Id="rId6" Type="http://schemas.openxmlformats.org/officeDocument/2006/relationships/hyperlink" Target="https://sonny0714.github.io/demo_video_robot/xferqoe-pokecube.html" TargetMode="Externa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10" Type="http://schemas.microsoft.com/office/2007/relationships/media" Target="../media/media10.mp4"/><Relationship Id="rId11" Type="http://schemas.openxmlformats.org/officeDocument/2006/relationships/video" Target="../media/media10.mp4"/><Relationship Id="rId12" Type="http://schemas.openxmlformats.org/officeDocument/2006/relationships/image" Target="../media/image38.png"/><Relationship Id="rId13" Type="http://schemas.microsoft.com/office/2007/relationships/media" Target="../media/media11.mp4"/><Relationship Id="rId14" Type="http://schemas.openxmlformats.org/officeDocument/2006/relationships/video" Target="../media/media11.mp4"/><Relationship Id="rId15" Type="http://schemas.openxmlformats.org/officeDocument/2006/relationships/image" Target="../media/image39.png"/><Relationship Id="rId16" Type="http://schemas.openxmlformats.org/officeDocument/2006/relationships/hyperlink" Target="https://sonny0714.github.io/demo_video_robot/xferqoe-rfm-libero.html" TargetMode="External"/><Relationship Id="rId17" Type="http://schemas.openxmlformats.org/officeDocument/2006/relationships/hyperlink" Target="https://sonny0714.github.io/demo_video_robot/xferqoe-rfm-mikasa.html" TargetMode="External"/></Relationships>
</file>

<file path=ppt/slides/_rels/slide7.xml.rels><?xml version='1.0' encoding='UTF-8' standalone='yes'?>
<Relationships xmlns="http://schemas.openxmlformats.org/package/2006/relationships"><Relationship Id="rId1" Type="http://schemas.microsoft.com/office/2007/relationships/media" Target="../media/media9.mp4"/><Relationship Id="rId2" Type="http://schemas.openxmlformats.org/officeDocument/2006/relationships/video" Target="../media/media9.mp4"/><Relationship Id="rId3" Type="http://schemas.openxmlformats.org/officeDocument/2006/relationships/slideLayout" Target="../slideLayouts/slideLayout1.xml"/><Relationship Id="rId5" Type="http://schemas.openxmlformats.org/officeDocument/2006/relationships/image" Target="../media/image37.png"/><Relationship Id="rId6" Type="http://schemas.openxmlformats.org/officeDocument/2006/relationships/hyperlink" Target="https://sonny0714.github.io/demo_video_robot/xferqoe-monitoring.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jpeg"/><Relationship Id="rId7" Type="http://schemas.openxmlformats.org/officeDocument/2006/relationships/image" Target="../media/image8.png"/><Relationship Id="rId8"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14.png"/><Relationship Id="rId6"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microsoft.com/office/2007/relationships/media" Target="../media/media3.avi"/><Relationship Id="rId2" Type="http://schemas.openxmlformats.org/officeDocument/2006/relationships/video" Target="../media/media3.avi"/><Relationship Id="rId3" Type="http://schemas.microsoft.com/office/2007/relationships/media" Target="../media/media4.mp4"/><Relationship Id="rId4" Type="http://schemas.openxmlformats.org/officeDocument/2006/relationships/video" Target="../media/media4.mp4"/><Relationship Id="rId5" Type="http://schemas.openxmlformats.org/officeDocument/2006/relationships/slideLayout" Target="../slideLayouts/slideLayout1.xml"/><Relationship Id="rId6" Type="http://schemas.openxmlformats.org/officeDocument/2006/relationships/notesSlide" Target="../notesSlides/notesSlide6.xml"/><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jpeg"/><Relationship Id="rId6"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mailto:yslee.gs@gmail.com" TargetMode="External"/><Relationship Id="rId4" Type="http://schemas.openxmlformats.org/officeDocument/2006/relationships/hyperlink" Target="https://proceedings.neurips.cc/paper_files/paper/2024/hash/0ccd800d59e94679246ec79d4b19587e-Abstract-Conference.html" TargetMode="External"/><Relationship Id="rId5" Type="http://schemas.openxmlformats.org/officeDocument/2006/relationships/hyperlink" Target="https://doi.org/10.1109/ACCESS.2021.3125008" TargetMode="External"/><Relationship Id="rId6" Type="http://schemas.openxmlformats.org/officeDocument/2006/relationships/hyperlink" Target="https://doi.org/10.1109/ACCESS.2021.3100283" TargetMode="External"/><Relationship Id="rId7" Type="http://schemas.openxmlformats.org/officeDocument/2006/relationships/hyperlink" Target="https://doi.org/10.1109/ACCESS.2020.2965627" TargetMode="External"/><Relationship Id="rId8" Type="http://schemas.openxmlformats.org/officeDocument/2006/relationships/hyperlink" Target="https://patents.google.com/patent/KR102629731B1/ko" TargetMode="External"/><Relationship Id="rId9" Type="http://schemas.openxmlformats.org/officeDocument/2006/relationships/hyperlink" Target="https://patents.google.com/patent/US12047250B2/en" TargetMode="External"/><Relationship Id="rId10" Type="http://schemas.openxmlformats.org/officeDocument/2006/relationships/hyperlink" Target="https://patents.google.com/patent/KR102574070B1/ko" TargetMode="External"/><Relationship Id="rId11" Type="http://schemas.openxmlformats.org/officeDocument/2006/relationships/hyperlink" Target="https://patents.google.com/patent/US12556492B2/en" TargetMode="External"/><Relationship Id="rId12" Type="http://schemas.openxmlformats.org/officeDocument/2006/relationships/hyperlink" Target="https://patents.google.com/patent/US12210760B2/en" TargetMode="External"/><Relationship Id="rId13" Type="http://schemas.openxmlformats.org/officeDocument/2006/relationships/hyperlink" Target="https://image-ppubs.uspto.gov/dirsearch-public/print/downloadPdf/12650769" TargetMode="External"/><Relationship Id="rId14" Type="http://schemas.openxmlformats.org/officeDocument/2006/relationships/hyperlink" Target="https://patents.google.com/patent/US10742742B2/e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그림 2">
            <a:extLst>
              <a:ext uri="{FF2B5EF4-FFF2-40B4-BE49-F238E27FC236}">
                <a16:creationId xmlns:a16="http://schemas.microsoft.com/office/drawing/2014/main" id="{02320206-11EE-27CD-11F6-B7FDBCD3E3D0}"/>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7721" t="12716" r="11004" b="78550"/>
          <a:stretch/>
        </p:blipFill>
        <p:spPr>
          <a:xfrm>
            <a:off x="200472" y="131475"/>
            <a:ext cx="1319435" cy="303290"/>
          </a:xfrm>
          <a:prstGeom prst="rect">
            <a:avLst/>
          </a:prstGeom>
        </p:spPr>
      </p:pic>
      <p:grpSp>
        <p:nvGrpSpPr>
          <p:cNvPr id="4" name="Group 12">
            <a:extLst>
              <a:ext uri="{FF2B5EF4-FFF2-40B4-BE49-F238E27FC236}">
                <a16:creationId xmlns:a16="http://schemas.microsoft.com/office/drawing/2014/main" id="{B27A76D4-42F2-83C4-FFAD-07D4C47D2607}"/>
              </a:ext>
            </a:extLst>
          </p:cNvPr>
          <p:cNvGrpSpPr/>
          <p:nvPr/>
        </p:nvGrpSpPr>
        <p:grpSpPr>
          <a:xfrm flipH="1">
            <a:off x="731520" y="1280160"/>
            <a:ext cx="1255874" cy="445771"/>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Label"/>
          <p:cNvSpPr txBox="1"/>
          <p:nvPr/>
        </p:nvSpPr>
        <p:spPr>
          <a:xfrm>
            <a:off x="2103120" y="1325880"/>
            <a:ext cx="5486400" cy="365760"/>
          </a:xfrm>
          <a:prstGeom prst="rect">
            <a:avLst/>
          </a:prstGeom>
          <a:noFill/>
        </p:spPr>
        <p:txBody>
          <a:bodyPr wrap="square" lIns="0" tIns="0" rIns="0" bIns="0" rtlCol="0">
            <a:spAutoFit/>
          </a:bodyPr>
          <a:lstStyle/>
          <a:p>
            <a:pPr algn="l"/>
            <a:r>
              <a:rPr lang="en-US" altLang="ko-KR" sz="1300" b="1" dirty="0">
                <a:solidFill>
                  <a:srgbClr val="4BACC6"/>
                </a:solidFill>
                <a:latin typeface="Arial" panose="020B0604020202020204" pitchFamily="34" charset="0"/>
                <a:ea typeface="Arial" panose="020B0604020202020204" pitchFamily="34" charset="0"/>
                <a:cs typeface="Arial" panose="020B0604020202020204" pitchFamily="34" charset="0"/>
              </a:rPr>
              <a:t>RESEARCH PORTFOLIO</a:t>
            </a:r>
            <a:endParaRPr lang="en-US" altLang="ko-KR" sz="1300" dirty="0">
              <a:solidFill>
                <a:srgbClr val="4BACC6"/>
              </a:solidFill>
              <a:latin typeface="Arial" panose="020B0604020202020204" pitchFamily="34" charset="0"/>
              <a:ea typeface="Arial" panose="020B0604020202020204" pitchFamily="34" charset="0"/>
              <a:cs typeface="Arial" panose="020B0604020202020204" pitchFamily="34" charset="0"/>
            </a:endParaRPr>
          </a:p>
        </p:txBody>
      </p:sp>
      <p:sp>
        <p:nvSpPr>
          <p:cNvPr id="22" name="Title"/>
          <p:cNvSpPr txBox="1"/>
          <p:nvPr/>
        </p:nvSpPr>
        <p:spPr>
          <a:xfrm>
            <a:off x="731520" y="1874519"/>
            <a:ext cx="8595360" cy="1463040"/>
          </a:xfrm>
          <a:prstGeom prst="rect">
            <a:avLst/>
          </a:prstGeom>
          <a:noFill/>
        </p:spPr>
        <p:txBody>
          <a:bodyPr wrap="square" lIns="0" tIns="0" rIns="0" bIns="0" rtlCol="0">
            <a:spAutoFit/>
          </a:bodyPr>
          <a:lstStyle/>
          <a:p>
            <a:pPr algn="l">
              <a:lnSpc>
                <a:spcPct val="105000"/>
              </a:lnSpc>
            </a:pPr>
            <a:r>
              <a:rPr lang="en-US" altLang="ko-KR" sz="3200" b="1" dirty="0">
                <a:solidFill>
                  <a:srgbClr val="1F497D"/>
                </a:solidFill>
                <a:latin typeface="Arial" panose="020B0604020202020204" pitchFamily="34" charset="0"/>
                <a:ea typeface="Arial" panose="020B0604020202020204" pitchFamily="34" charset="0"/>
                <a:cs typeface="Arial" panose="020B0604020202020204" pitchFamily="34" charset="0"/>
              </a:rPr>
              <a:t>Closed-Loop Control Systems Robust to</a:t>
            </a:r>
            <a:endParaRPr lang="en-US" altLang="ko-KR" sz="3200" dirty="0">
              <a:solidFill>
                <a:srgbClr val="1F497D"/>
              </a:solidFill>
              <a:latin typeface="Arial" panose="020B0604020202020204" pitchFamily="34" charset="0"/>
              <a:ea typeface="Arial" panose="020B0604020202020204" pitchFamily="34" charset="0"/>
              <a:cs typeface="Arial" panose="020B0604020202020204" pitchFamily="34" charset="0"/>
            </a:endParaRPr>
          </a:p>
          <a:p>
            <a:pPr algn="l">
              <a:lnSpc>
                <a:spcPct val="105000"/>
              </a:lnSpc>
            </a:pPr>
            <a:r>
              <a:rPr lang="en-US" altLang="ko-KR" sz="3200" b="1" dirty="0">
                <a:solidFill>
                  <a:srgbClr val="1F497D"/>
                </a:solidFill>
                <a:latin typeface="Arial" panose="020B0604020202020204" pitchFamily="34" charset="0"/>
                <a:ea typeface="Arial" panose="020B0604020202020204" pitchFamily="34" charset="0"/>
                <a:cs typeface="Arial" panose="020B0604020202020204" pitchFamily="34" charset="0"/>
              </a:rPr>
              <a:t>Objective and Environment Shift</a:t>
            </a:r>
            <a:endParaRPr lang="en-US" altLang="ko-KR" sz="3200" dirty="0">
              <a:solidFill>
                <a:srgbClr val="1F497D"/>
              </a:solidFill>
              <a:latin typeface="Arial" panose="020B0604020202020204" pitchFamily="34" charset="0"/>
              <a:ea typeface="Arial" panose="020B0604020202020204" pitchFamily="34" charset="0"/>
              <a:cs typeface="Arial" panose="020B0604020202020204" pitchFamily="34" charset="0"/>
            </a:endParaRPr>
          </a:p>
        </p:txBody>
      </p:sp>
      <p:sp>
        <p:nvSpPr>
          <p:cNvPr id="23" name="Subtitle"/>
          <p:cNvSpPr txBox="1"/>
          <p:nvPr/>
        </p:nvSpPr>
        <p:spPr>
          <a:xfrm>
            <a:off x="731520" y="3035808"/>
            <a:ext cx="8595360" cy="457200"/>
          </a:xfrm>
          <a:prstGeom prst="rect">
            <a:avLst/>
          </a:prstGeom>
          <a:noFill/>
        </p:spPr>
        <p:txBody>
          <a:bodyPr wrap="square" lIns="0" tIns="0" rIns="0" bIns="0" rtlCol="0">
            <a:spAutoFit/>
          </a:bodyPr>
          <a:lstStyle/>
          <a:p>
            <a:pPr algn="l"/>
            <a:r>
              <a:rPr lang="en-US" altLang="ko-KR" sz="1500" dirty="0">
                <a:solidFill>
                  <a:srgbClr val="404040"/>
                </a:solidFill>
                <a:latin typeface="Arial" panose="020B0604020202020204" pitchFamily="34" charset="0"/>
                <a:ea typeface="Arial" panose="020B0604020202020204" pitchFamily="34" charset="0"/>
                <a:cs typeface="Arial" panose="020B0604020202020204" pitchFamily="34" charset="0"/>
              </a:rPr>
              <a:t>Resource management and other closed-loop control that adapt through RL policy transfer and LLM agents, built and validated through systems engineering</a:t>
            </a:r>
          </a:p>
        </p:txBody>
      </p:sp>
      <p:sp>
        <p:nvSpPr>
          <p:cNvPr id="24" name="AxesCard"/>
          <p:cNvSpPr/>
          <p:nvPr/>
        </p:nvSpPr>
        <p:spPr>
          <a:xfrm>
            <a:off x="731520" y="3611880"/>
            <a:ext cx="7863840" cy="1234440"/>
          </a:xfrm>
          <a:prstGeom prst="roundRect">
            <a:avLst>
              <a:gd name="adj" fmla="val 12000"/>
            </a:avLst>
          </a:prstGeom>
          <a:solidFill>
            <a:srgbClr val="EEF1F6"/>
          </a:solidFill>
          <a:ln>
            <a:noFill/>
          </a:ln>
        </p:spPr>
        <p:txBody>
          <a:bodyPr rtlCol="0" anchor="ctr"/>
          <a:lstStyle/>
          <a:p>
            <a:pPr algn="ctr"/>
            <a:endParaRPr lang="ko-KR" altLang="en-US" sz="1400"/>
          </a:p>
        </p:txBody>
      </p:sp>
      <p:sp>
        <p:nvSpPr>
          <p:cNvPr id="25" name="Axes"/>
          <p:cNvSpPr txBox="1"/>
          <p:nvPr/>
        </p:nvSpPr>
        <p:spPr>
          <a:xfrm>
            <a:off x="960120" y="3703320"/>
            <a:ext cx="7498079" cy="1097280"/>
          </a:xfrm>
          <a:prstGeom prst="rect">
            <a:avLst/>
          </a:prstGeom>
          <a:noFill/>
        </p:spPr>
        <p:txBody>
          <a:bodyPr wrap="square" lIns="0" tIns="0" rIns="0" bIns="0" rtlCol="0" anchor="ctr"/>
          <a:lstStyle/>
          <a:p>
            <a:pPr algn="l">
              <a:lnSpc>
                <a:spcPct val="110000"/>
              </a:lnSpc>
              <a:spcAft>
                <a:spcPts val="400"/>
              </a:spcAft>
            </a:pPr>
            <a:r>
              <a:rPr lang="en-US" altLang="ko-KR" sz="1400" b="1" dirty="0">
                <a:latin typeface="Arial" panose="020B0604020202020204" pitchFamily="34" charset="0"/>
                <a:ea typeface="Arial" panose="020B0604020202020204" pitchFamily="34" charset="0"/>
                <a:cs typeface="Arial" panose="020B0604020202020204" pitchFamily="34" charset="0"/>
              </a:rPr>
              <a:t>① Reinforcement Learning</a:t>
            </a:r>
            <a:r>
              <a:rPr lang="en-US" altLang="ko-KR" sz="1400" dirty="0">
                <a:latin typeface="Arial" panose="020B0604020202020204" pitchFamily="34" charset="0"/>
                <a:ea typeface="Arial" panose="020B0604020202020204" pitchFamily="34" charset="0"/>
                <a:cs typeface="Arial" panose="020B0604020202020204" pitchFamily="34" charset="0"/>
              </a:rPr>
              <a:t> — Resource Management &amp; Cloud Robotics</a:t>
            </a:r>
          </a:p>
          <a:p>
            <a:pPr algn="l">
              <a:lnSpc>
                <a:spcPct val="110000"/>
              </a:lnSpc>
              <a:spcAft>
                <a:spcPts val="400"/>
              </a:spcAft>
            </a:pPr>
            <a:r>
              <a:rPr lang="en-US" altLang="ko-KR" sz="1400" b="1" dirty="0">
                <a:latin typeface="Arial" panose="020B0604020202020204" pitchFamily="34" charset="0"/>
                <a:ea typeface="Arial" panose="020B0604020202020204" pitchFamily="34" charset="0"/>
                <a:cs typeface="Arial" panose="020B0604020202020204" pitchFamily="34" charset="0"/>
              </a:rPr>
              <a:t>② Agentic AI</a:t>
            </a:r>
            <a:r>
              <a:rPr lang="en-US" altLang="ko-KR" sz="1400" dirty="0">
                <a:latin typeface="Arial" panose="020B0604020202020204" pitchFamily="34" charset="0"/>
                <a:ea typeface="Arial" panose="020B0604020202020204" pitchFamily="34" charset="0"/>
                <a:cs typeface="Arial" panose="020B0604020202020204" pitchFamily="34" charset="0"/>
              </a:rPr>
              <a:t> — LLM Agents for System Operation (Robotics &amp; V2G)</a:t>
            </a:r>
          </a:p>
          <a:p>
            <a:pPr algn="l">
              <a:lnSpc>
                <a:spcPct val="110000"/>
              </a:lnSpc>
            </a:pPr>
            <a:r>
              <a:rPr lang="en-US" altLang="ko-KR" sz="1400" b="1" dirty="0">
                <a:latin typeface="Arial" panose="020B0604020202020204" pitchFamily="34" charset="0"/>
                <a:ea typeface="Arial" panose="020B0604020202020204" pitchFamily="34" charset="0"/>
                <a:cs typeface="Arial" panose="020B0604020202020204" pitchFamily="34" charset="0"/>
              </a:rPr>
              <a:t>③ Systems Engineering</a:t>
            </a:r>
            <a:r>
              <a:rPr lang="en-US" altLang="ko-KR" sz="1400" dirty="0">
                <a:latin typeface="Arial" panose="020B0604020202020204" pitchFamily="34" charset="0"/>
                <a:ea typeface="Arial" panose="020B0604020202020204" pitchFamily="34" charset="0"/>
                <a:cs typeface="Arial" panose="020B0604020202020204" pitchFamily="34" charset="0"/>
              </a:rPr>
              <a:t> — Simulators, Testbeds, Protocols &amp; Deployment</a:t>
            </a:r>
          </a:p>
        </p:txBody>
      </p:sp>
      <p:sp>
        <p:nvSpPr>
          <p:cNvPr id="26" name="Name"/>
          <p:cNvSpPr txBox="1"/>
          <p:nvPr/>
        </p:nvSpPr>
        <p:spPr>
          <a:xfrm>
            <a:off x="731520" y="5257800"/>
            <a:ext cx="8595360" cy="1280160"/>
          </a:xfrm>
          <a:prstGeom prst="rect">
            <a:avLst/>
          </a:prstGeom>
          <a:noFill/>
        </p:spPr>
        <p:txBody>
          <a:bodyPr wrap="square" lIns="0" tIns="0" rIns="0" bIns="0" rtlCol="0">
            <a:spAutoFit/>
          </a:bodyPr>
          <a:lstStyle/>
          <a:p>
            <a:pPr algn="l">
              <a:spcAft>
                <a:spcPts val="400"/>
              </a:spcAft>
            </a:pPr>
            <a:r>
              <a:rPr lang="en-US" altLang="ko-KR" sz="1800" b="1" dirty="0">
                <a:latin typeface="Arial" panose="020B0604020202020204" pitchFamily="34" charset="0"/>
                <a:ea typeface="Arial" panose="020B0604020202020204" pitchFamily="34" charset="0"/>
                <a:cs typeface="Arial" panose="020B0604020202020204" pitchFamily="34" charset="0"/>
              </a:rPr>
              <a:t>Youngseok Lee</a:t>
            </a:r>
            <a:endParaRPr lang="en-US" altLang="ko-KR" sz="1800" dirty="0">
              <a:latin typeface="Arial" panose="020B0604020202020204" pitchFamily="34" charset="0"/>
              <a:ea typeface="Arial" panose="020B0604020202020204" pitchFamily="34" charset="0"/>
              <a:cs typeface="Arial" panose="020B0604020202020204" pitchFamily="34" charset="0"/>
            </a:endParaRP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Ph.D. Candidate, Dept. of Electrical &amp; Computer Engineering, Sungkyunkwan University</a:t>
            </a: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Advisor: Prof. Honguk Woo (CSI-Agent Group) · Expected graduation Feb. 2027</a:t>
            </a:r>
          </a:p>
          <a:p>
            <a:pPr algn="l"/>
            <a:r>
              <a:rPr lang="en-US" altLang="ko-KR" sz="1200" dirty="0">
                <a:solidFill>
                  <a:srgbClr val="595959"/>
                </a:solidFill>
                <a:latin typeface="Arial" panose="020B0604020202020204" pitchFamily="34" charset="0"/>
                <a:ea typeface="Arial" panose="020B0604020202020204" pitchFamily="34" charset="0"/>
                <a:cs typeface="Arial" panose="020B0604020202020204" pitchFamily="34" charset="0"/>
              </a:rPr>
              <a:t>yslee.gs@gmail.com · +82-10-7368-6845 · Google Scholar: scholar.google.com/citations?user=GhwtxtgAAAAJ</a:t>
            </a:r>
          </a:p>
        </p:txBody>
      </p:sp>
    </p:spTree>
    <p:extLst>
      <p:ext uri="{BB962C8B-B14F-4D97-AF65-F5344CB8AC3E}">
        <p14:creationId xmlns:p14="http://schemas.microsoft.com/office/powerpoint/2010/main" val="4617349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0EB24-510B-00B5-09E0-0CB1D5113C89}"/>
            </a:ext>
          </a:extLst>
        </p:cNvPr>
        <p:cNvGrpSpPr/>
        <p:nvPr/>
      </p:nvGrpSpPr>
      <p:grpSpPr>
        <a:xfrm>
          <a:off x="0" y="0"/>
          <a:ext cx="0" cy="0"/>
          <a:chOff x="0" y="0"/>
          <a:chExt cx="0" cy="0"/>
        </a:xfrm>
      </p:grpSpPr>
      <p:sp>
        <p:nvSpPr>
          <p:cNvPr id="39" name="TextBox 38">
            <a:extLst>
              <a:ext uri="{FF2B5EF4-FFF2-40B4-BE49-F238E27FC236}">
                <a16:creationId xmlns:a16="http://schemas.microsoft.com/office/drawing/2014/main" id="{185C7BA9-9CDD-6FA4-B173-77F84587A4A3}"/>
              </a:ext>
            </a:extLst>
          </p:cNvPr>
          <p:cNvSpPr txBox="1"/>
          <p:nvPr/>
        </p:nvSpPr>
        <p:spPr>
          <a:xfrm>
            <a:off x="173455" y="379336"/>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Youngseok Lee — Ph.D. Candidate, Sungkyunkwan Univ.</a:t>
            </a:r>
            <a:endParaRPr lang="en-US" altLang="ko-KR" dirty="0">
              <a:latin typeface="Arial" pitchFamily="34" charset="0"/>
              <a:ea typeface="Arial Unicode MS" pitchFamily="50" charset="-127"/>
              <a:cs typeface="Arial" pitchFamily="34" charset="0"/>
            </a:endParaRPr>
          </a:p>
        </p:txBody>
      </p:sp>
      <p:sp>
        <p:nvSpPr>
          <p:cNvPr id="12" name="TextBox 11">
            <a:extLst>
              <a:ext uri="{FF2B5EF4-FFF2-40B4-BE49-F238E27FC236}">
                <a16:creationId xmlns:a16="http://schemas.microsoft.com/office/drawing/2014/main" id="{AB5934C9-4EC8-9BFB-4E3B-C51573549FE1}"/>
              </a:ext>
            </a:extLst>
          </p:cNvPr>
          <p:cNvSpPr txBox="1"/>
          <p:nvPr/>
        </p:nvSpPr>
        <p:spPr>
          <a:xfrm>
            <a:off x="173455" y="791998"/>
            <a:ext cx="9603782" cy="1709928"/>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Education</a:t>
            </a:r>
            <a:r>
              <a:rPr lang="en-US" altLang="ko-KR" sz="1100" dirty="0">
                <a:latin typeface="Arial" panose="020B0604020202020204" pitchFamily="34" charset="0"/>
                <a:ea typeface="Arial" panose="020B0604020202020204" pitchFamily="34" charset="0"/>
                <a:cs typeface="Arial" panose="020B0604020202020204" pitchFamily="34" charset="0"/>
              </a:rPr>
              <a:t> — Integrated M.S.–Ph.D., Electrical &amp; Computer Engineering, Sungkyunkwan University (Mar. 2013 – Feb. 2027, expected) · Advisor: Prof. Honguk Woo (CSI-Agent Group) · Dissertation: Reinforcement Learning for Quality-Driven Network Control</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2018: moved to Prof. Honguk Woo's group and defined the dissertation topic · Expert Research Personnel service (Mar. 2017 – Mar. 2020) · Global Ph.D. Fellowship, 5-year term (2013–2018, Ministry of Education / NRF Korea)</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Achievements</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8 granted patents (US 5 / KR 3, first inventor on 4)</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5 systems delivered</a:t>
            </a:r>
            <a:r>
              <a:rPr lang="en-US" altLang="ko-KR" sz="1100" dirty="0">
                <a:latin typeface="Arial" panose="020B0604020202020204" pitchFamily="34" charset="0"/>
                <a:ea typeface="Arial" panose="020B0604020202020204" pitchFamily="34" charset="0"/>
                <a:cs typeface="Arial" panose="020B0604020202020204" pitchFamily="34" charset="0"/>
              </a:rPr>
              <a:t> · IEEE IoT Journal (first author, under review) · NeurIPS 2024 (second author) · 3 SCIE journal papers (first author 2 / second author 1) · 35 earlier publications (2012–2018)</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Delivered to Samsung Electronics ×2, Polaris AI, Acryl, and ADD (Agency for Defense Development), each as technical leader · 20 funded projects (principal investigator 1 · technical leader 10 · researcher 9) · 9 software copyrights</a:t>
            </a:r>
          </a:p>
        </p:txBody>
      </p:sp>
      <p:cxnSp>
        <p:nvCxnSpPr>
          <p:cNvPr id="4" name="직선 연결선 3">
            <a:extLst>
              <a:ext uri="{FF2B5EF4-FFF2-40B4-BE49-F238E27FC236}">
                <a16:creationId xmlns:a16="http://schemas.microsoft.com/office/drawing/2014/main" id="{DEAF566A-FC0D-3E49-62D0-0EC2CAAD00EE}"/>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7A76D4-42F2-83C4-FFAD-07D4C47D2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54C290D-EBEC-3B81-9A26-919F80572A6F}"/>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95F2FF65-9687-A7A2-C5EF-8738C1B273A7}"/>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901E85C-06AE-34EB-817A-D47366EF25AC}"/>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0183985F-E766-A733-27C3-2A55D8D7807D}"/>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26FBC824-4158-2D7D-50EF-33F54FF50A7B}"/>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2</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40D4A926-2AF0-6AFA-4623-810F84CA9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anose="020B0604020202020204" pitchFamily="34" charset="0"/>
                <a:ea typeface="Arial" panose="020B0604020202020204" pitchFamily="34" charset="0"/>
                <a:cs typeface="Arial" panose="020B0604020202020204" pitchFamily="34" charset="0"/>
              </a:rPr>
              <a:t>Introduction</a:t>
            </a:r>
            <a:endParaRPr lang="en-US" altLang="ko-KR" sz="1400" dirty="0">
              <a:latin typeface="Arial" pitchFamily="34" charset="0"/>
              <a:ea typeface="Arial Unicode MS" pitchFamily="50" charset="-127"/>
              <a:cs typeface="Arial" pitchFamily="34" charset="0"/>
            </a:endParaRPr>
          </a:p>
        </p:txBody>
      </p:sp>
      <p:graphicFrame>
        <p:nvGraphicFramePr>
          <p:cNvPr id="3" name="표 2">
            <a:extLst>
              <a:ext uri="{FF2B5EF4-FFF2-40B4-BE49-F238E27FC236}">
                <a16:creationId xmlns:a16="http://schemas.microsoft.com/office/drawing/2014/main" id="{8CE62F0F-BA9F-BDDC-E621-C1EC291F55A0}"/>
              </a:ext>
            </a:extLst>
          </p:cNvPr>
          <p:cNvGraphicFramePr>
            <a:graphicFrameLocks noGrp="1"/>
          </p:cNvGraphicFramePr>
          <p:nvPr>
            <p:extLst>
              <p:ext uri="{D42A27DB-BD31-4B8C-83A1-F6EECF244321}">
                <p14:modId xmlns:p14="http://schemas.microsoft.com/office/powerpoint/2010/main" val="355942640"/>
              </p:ext>
            </p:extLst>
          </p:nvPr>
        </p:nvGraphicFramePr>
        <p:xfrm>
          <a:off x="151109" y="2564904"/>
          <a:ext cx="9621979" cy="3263491"/>
        </p:xfrm>
        <a:graphic>
          <a:graphicData uri="http://schemas.openxmlformats.org/drawingml/2006/table">
            <a:tbl>
              <a:tblPr firstRow="1" firstCol="1" bandRow="1"/>
              <a:tblGrid>
                <a:gridCol w="2137595">
                  <a:extLst>
                    <a:ext uri="{9D8B030D-6E8A-4147-A177-3AD203B41FA5}">
                      <a16:colId xmlns:a16="http://schemas.microsoft.com/office/drawing/2014/main" val="3255583868"/>
                    </a:ext>
                  </a:extLst>
                </a:gridCol>
                <a:gridCol w="4824536">
                  <a:extLst>
                    <a:ext uri="{9D8B030D-6E8A-4147-A177-3AD203B41FA5}">
                      <a16:colId xmlns:a16="http://schemas.microsoft.com/office/drawing/2014/main" val="4141129299"/>
                    </a:ext>
                  </a:extLst>
                </a:gridCol>
                <a:gridCol w="2659848">
                  <a:extLst>
                    <a:ext uri="{9D8B030D-6E8A-4147-A177-3AD203B41FA5}">
                      <a16:colId xmlns:a16="http://schemas.microsoft.com/office/drawing/2014/main" val="1825718788"/>
                    </a:ext>
                  </a:extLst>
                </a:gridCol>
              </a:tblGrid>
              <a:tr h="237620">
                <a:tc>
                  <a:txBody>
                    <a:bodyPr/>
                    <a:lstStyle/>
                    <a:p>
                      <a:pPr algn="just">
                        <a:spcBef>
                          <a:spcPts val="120"/>
                        </a:spcBef>
                        <a:spcAft>
                          <a:spcPts val="120"/>
                        </a:spcAft>
                        <a:buNone/>
                      </a:pPr>
                      <a:r>
                        <a:rPr lang="en-US" sz="1100" b="1">
                          <a:solidFill>
                            <a:srgbClr val="1F3864"/>
                          </a:solidFill>
                          <a:effectLst/>
                          <a:latin typeface="Arial" panose="020B0604020202020204" pitchFamily="34" charset="0"/>
                          <a:ea typeface="맑은 고딕" panose="020B0503020000020004" pitchFamily="50" charset="-127"/>
                          <a:cs typeface="Arial" panose="020B0604020202020204" pitchFamily="34" charset="0"/>
                        </a:rPr>
                        <a:t>Research area</a:t>
                      </a:r>
                      <a:endParaRPr lang="ko-KR" sz="110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tc>
                  <a:txBody>
                    <a:bodyPr/>
                    <a:lstStyle/>
                    <a:p>
                      <a:pPr algn="just">
                        <a:spcBef>
                          <a:spcPts val="120"/>
                        </a:spcBef>
                        <a:spcAft>
                          <a:spcPts val="120"/>
                        </a:spcAft>
                        <a:buNone/>
                      </a:pPr>
                      <a:r>
                        <a:rPr lang="en-US" sz="1100" b="1">
                          <a:solidFill>
                            <a:srgbClr val="1F3864"/>
                          </a:solidFill>
                          <a:effectLst/>
                          <a:latin typeface="Arial" panose="020B0604020202020204" pitchFamily="34" charset="0"/>
                          <a:ea typeface="맑은 고딕" panose="020B0503020000020004" pitchFamily="50" charset="-127"/>
                          <a:cs typeface="Arial" panose="020B0604020202020204" pitchFamily="34" charset="0"/>
                        </a:rPr>
                        <a:t>Representative work</a:t>
                      </a:r>
                      <a:endParaRPr lang="ko-KR" sz="110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tc>
                  <a:txBody>
                    <a:bodyPr/>
                    <a:lstStyle/>
                    <a:p>
                      <a:pPr algn="just">
                        <a:spcBef>
                          <a:spcPts val="120"/>
                        </a:spcBef>
                        <a:spcAft>
                          <a:spcPts val="120"/>
                        </a:spcAft>
                        <a:buNone/>
                      </a:pPr>
                      <a:r>
                        <a:rPr lang="en-US" sz="1100" b="1" dirty="0">
                          <a:solidFill>
                            <a:srgbClr val="1F3864"/>
                          </a:solidFill>
                          <a:effectLst/>
                          <a:latin typeface="Arial" panose="020B0604020202020204" pitchFamily="34" charset="0"/>
                          <a:ea typeface="맑은 고딕" panose="020B0503020000020004" pitchFamily="50" charset="-127"/>
                          <a:cs typeface="Arial" panose="020B0604020202020204" pitchFamily="34" charset="0"/>
                        </a:rPr>
                        <a:t>Outcomes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EEF1F6"/>
                    </a:solidFill>
                  </a:tcPr>
                </a:tc>
                <a:extLst>
                  <a:ext uri="{0D108BD9-81ED-4DB2-BD59-A6C34878D82A}">
                    <a16:rowId xmlns:a16="http://schemas.microsoft.com/office/drawing/2014/main" val="4083457156"/>
                  </a:ext>
                </a:extLst>
              </a:tr>
              <a:tr h="1168834">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①	</a:t>
                      </a:r>
                      <a:r>
                        <a:rPr lang="en-US" sz="1100" b="1" dirty="0">
                          <a:effectLst/>
                          <a:latin typeface="Arial" panose="020B0604020202020204" pitchFamily="34" charset="0"/>
                          <a:ea typeface="맑은 고딕" panose="020B0503020000020004" pitchFamily="50" charset="-127"/>
                          <a:cs typeface="Arial" panose="020B0604020202020204" pitchFamily="34" charset="0"/>
                        </a:rPr>
                        <a:t>Reinforcement Learning</a:t>
                      </a:r>
                      <a:r>
                        <a:rPr lang="en-US" sz="1100" dirty="0">
                          <a:effectLst/>
                          <a:latin typeface="Arial" panose="020B0604020202020204" pitchFamily="34" charset="0"/>
                          <a:ea typeface="맑은 고딕" panose="020B0503020000020004" pitchFamily="50" charset="-127"/>
                          <a:cs typeface="Arial" panose="020B0604020202020204" pitchFamily="34" charset="0"/>
                        </a:rPr>
                        <a:t> —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Resource Management &amp;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Cloud Robotics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XferQoE</a:t>
                      </a:r>
                      <a:r>
                        <a:rPr lang="en-US" sz="1100" dirty="0">
                          <a:effectLst/>
                          <a:latin typeface="Arial" panose="020B0604020202020204" pitchFamily="34" charset="0"/>
                          <a:ea typeface="맑은 고딕" panose="020B0503020000020004" pitchFamily="50" charset="-127"/>
                          <a:cs typeface="Arial" panose="020B0604020202020204" pitchFamily="34" charset="0"/>
                        </a:rPr>
                        <a:t> — One QoS-pretrained rate controller, adapted per application</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by objective-weight fitting from QoE feedback</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XferQoE with robot foundation models (π0.5, SmolVLA; page 6)</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Repot — Bandwidth allocation transferred across network environments by flow embedding and action shaping</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Physical-AI PoC — Code-as-Policies demo · robot foundation model (RFM) fine-tuning on a real arm (SO-101)</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IEEE IoT Journal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(first author, under review)</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IEEE Access 2021 (first author)</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1 first-inventor patent family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(KR 2023 · US 2026)</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6751216"/>
                  </a:ext>
                </a:extLst>
              </a:tr>
              <a:tr h="616528">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②	</a:t>
                      </a:r>
                      <a:r>
                        <a:rPr lang="en-US" sz="1100" b="1" dirty="0">
                          <a:effectLst/>
                          <a:latin typeface="Arial" panose="020B0604020202020204" pitchFamily="34" charset="0"/>
                          <a:ea typeface="맑은 고딕" panose="020B0503020000020004" pitchFamily="50" charset="-127"/>
                          <a:cs typeface="Arial" panose="020B0604020202020204" pitchFamily="34" charset="0"/>
                        </a:rPr>
                        <a:t>Agentic AI</a:t>
                      </a:r>
                      <a:r>
                        <a:rPr lang="en-US" sz="1100" dirty="0">
                          <a:effectLst/>
                          <a:latin typeface="Arial" panose="020B0604020202020204" pitchFamily="34" charset="0"/>
                          <a:ea typeface="맑은 고딕" panose="020B0503020000020004" pitchFamily="50" charset="-127"/>
                          <a:cs typeface="Arial" panose="020B0604020202020204" pitchFamily="34" charset="0"/>
                        </a:rPr>
                        <a:t> — LLM Agents</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for System Operation</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(Robotics &amp; V2G)</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LDuS</a:t>
                      </a:r>
                      <a:r>
                        <a:rPr lang="en-US" sz="1100" dirty="0">
                          <a:effectLst/>
                          <a:latin typeface="Arial" panose="020B0604020202020204" pitchFamily="34" charset="0"/>
                          <a:ea typeface="맑은 고딕" panose="020B0503020000020004" pitchFamily="50" charset="-127"/>
                          <a:cs typeface="Arial" panose="020B0604020202020204" pitchFamily="34" charset="0"/>
                        </a:rPr>
                        <a:t> — LLM-guided skill diffusion for zero-shot policy adaptation</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AgentV2G (in progress) — LLM-agent V2G (vehicle-to-grid) fleet operation under drift, day-ahead → real-time; SAC dispatch policy</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err="1">
                          <a:effectLst/>
                          <a:latin typeface="Arial" panose="020B0604020202020204" pitchFamily="34" charset="0"/>
                          <a:ea typeface="맑은 고딕" panose="020B0503020000020004" pitchFamily="50" charset="-127"/>
                          <a:cs typeface="Arial" panose="020B0604020202020204" pitchFamily="34" charset="0"/>
                        </a:rPr>
                        <a:t>NeurIPS</a:t>
                      </a:r>
                      <a:r>
                        <a:rPr lang="en-US" sz="1100" dirty="0">
                          <a:effectLst/>
                          <a:latin typeface="Arial" panose="020B0604020202020204" pitchFamily="34" charset="0"/>
                          <a:ea typeface="맑은 고딕" panose="020B0503020000020004" pitchFamily="50" charset="-127"/>
                          <a:cs typeface="Arial" panose="020B0604020202020204" pitchFamily="34" charset="0"/>
                        </a:rPr>
                        <a:t> 2024 (second author)</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172950608"/>
                  </a:ext>
                </a:extLst>
              </a:tr>
              <a:tr h="1108863">
                <a:tc>
                  <a:txBody>
                    <a:bodyPr/>
                    <a:lstStyle/>
                    <a:p>
                      <a:pPr marL="228600" indent="-228600" algn="l">
                        <a:spcBef>
                          <a:spcPts val="120"/>
                        </a:spcBef>
                        <a:spcAft>
                          <a:spcPts val="120"/>
                        </a:spcAft>
                        <a:buNone/>
                        <a:tabLst>
                          <a:tab pos="228600" algn="l"/>
                        </a:tabLst>
                      </a:pPr>
                      <a:r>
                        <a:rPr lang="en-US" sz="1100" dirty="0">
                          <a:effectLst/>
                          <a:latin typeface="Arial" panose="020B0604020202020204" pitchFamily="34" charset="0"/>
                          <a:ea typeface="Arial Unicode MS" pitchFamily="50" charset="-127"/>
                          <a:cs typeface="Arial" panose="020B0604020202020204" pitchFamily="34" charset="0"/>
                        </a:rPr>
                        <a:t>③	</a:t>
                      </a:r>
                      <a:r>
                        <a:rPr lang="en-US" sz="1100" b="1" dirty="0">
                          <a:effectLst/>
                          <a:latin typeface="Arial" panose="020B0604020202020204" pitchFamily="34" charset="0"/>
                          <a:ea typeface="맑은 고딕" panose="020B0503020000020004" pitchFamily="50" charset="-127"/>
                          <a:cs typeface="Arial" panose="020B0604020202020204" pitchFamily="34" charset="0"/>
                        </a:rPr>
                        <a:t>Systems Engineering</a:t>
                      </a:r>
                      <a:r>
                        <a:rPr lang="en-US" sz="1100" dirty="0">
                          <a:effectLst/>
                          <a:latin typeface="Arial" panose="020B0604020202020204" pitchFamily="34" charset="0"/>
                          <a:ea typeface="맑은 고딕" panose="020B0503020000020004" pitchFamily="50" charset="-127"/>
                          <a:cs typeface="Arial" panose="020B0604020202020204" pitchFamily="34" charset="0"/>
                        </a:rPr>
                        <a:t> —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Simulators, Testbeds, </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Protocols &amp; Deployment</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S-Sim packet simulator → NS-3, 16-node Raspberry Pi NiL testbed</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Code-as-Policies demo pipeline · SO-101 real-arm fine-tuning setup</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V2G fleet-operation environment (market rules · SMP · EV sessions)</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FL with knowledge distillation → edge-NPU YOLOv8n inference pipeline</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just">
                        <a:spcBef>
                          <a:spcPts val="0"/>
                        </a:spcBef>
                        <a:spcAft>
                          <a:spcPts val="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NVMe-oF storage simulator with dual-output DNN surrogate</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Systems delivered ×5</a:t>
                      </a:r>
                      <a:br>
                        <a:rPr lang="en-US" sz="1100" dirty="0">
                          <a:effectLst/>
                          <a:latin typeface="Arial" panose="020B0604020202020204" pitchFamily="34" charset="0"/>
                          <a:ea typeface="맑은 고딕" panose="020B0503020000020004" pitchFamily="50" charset="-127"/>
                          <a:cs typeface="Arial" panose="020B0604020202020204" pitchFamily="34" charset="0"/>
                        </a:rPr>
                      </a:br>
                      <a:r>
                        <a:rPr lang="en-US" sz="1100" dirty="0">
                          <a:effectLst/>
                          <a:latin typeface="Arial" panose="020B0604020202020204" pitchFamily="34" charset="0"/>
                          <a:ea typeface="맑은 고딕" panose="020B0503020000020004" pitchFamily="50" charset="-127"/>
                          <a:cs typeface="Arial" panose="020B0604020202020204" pitchFamily="34" charset="0"/>
                        </a:rPr>
                        <a:t>(Samsung ×2, Polaris AI, Acryl, ADD)</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p>
                      <a:pPr marL="171450" indent="-171450" algn="l">
                        <a:spcBef>
                          <a:spcPts val="120"/>
                        </a:spcBef>
                        <a:spcAft>
                          <a:spcPts val="120"/>
                        </a:spcAft>
                        <a:buFont typeface="Arial" panose="020B0604020202020204" pitchFamily="34" charset="0"/>
                        <a:buChar char="○"/>
                      </a:pPr>
                      <a:r>
                        <a:rPr lang="en-US" sz="1100" dirty="0">
                          <a:effectLst/>
                          <a:latin typeface="Arial" panose="020B0604020202020204" pitchFamily="34" charset="0"/>
                          <a:ea typeface="맑은 고딕" panose="020B0503020000020004" pitchFamily="50" charset="-127"/>
                          <a:cs typeface="Arial" panose="020B0604020202020204" pitchFamily="34" charset="0"/>
                        </a:rPr>
                        <a:t>3 US patents with Samsung (storage ×2 · IoT resource identification)</a:t>
                      </a:r>
                      <a:endParaRPr lang="ko-KR" sz="1100" dirty="0">
                        <a:effectLst/>
                        <a:latin typeface="Arial" panose="020B0604020202020204" pitchFamily="34" charset="0"/>
                        <a:ea typeface="맑은 고딕" panose="020B0503020000020004" pitchFamily="50" charset="-127"/>
                        <a:cs typeface="Arial" panose="020B0604020202020204" pitchFamily="34" charset="0"/>
                      </a:endParaRPr>
                    </a:p>
                  </a:txBody>
                  <a:tcPr marL="50800" marR="50800" marT="25400" marB="25400">
                    <a:lnL>
                      <a:noFill/>
                    </a:lnL>
                    <a:lnR>
                      <a:noFill/>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90875656"/>
                  </a:ext>
                </a:extLst>
              </a:tr>
            </a:tbl>
          </a:graphicData>
        </a:graphic>
      </p:graphicFrame>
    </p:spTree>
    <p:extLst>
      <p:ext uri="{BB962C8B-B14F-4D97-AF65-F5344CB8AC3E}">
        <p14:creationId xmlns:p14="http://schemas.microsoft.com/office/powerpoint/2010/main" val="1201318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9ED5A-8FD6-7786-C93A-A29B1F975D5B}"/>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D344033F-86AF-2EE5-B64C-F635AE74E4CA}"/>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B3430BB-6FBE-2FE7-AED0-4A0BAAA032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62231B37-DC24-4315-186C-405E49698665}"/>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AC65597E-FE8A-6749-1609-108B99A2476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2B420A9-6FA4-5AE1-E54C-438D3D15AAAD}"/>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705C7160-390C-83A3-6001-53B1FB2106B8}"/>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A3DC6673-E704-AD20-949F-BA0E3266757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3</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7B16E8DF-BB36-07CA-4952-A34A6494AD21}"/>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Research</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Coverage</a:t>
            </a:r>
            <a:endParaRPr lang="en-US" altLang="ko-KR" sz="1400" dirty="0">
              <a:latin typeface="Arial" pitchFamily="34" charset="0"/>
              <a:ea typeface="Arial Unicode MS" pitchFamily="50" charset="-127"/>
              <a:cs typeface="Arial" pitchFamily="34" charset="0"/>
            </a:endParaRPr>
          </a:p>
        </p:txBody>
      </p:sp>
      <p:sp>
        <p:nvSpPr>
          <p:cNvPr id="178" name="TextBox 177">
            <a:extLst>
              <a:ext uri="{FF2B5EF4-FFF2-40B4-BE49-F238E27FC236}">
                <a16:creationId xmlns:a16="http://schemas.microsoft.com/office/drawing/2014/main" id="{3E895C00-597A-AAA4-DE90-49CB2C1DC7BD}"/>
              </a:ext>
            </a:extLst>
          </p:cNvPr>
          <p:cNvSpPr txBox="1"/>
          <p:nvPr/>
        </p:nvSpPr>
        <p:spPr>
          <a:xfrm>
            <a:off x="4342412" y="5947895"/>
            <a:ext cx="5340096"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Closed-loop QoE-driven adaptive rate control (XferQoE)</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11" name="그림 10">
            <a:extLst>
              <a:ext uri="{FF2B5EF4-FFF2-40B4-BE49-F238E27FC236}">
                <a16:creationId xmlns:a16="http://schemas.microsoft.com/office/drawing/2014/main" id="{869DD70A-F98F-DCB1-E056-CA208BCEF984}"/>
              </a:ext>
            </a:extLst>
          </p:cNvPr>
          <p:cNvPicPr>
            <a:picLocks noChangeAspect="1"/>
          </p:cNvPicPr>
          <p:nvPr/>
        </p:nvPicPr>
        <p:blipFill>
          <a:blip r:embed="rId3"/>
          <a:stretch>
            <a:fillRect/>
          </a:stretch>
        </p:blipFill>
        <p:spPr>
          <a:xfrm>
            <a:off x="4343400" y="4235756"/>
            <a:ext cx="5338186" cy="1598297"/>
          </a:xfrm>
          <a:prstGeom prst="rect">
            <a:avLst/>
          </a:prstGeom>
        </p:spPr>
      </p:pic>
      <p:sp>
        <p:nvSpPr>
          <p:cNvPr id="9" name="TextBox 8">
            <a:extLst>
              <a:ext uri="{FF2B5EF4-FFF2-40B4-BE49-F238E27FC236}">
                <a16:creationId xmlns:a16="http://schemas.microsoft.com/office/drawing/2014/main" id="{35D4346C-8C79-BEA3-6182-98AC2D3A952D}"/>
              </a:ext>
            </a:extLst>
          </p:cNvPr>
          <p:cNvSpPr txBox="1"/>
          <p:nvPr/>
        </p:nvSpPr>
        <p:spPr>
          <a:xfrm>
            <a:off x="173754" y="530061"/>
            <a:ext cx="8414420" cy="369332"/>
          </a:xfrm>
          <a:prstGeom prst="rect">
            <a:avLst/>
          </a:prstGeom>
          <a:noFill/>
        </p:spPr>
        <p:txBody>
          <a:bodyPr wrap="square" rtlCol="0">
            <a:spAutoFit/>
          </a:bodyPr>
          <a:lstStyle/>
          <a:p>
            <a:r>
              <a:rPr lang="en-US" altLang="ko-KR" b="1" dirty="0">
                <a:latin typeface="Arial" panose="020B0604020202020204" pitchFamily="34" charset="0"/>
                <a:ea typeface="Arial" panose="020B0604020202020204" pitchFamily="34" charset="0"/>
                <a:cs typeface="Arial" panose="020B0604020202020204" pitchFamily="34" charset="0"/>
              </a:rPr>
              <a:t>Control Robust to Objective and Environment Shift</a:t>
            </a:r>
            <a:endParaRPr lang="en-US" altLang="ko-KR" dirty="0">
              <a:latin typeface="Arial" pitchFamily="34" charset="0"/>
              <a:ea typeface="Arial Unicode MS" pitchFamily="50" charset="-127"/>
              <a:cs typeface="Arial" pitchFamily="34" charset="0"/>
            </a:endParaRPr>
          </a:p>
        </p:txBody>
      </p:sp>
      <p:sp>
        <p:nvSpPr>
          <p:cNvPr id="13" name="TextBox 12">
            <a:extLst>
              <a:ext uri="{FF2B5EF4-FFF2-40B4-BE49-F238E27FC236}">
                <a16:creationId xmlns:a16="http://schemas.microsoft.com/office/drawing/2014/main" id="{6DCA7219-8CE4-279C-0139-2BF7709CAC56}"/>
              </a:ext>
            </a:extLst>
          </p:cNvPr>
          <p:cNvSpPr txBox="1"/>
          <p:nvPr/>
        </p:nvSpPr>
        <p:spPr>
          <a:xfrm>
            <a:off x="173754" y="1078920"/>
            <a:ext cx="9603782" cy="278711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 learned model matches a hand-crafted model in the source environment, yet </a:t>
            </a:r>
            <a:r>
              <a:rPr lang="en-US" altLang="ko-KR" sz="1100" u="sng" dirty="0">
                <a:latin typeface="Arial" panose="020B0604020202020204" pitchFamily="34" charset="0"/>
                <a:ea typeface="Arial" panose="020B0604020202020204" pitchFamily="34" charset="0"/>
                <a:cs typeface="Arial" panose="020B0604020202020204" pitchFamily="34" charset="0"/>
              </a:rPr>
              <a:t>degrades far more severely than the hand-crafted model when the objective or the environment shifts even slightly</a:t>
            </a:r>
            <a:r>
              <a:rPr lang="en-US" altLang="ko-KR" sz="1100" dirty="0">
                <a:latin typeface="Arial" panose="020B0604020202020204" pitchFamily="34" charset="0"/>
                <a:ea typeface="Arial" panose="020B0604020202020204" pitchFamily="34" charset="0"/>
                <a:cs typeface="Arial" panose="020B0604020202020204" pitchFamily="34" charset="0"/>
              </a:rPr>
              <a:t> between source and target (left figure)</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Such shifts occur after deployment as changes in the application objective (the definition of quality of experience, or QoE) or the execution environment (network condition, demand pattern, market rule); the hand-crafted model degrades gracefully but requires manual re-tuning for each condition, whereas the learned model needs data collection and retraining for each condition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Goal</a:t>
            </a:r>
            <a:r>
              <a:rPr lang="en-US" altLang="ko-KR" sz="1100" dirty="0">
                <a:latin typeface="Arial" panose="020B0604020202020204" pitchFamily="34" charset="0"/>
                <a:ea typeface="Arial" panose="020B0604020202020204" pitchFamily="34" charset="0"/>
                <a:cs typeface="Arial" panose="020B0604020202020204" pitchFamily="34" charset="0"/>
              </a:rPr>
              <a:t> — Closed-loop control that combines the robustness of the hand-crafted model with the performance of the learned model and, when the objective or the environment shifts after deployment, </a:t>
            </a:r>
            <a:r>
              <a:rPr lang="en-US" altLang="ko-KR" sz="1100" u="sng" dirty="0">
                <a:latin typeface="Arial" panose="020B0604020202020204" pitchFamily="34" charset="0"/>
                <a:ea typeface="Arial" panose="020B0604020202020204" pitchFamily="34" charset="0"/>
                <a:cs typeface="Arial" panose="020B0604020202020204" pitchFamily="34" charset="0"/>
              </a:rPr>
              <a:t>adapts from a small amount of data without retraining the deployed policy</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①	</a:t>
            </a:r>
            <a:r>
              <a:rPr lang="en-US" altLang="ko-KR" sz="1100" b="1" dirty="0">
                <a:latin typeface="Arial" panose="020B0604020202020204" pitchFamily="34" charset="0"/>
                <a:ea typeface="Arial" panose="020B0604020202020204" pitchFamily="34" charset="0"/>
                <a:cs typeface="Arial" panose="020B0604020202020204" pitchFamily="34" charset="0"/>
              </a:rPr>
              <a:t>Reinforcement Learning</a:t>
            </a:r>
            <a:r>
              <a:rPr lang="en-US" altLang="ko-KR" sz="1100" dirty="0">
                <a:latin typeface="Arial" panose="020B0604020202020204" pitchFamily="34" charset="0"/>
                <a:ea typeface="Arial" panose="020B0604020202020204" pitchFamily="34" charset="0"/>
                <a:cs typeface="Arial" panose="020B0604020202020204" pitchFamily="34" charset="0"/>
              </a:rPr>
              <a:t> — RL policies for resource management and cloud robotics: a meta-RL rate controller and a bandwidth-allocation policy that transfer to new objectives and environments with little or no retraining (XferQoE · Repot), and a SAC dispatch policy for V2G fleets (AgentV2G), with the same rate controller also serving off-board robot foundation models (page 6)</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②	</a:t>
            </a:r>
            <a:r>
              <a:rPr lang="en-US" altLang="ko-KR" sz="1100" b="1" dirty="0">
                <a:latin typeface="Arial" panose="020B0604020202020204" pitchFamily="34" charset="0"/>
                <a:ea typeface="Arial" panose="020B0604020202020204" pitchFamily="34" charset="0"/>
                <a:cs typeface="Arial" panose="020B0604020202020204" pitchFamily="34" charset="0"/>
              </a:rPr>
              <a:t>Agentic AI</a:t>
            </a:r>
            <a:r>
              <a:rPr lang="en-US" altLang="ko-KR" sz="1100" dirty="0">
                <a:latin typeface="Arial" panose="020B0604020202020204" pitchFamily="34" charset="0"/>
                <a:ea typeface="Arial" panose="020B0604020202020204" pitchFamily="34" charset="0"/>
                <a:cs typeface="Arial" panose="020B0604020202020204" pitchFamily="34" charset="0"/>
              </a:rPr>
              <a:t> — AgentV2G uses LLM agents to turn market rules into solver-ready objectives and constraints for V2G operation; LDuS uses an LLM to turn user requirements into executable loss-function code and validate code and trajectories in a feedback loop for skill adaptation</a:t>
            </a:r>
          </a:p>
          <a:p>
            <a:pPr marL="685800" lvl="1" indent="-228600" algn="just">
              <a:lnSpc>
                <a:spcPct val="110000"/>
              </a:lnSpc>
              <a:buNone/>
              <a:tabLst>
                <a:tab pos="685800" algn="l"/>
              </a:tabLst>
            </a:pPr>
            <a:r>
              <a:rPr lang="en-US" altLang="ko-KR" sz="1100" b="1" dirty="0">
                <a:latin typeface="Arial" panose="020B0604020202020204" pitchFamily="34" charset="0"/>
                <a:ea typeface="Arial Unicode MS" pitchFamily="50" charset="-127"/>
                <a:cs typeface="Arial" panose="020B0604020202020204" pitchFamily="34" charset="0"/>
              </a:rPr>
              <a:t>③	</a:t>
            </a:r>
            <a:r>
              <a:rPr lang="en-US" altLang="ko-KR" sz="1100" b="1" dirty="0">
                <a:latin typeface="Arial" panose="020B0604020202020204" pitchFamily="34" charset="0"/>
                <a:ea typeface="Arial" panose="020B0604020202020204" pitchFamily="34" charset="0"/>
                <a:cs typeface="Arial" panose="020B0604020202020204" pitchFamily="34" charset="0"/>
              </a:rPr>
              <a:t>Systems Engineering</a:t>
            </a:r>
            <a:r>
              <a:rPr lang="en-US" altLang="ko-KR" sz="1100" dirty="0">
                <a:latin typeface="Arial" panose="020B0604020202020204" pitchFamily="34" charset="0"/>
                <a:ea typeface="Arial" panose="020B0604020202020204" pitchFamily="34" charset="0"/>
                <a:cs typeface="Arial" panose="020B0604020202020204" pitchFamily="34" charset="0"/>
              </a:rPr>
              <a:t> — The two approaches are implemented and validated on purpose-built simulators, surrogate models, and testbeds; five systems built with the same engineering were delivered to Samsung Electronics ×2, Polaris AI, Acryl, and ADD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Representative system</a:t>
            </a:r>
            <a:r>
              <a:rPr lang="en-US" altLang="ko-KR" sz="1100" dirty="0">
                <a:latin typeface="Arial" panose="020B0604020202020204" pitchFamily="34" charset="0"/>
                <a:ea typeface="Arial" panose="020B0604020202020204" pitchFamily="34" charset="0"/>
                <a:cs typeface="Arial" panose="020B0604020202020204" pitchFamily="34" charset="0"/>
              </a:rPr>
              <a:t> — QoE-driven control loop (right figure): RL-based rate controller → network link → application QoE feedback</a:t>
            </a:r>
          </a:p>
        </p:txBody>
      </p:sp>
      <p:grpSp>
        <p:nvGrpSpPr>
          <p:cNvPr id="15" name="그룹 14">
            <a:extLst>
              <a:ext uri="{FF2B5EF4-FFF2-40B4-BE49-F238E27FC236}">
                <a16:creationId xmlns:a16="http://schemas.microsoft.com/office/drawing/2014/main" id="{5C492CE9-5DA0-0BAC-732E-962AEDA3455D}"/>
              </a:ext>
            </a:extLst>
          </p:cNvPr>
          <p:cNvGrpSpPr/>
          <p:nvPr/>
        </p:nvGrpSpPr>
        <p:grpSpPr>
          <a:xfrm>
            <a:off x="655662" y="4136176"/>
            <a:ext cx="2878039" cy="2263092"/>
            <a:chOff x="562793" y="3910513"/>
            <a:chExt cx="3096343" cy="2568791"/>
          </a:xfrm>
        </p:grpSpPr>
        <p:pic>
          <p:nvPicPr>
            <p:cNvPr id="3" name="Picture 4">
              <a:extLst>
                <a:ext uri="{FF2B5EF4-FFF2-40B4-BE49-F238E27FC236}">
                  <a16:creationId xmlns:a16="http://schemas.microsoft.com/office/drawing/2014/main" id="{3A6B67E8-0AFD-77B8-F234-5BB09EC354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793" y="3910513"/>
              <a:ext cx="3022055" cy="23533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TextBox 9">
              <a:extLst>
                <a:ext uri="{FF2B5EF4-FFF2-40B4-BE49-F238E27FC236}">
                  <a16:creationId xmlns:a16="http://schemas.microsoft.com/office/drawing/2014/main" id="{2C6AFB8F-C75D-6777-9F31-F61AD9201371}"/>
                </a:ext>
              </a:extLst>
            </p:cNvPr>
            <p:cNvSpPr txBox="1"/>
            <p:nvPr/>
          </p:nvSpPr>
          <p:spPr>
            <a:xfrm>
              <a:off x="2326739" y="6048417"/>
              <a:ext cx="1332397" cy="430887"/>
            </a:xfrm>
            <a:prstGeom prst="rect">
              <a:avLst/>
            </a:prstGeom>
            <a:solidFill>
              <a:schemeClr val="bg1"/>
            </a:solidFill>
          </p:spPr>
          <p:txBody>
            <a:bodyPr wrap="square" lIns="0" tIns="0" rIns="0" bIns="0"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Learning-based model</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4" name="TextBox 13">
              <a:extLst>
                <a:ext uri="{FF2B5EF4-FFF2-40B4-BE49-F238E27FC236}">
                  <a16:creationId xmlns:a16="http://schemas.microsoft.com/office/drawing/2014/main" id="{7D716562-C1DF-AAEF-C60C-87DF63835EA9}"/>
                </a:ext>
              </a:extLst>
            </p:cNvPr>
            <p:cNvSpPr txBox="1"/>
            <p:nvPr/>
          </p:nvSpPr>
          <p:spPr>
            <a:xfrm>
              <a:off x="1012758" y="6048417"/>
              <a:ext cx="1194553" cy="419222"/>
            </a:xfrm>
            <a:prstGeom prst="rect">
              <a:avLst/>
            </a:prstGeom>
            <a:solidFill>
              <a:schemeClr val="bg1"/>
            </a:solidFill>
          </p:spPr>
          <p:txBody>
            <a:bodyPr wrap="square" lIns="0" tIns="0" rIns="0" bIns="0"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Hand-crafted model</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grpSp>
      <p:sp>
        <p:nvSpPr>
          <p:cNvPr id="23" name="TextBox 22">
            <a:extLst>
              <a:ext uri="{FF2B5EF4-FFF2-40B4-BE49-F238E27FC236}">
                <a16:creationId xmlns:a16="http://schemas.microsoft.com/office/drawing/2014/main" id="{74DB80FC-C920-8765-B81F-CD343BDDBA8E}"/>
              </a:ext>
            </a:extLst>
          </p:cNvPr>
          <p:cNvSpPr txBox="1"/>
          <p:nvPr/>
        </p:nvSpPr>
        <p:spPr>
          <a:xfrm>
            <a:off x="733871" y="6388991"/>
            <a:ext cx="2973389"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Motivating measurement </a:t>
            </a:r>
            <a:r>
              <a:rPr lang="en-US" altLang="ko-KR" sz="1100" b="1" dirty="0">
                <a:latin typeface="Arial" panose="020B0604020202020204" pitchFamily="34" charset="0"/>
                <a:ea typeface="Arial" panose="020B0604020202020204" pitchFamily="34" charset="0"/>
                <a:cs typeface="Arial" panose="020B0604020202020204" pitchFamily="34" charset="0"/>
              </a:rPr>
              <a:t>(Repot)</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Tree>
    <p:extLst>
      <p:ext uri="{BB962C8B-B14F-4D97-AF65-F5344CB8AC3E}">
        <p14:creationId xmlns:p14="http://schemas.microsoft.com/office/powerpoint/2010/main" val="710811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4</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560269"/>
            <a:ext cx="9733346" cy="384721"/>
          </a:xfrm>
          <a:prstGeom prst="rect">
            <a:avLst/>
          </a:prstGeom>
          <a:noFill/>
        </p:spPr>
        <p:txBody>
          <a:bodyPr wrap="square" rtlCol="0">
            <a:spAutoFit/>
          </a:bodyPr>
          <a:lstStyle/>
          <a:p>
            <a:r>
              <a:rPr lang="en-US" altLang="ko-KR" sz="1900" b="1" dirty="0">
                <a:solidFill>
                  <a:srgbClr val="0070C0"/>
                </a:solidFill>
                <a:latin typeface="Arial" panose="020B0604020202020204" pitchFamily="34" charset="0"/>
                <a:ea typeface="Arial" panose="020B0604020202020204" pitchFamily="34" charset="0"/>
                <a:cs typeface="Arial" panose="020B0604020202020204" pitchFamily="34" charset="0"/>
              </a:rPr>
              <a:t>[Meta-RL, Transformer]</a:t>
            </a:r>
            <a:r>
              <a:rPr lang="en-US" altLang="ko-KR" sz="1900" b="1" dirty="0">
                <a:latin typeface="Arial" panose="020B0604020202020204" pitchFamily="34" charset="0"/>
                <a:ea typeface="Arial" panose="020B0604020202020204" pitchFamily="34" charset="0"/>
                <a:cs typeface="Arial" panose="020B0604020202020204" pitchFamily="34" charset="0"/>
              </a:rPr>
              <a:t> </a:t>
            </a:r>
            <a:r>
              <a:rPr lang="en-US" altLang="ko-KR" sz="1900" b="1" dirty="0" err="1">
                <a:latin typeface="Arial" panose="020B0604020202020204" pitchFamily="34" charset="0"/>
                <a:ea typeface="Arial" panose="020B0604020202020204" pitchFamily="34" charset="0"/>
                <a:cs typeface="Arial" panose="020B0604020202020204" pitchFamily="34" charset="0"/>
              </a:rPr>
              <a:t>XferQoE</a:t>
            </a:r>
            <a:r>
              <a:rPr lang="en-US" altLang="ko-KR" sz="1900" b="1" dirty="0">
                <a:latin typeface="Arial" panose="020B0604020202020204" pitchFamily="34" charset="0"/>
                <a:ea typeface="Arial" panose="020B0604020202020204" pitchFamily="34" charset="0"/>
                <a:cs typeface="Arial" panose="020B0604020202020204" pitchFamily="34" charset="0"/>
              </a:rPr>
              <a:t> — QoS-Pretrained Rate Control for Model Serving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87090" y="997980"/>
            <a:ext cx="9603782" cy="3686074"/>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2024–2026 · IEEE IoT Journal (first author, under review) · Physical-AI Core-Technology PoC, MSIT (Ministry of Science and ICT) / NIPA (National IT Industry Promotion Agency), 2025</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(full cover) problem definition, algorithm design, implementation, experiments, testbed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A cloud robot streams observation frames over a wireless link to an edge server that runs the manipulation policy, so the served model receives only the frames the link can carry. On a limited link the highest frame quality is not the highest </a:t>
            </a:r>
            <a:r>
              <a:rPr lang="en-US" altLang="ko-KR" sz="1100" dirty="0" err="1">
                <a:latin typeface="Arial" panose="020B0604020202020204" pitchFamily="34" charset="0"/>
                <a:ea typeface="Arial" panose="020B0604020202020204" pitchFamily="34" charset="0"/>
                <a:cs typeface="Arial" panose="020B0604020202020204" pitchFamily="34" charset="0"/>
              </a:rPr>
              <a:t>QoE</a:t>
            </a:r>
            <a:r>
              <a:rPr lang="en-US" altLang="ko-KR" sz="1100" dirty="0">
                <a:latin typeface="Arial" panose="020B0604020202020204" pitchFamily="34" charset="0"/>
                <a:ea typeface="Arial" panose="020B0604020202020204" pitchFamily="34" charset="0"/>
                <a:cs typeface="Arial" panose="020B0604020202020204" pitchFamily="34" charset="0"/>
              </a:rPr>
              <a:t> (quality of experience), because quality gained at the cost of timeliness deprives the control loop of up-to-date observations. </a:t>
            </a:r>
            <a:r>
              <a:rPr lang="en-US" altLang="ko-KR" sz="1100" u="sng" dirty="0">
                <a:latin typeface="Arial" panose="020B0604020202020204" pitchFamily="34" charset="0"/>
                <a:ea typeface="Arial" panose="020B0604020202020204" pitchFamily="34" charset="0"/>
                <a:cs typeface="Arial" panose="020B0604020202020204" pitchFamily="34" charset="0"/>
              </a:rPr>
              <a:t>The best stream differs per deployment and the served model (e.g., a robot foundation model, an LLM, or a recognition model) cannot be fine-tuned for each, so </a:t>
            </a:r>
            <a:r>
              <a:rPr lang="en-US" altLang="ko-KR" sz="1100" u="sng" dirty="0" err="1">
                <a:latin typeface="Arial" panose="020B0604020202020204" pitchFamily="34" charset="0"/>
                <a:ea typeface="Arial" panose="020B0604020202020204" pitchFamily="34" charset="0"/>
                <a:cs typeface="Arial" panose="020B0604020202020204" pitchFamily="34" charset="0"/>
              </a:rPr>
              <a:t>XferQoE</a:t>
            </a:r>
            <a:r>
              <a:rPr lang="en-US" altLang="ko-KR" sz="1100" u="sng" dirty="0">
                <a:latin typeface="Arial" panose="020B0604020202020204" pitchFamily="34" charset="0"/>
                <a:ea typeface="Arial" panose="020B0604020202020204" pitchFamily="34" charset="0"/>
                <a:cs typeface="Arial" panose="020B0604020202020204" pitchFamily="34" charset="0"/>
              </a:rPr>
              <a:t> leaves the model untouched and controls the sending rate, and with it the quality, of the remotely sourced input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Each application weighs the QoS (quality of service) factors (timeliness, throughput, smoothness) in its own way, and its QoE is observable only through the complete network-to-application stack, so </a:t>
            </a:r>
            <a:r>
              <a:rPr lang="en-US" altLang="ko-KR" sz="1100" u="sng" dirty="0">
                <a:latin typeface="Arial" panose="020B0604020202020204" pitchFamily="34" charset="0"/>
                <a:ea typeface="Arial" panose="020B0604020202020204" pitchFamily="34" charset="0"/>
                <a:cs typeface="Arial" panose="020B0604020202020204" pitchFamily="34" charset="0"/>
              </a:rPr>
              <a:t>training a controller per application incurs both costs again: the per-application objective design and the full-stack QoE collection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Meta-RL (meta-reinforcement learning) in two stages: ① one rate controller is meta-pretrained on QoS objectives alone in S-Sim (Simplified Simulator), each episode sampling a task over two axes, the bandwidth dynamics (condition) and the objective weight w (trade-off), so the policy learns to infer the condition from recent history instead of being retrained for it; ② the policy is then frozen and only w is fitted from a few adaptation episodes of QoE feedback on each downstream application, with no gradient update (left figure)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SAC (soft actor–critic) with one module per meta-training axis: a regime–context encoder (a bidirectional Transformer with mean pooling → regime latent; a per-patch 1-D CNN with a cross-attention readout → step latent, 8-dim each) and factor critics (one Q-head per QoS factor, ensemble of 3) that compose the value linearly under w. The actor reads the state, both latents, and w (policy ≈ 0.3 MB, encoder ≤ 3.5 MB)</a:t>
            </a:r>
          </a:p>
        </p:txBody>
      </p:sp>
      <p:pic>
        <p:nvPicPr>
          <p:cNvPr id="22" name="Picture 21" descr="image.png"/>
          <p:cNvPicPr>
            <a:picLocks noChangeAspect="1"/>
          </p:cNvPicPr>
          <p:nvPr/>
        </p:nvPicPr>
        <p:blipFill>
          <a:blip r:embed="rId2"/>
          <a:stretch>
            <a:fillRect/>
          </a:stretch>
        </p:blipFill>
        <p:spPr>
          <a:xfrm>
            <a:off x="357028" y="4737038"/>
            <a:ext cx="4435224" cy="1883218"/>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875585" y="6620256"/>
            <a:ext cx="3114254"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QoS pretraining → QoE adaptation</a:t>
            </a:r>
          </a:p>
        </p:txBody>
      </p:sp>
      <p:pic>
        <p:nvPicPr>
          <p:cNvPr id="39" name="Picture 38" descr="Adapted QoE against adaptation episodes on S-Sim (IoT-J Fig. 5)"/>
          <p:cNvPicPr>
            <a:picLocks noChangeAspect="1"/>
          </p:cNvPicPr>
          <p:nvPr/>
        </p:nvPicPr>
        <p:blipFill>
          <a:blip r:embed="rId3"/>
          <a:stretch>
            <a:fillRect/>
          </a:stretch>
        </p:blipFill>
        <p:spPr>
          <a:xfrm>
            <a:off x="5084064" y="4869161"/>
            <a:ext cx="4544568" cy="1545413"/>
          </a:xfrm>
          <a:prstGeom prst="rect">
            <a:avLst/>
          </a:prstGeom>
        </p:spPr>
      </p:pic>
      <p:sp>
        <p:nvSpPr>
          <p:cNvPr id="206" name="TextBox 37">
            <a:extLst>
              <a:ext uri="{FF2B5EF4-FFF2-40B4-BE49-F238E27FC236}">
                <a16:creationId xmlns:a16="http://schemas.microsoft.com/office/drawing/2014/main" id="{11906725-6016-9804-F9D6-E352B4CAE8CD}"/>
              </a:ext>
            </a:extLst>
          </p:cNvPr>
          <p:cNvSpPr txBox="1"/>
          <p:nvPr/>
        </p:nvSpPr>
        <p:spPr>
          <a:xfrm>
            <a:off x="4919472" y="6451150"/>
            <a:ext cx="4855464"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Adapted QoE against adaptation episodes on S-Sim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5</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9520" y="467380"/>
            <a:ext cx="991552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[Sim2Real]</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sz="1600" b="1" dirty="0" err="1">
                <a:latin typeface="Arial" panose="020B0604020202020204" pitchFamily="34" charset="0"/>
                <a:ea typeface="Arial" panose="020B0604020202020204" pitchFamily="34" charset="0"/>
                <a:cs typeface="Arial" panose="020B0604020202020204" pitchFamily="34" charset="0"/>
              </a:rPr>
              <a:t>XferQoE</a:t>
            </a:r>
            <a:r>
              <a:rPr lang="en-US" altLang="ko-KR" sz="1600" b="1" dirty="0">
                <a:latin typeface="Arial" panose="020B0604020202020204" pitchFamily="34" charset="0"/>
                <a:ea typeface="Arial" panose="020B0604020202020204" pitchFamily="34" charset="0"/>
                <a:cs typeface="Arial" panose="020B0604020202020204" pitchFamily="34" charset="0"/>
              </a:rPr>
              <a:t> </a:t>
            </a:r>
            <a:r>
              <a:rPr lang="en-US" altLang="ko-KR" b="1" dirty="0">
                <a:latin typeface="Arial" panose="020B0604020202020204" pitchFamily="34" charset="0"/>
                <a:ea typeface="Arial" panose="020B0604020202020204" pitchFamily="34" charset="0"/>
                <a:cs typeface="Arial" panose="020B0604020202020204" pitchFamily="34" charset="0"/>
              </a:rPr>
              <a:t>— Frozen Rate Controller on a Real Wi-Fi Link with a Simulated Robot</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2470248"/>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The edge server runs the manipulation policy and the rate controller, and only observations cross the wireless link. </a:t>
            </a:r>
            <a:r>
              <a:rPr lang="en-US" altLang="ko-KR" sz="1100" u="sng" dirty="0">
                <a:latin typeface="Arial" panose="020B0604020202020204" pitchFamily="34" charset="0"/>
                <a:ea typeface="Arial" panose="020B0604020202020204" pitchFamily="34" charset="0"/>
                <a:cs typeface="Arial" panose="020B0604020202020204" pitchFamily="34" charset="0"/>
              </a:rPr>
              <a:t>The Sim2Real target is therefore the network side, while the robot runs in ManiSkill3 (SAPIEN, learned policy) and Meta-World (MuJoCo, scripted policy) simulation and its task QoE (quality of experience) is defined from manipulation success, control continuity, and completion efficiency</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Built</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The NiL (network-in-the-loop) testbed: one Raspberry Pi 4 sender for robot control or up to 16 for monitoring on a real 802.11ac link via an access point to the edge server</a:t>
            </a:r>
            <a:r>
              <a:rPr lang="en-US" altLang="ko-KR" sz="1100" dirty="0">
                <a:latin typeface="Arial" panose="020B0604020202020204" pitchFamily="34" charset="0"/>
                <a:ea typeface="Arial" panose="020B0604020202020204" pitchFamily="34" charset="0"/>
                <a:cs typeface="Arial" panose="020B0604020202020204" pitchFamily="34" charset="0"/>
              </a:rPr>
              <a:t>. C/C++ daemons implement episode-level clock synchronization. A sender-side queue model and frame-deadline expiry accounting track traffic; the receiver reconstructs queue growth, dropped bytes, and frame lateness from sender-stamped packet headers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Validation path</a:t>
            </a:r>
            <a:r>
              <a:rPr lang="en-US" altLang="ko-KR" sz="1100" dirty="0">
                <a:latin typeface="Arial" panose="020B0604020202020204" pitchFamily="34" charset="0"/>
                <a:ea typeface="Arial" panose="020B0604020202020204" pitchFamily="34" charset="0"/>
                <a:cs typeface="Arial" panose="020B0604020202020204" pitchFamily="34" charset="0"/>
              </a:rPr>
              <a:t> — Three network environments of increasing fidelity replay the Puffer bandwidth trace (the hardest to predict of the eight traces) behind one state-input, rate-output interface shared by all three: packet-level C++ S-Sim → full-stack NS-3, the NiL testbed, a real Raspberry Pi 4 with its OS stack and packet timing. </a:t>
            </a:r>
            <a:r>
              <a:rPr lang="en-US" altLang="ko-KR" sz="1100" u="sng" dirty="0">
                <a:latin typeface="Arial" panose="020B0604020202020204" pitchFamily="34" charset="0"/>
                <a:ea typeface="Arial" panose="020B0604020202020204" pitchFamily="34" charset="0"/>
                <a:cs typeface="Arial" panose="020B0604020202020204" pitchFamily="34" charset="0"/>
              </a:rPr>
              <a:t>The same frozen rate controller runs on all three with its parameters unchanged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On the link, only the objective weights are refit while the rate controller stays frozen. XferQoE has the highest QoE in all three real-link evaluations (Meta-World, ManiSkill3, YOLO11 monitoring). ManiSkill3 QoE is 0.439 vs. 0.367 for the per-application hand-crafted controller (success rate 67.8% vs. 64.7%, table). STEER, GLOBEX, and STEER+XferQoE's WF are learning-based rate controllers</a:t>
            </a:r>
          </a:p>
        </p:txBody>
      </p:sp>
      <p:pic>
        <p:nvPicPr>
          <p:cNvPr id="22" name="Picture 21" descr="image.png"/>
          <p:cNvPicPr>
            <a:picLocks noChangeAspect="1"/>
          </p:cNvPicPr>
          <p:nvPr/>
        </p:nvPicPr>
        <p:blipFill>
          <a:blip r:embed="rId4"/>
          <a:stretch>
            <a:fillRect/>
          </a:stretch>
        </p:blipFill>
        <p:spPr>
          <a:xfrm>
            <a:off x="4901184" y="3466490"/>
            <a:ext cx="4572000" cy="923544"/>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4901184" y="4430034"/>
            <a:ext cx="45720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NiL testbed: Raspberry Pi 4 senders, Wi-Fi AP, edge server</a:t>
            </a:r>
          </a:p>
        </p:txBody>
      </p:sp>
      <p:sp>
        <p:nvSpPr>
          <p:cNvPr id="39" name="TableCaption"/>
          <p:cNvSpPr txBox="1"/>
          <p:nvPr/>
        </p:nvSpPr>
        <p:spPr>
          <a:xfrm>
            <a:off x="4096512" y="4719218"/>
            <a:ext cx="5650992" cy="152349"/>
          </a:xfrm>
          <a:prstGeom prst="rect">
            <a:avLst/>
          </a:prstGeom>
          <a:noFill/>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Real-link ManiSkill3 PokeCube (HC = hand-crafted, WF = objective-weight fit)</a:t>
            </a:r>
          </a:p>
        </p:txBody>
      </p:sp>
      <p:graphicFrame>
        <p:nvGraphicFramePr>
          <p:cNvPr id="40" name="Table 39"/>
          <p:cNvGraphicFramePr>
            <a:graphicFrameLocks noGrp="1"/>
          </p:cNvGraphicFramePr>
          <p:nvPr/>
        </p:nvGraphicFramePr>
        <p:xfrm>
          <a:off x="4096512" y="4911567"/>
          <a:ext cx="5650992" cy="1733169"/>
        </p:xfrm>
        <a:graphic>
          <a:graphicData uri="http://schemas.openxmlformats.org/drawingml/2006/table">
            <a:tbl>
              <a:tblPr>
                <a:tableStyleId>{5C22544A-7EE6-4342-B048-85BDC9FD1C3A}</a:tableStyleId>
              </a:tblPr>
              <a:tblGrid>
                <a:gridCol w="794108">
                  <a:extLst>
                    <a:ext uri="{9D8B030D-6E8A-4147-A177-3AD203B41FA5}">
                      <a16:colId xmlns:a16="http://schemas.microsoft.com/office/drawing/2014/main" val="20000"/>
                    </a:ext>
                  </a:extLst>
                </a:gridCol>
                <a:gridCol w="528584">
                  <a:extLst>
                    <a:ext uri="{9D8B030D-6E8A-4147-A177-3AD203B41FA5}">
                      <a16:colId xmlns:a16="http://schemas.microsoft.com/office/drawing/2014/main" val="20001"/>
                    </a:ext>
                  </a:extLst>
                </a:gridCol>
                <a:gridCol w="673570">
                  <a:extLst>
                    <a:ext uri="{9D8B030D-6E8A-4147-A177-3AD203B41FA5}">
                      <a16:colId xmlns:a16="http://schemas.microsoft.com/office/drawing/2014/main" val="20002"/>
                    </a:ext>
                  </a:extLst>
                </a:gridCol>
                <a:gridCol w="588088">
                  <a:extLst>
                    <a:ext uri="{9D8B030D-6E8A-4147-A177-3AD203B41FA5}">
                      <a16:colId xmlns:a16="http://schemas.microsoft.com/office/drawing/2014/main" val="20003"/>
                    </a:ext>
                  </a:extLst>
                </a:gridCol>
                <a:gridCol w="786627">
                  <a:extLst>
                    <a:ext uri="{9D8B030D-6E8A-4147-A177-3AD203B41FA5}">
                      <a16:colId xmlns:a16="http://schemas.microsoft.com/office/drawing/2014/main" val="20004"/>
                    </a:ext>
                  </a:extLst>
                </a:gridCol>
                <a:gridCol w="758612">
                  <a:extLst>
                    <a:ext uri="{9D8B030D-6E8A-4147-A177-3AD203B41FA5}">
                      <a16:colId xmlns:a16="http://schemas.microsoft.com/office/drawing/2014/main" val="20005"/>
                    </a:ext>
                  </a:extLst>
                </a:gridCol>
                <a:gridCol w="663707">
                  <a:extLst>
                    <a:ext uri="{9D8B030D-6E8A-4147-A177-3AD203B41FA5}">
                      <a16:colId xmlns:a16="http://schemas.microsoft.com/office/drawing/2014/main" val="20006"/>
                    </a:ext>
                  </a:extLst>
                </a:gridCol>
                <a:gridCol w="857696">
                  <a:extLst>
                    <a:ext uri="{9D8B030D-6E8A-4147-A177-3AD203B41FA5}">
                      <a16:colId xmlns:a16="http://schemas.microsoft.com/office/drawing/2014/main" val="20007"/>
                    </a:ext>
                  </a:extLst>
                </a:gridCol>
              </a:tblGrid>
              <a:tr h="539877">
                <a:tc>
                  <a:txBody>
                    <a:bodyPr/>
                    <a:lstStyle/>
                    <a:p>
                      <a:pPr algn="ctr"/>
                      <a:r>
                        <a:rPr lang="ko-KR" sz="950" b="1">
                          <a:latin typeface="Arial" panose="020B0604020202020204" pitchFamily="34" charset="0"/>
                          <a:cs typeface="Arial" panose="020B0604020202020204" pitchFamily="34" charset="0"/>
                        </a:rPr>
                        <a:t>Method</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QoE</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Success Rate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Frame Quality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Control Continuity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Efficiency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Working Time (s)</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Completion Time (s)</a:t>
                      </a:r>
                    </a:p>
                  </a:txBody>
                  <a:tcPr marL="45720" marR="45720" marT="27432" marB="27432" anchor="ctr">
                    <a:lnB w="9525" cap="flat" cmpd="sng" algn="ctr">
                      <a:solidFill>
                        <a:srgbClr val="BFBFBF"/>
                      </a:solidFill>
                    </a:lnB>
                    <a:solidFill>
                      <a:srgbClr val="EEF1F6"/>
                    </a:solidFill>
                  </a:tcPr>
                </a:tc>
                <a:extLst>
                  <a:ext uri="{0D108BD9-81ED-4DB2-BD59-A6C34878D82A}">
                    <a16:rowId xmlns:a16="http://schemas.microsoft.com/office/drawing/2014/main" val="10000"/>
                  </a:ext>
                </a:extLst>
              </a:tr>
              <a:tr h="208026">
                <a:tc>
                  <a:txBody>
                    <a:bodyPr/>
                    <a:lstStyle/>
                    <a:p>
                      <a:pPr algn="ctr"/>
                      <a:r>
                        <a:rPr lang="ko-KR" sz="900">
                          <a:latin typeface="Arial" panose="020B0604020202020204" pitchFamily="34" charset="0"/>
                          <a:cs typeface="Arial" panose="020B0604020202020204" pitchFamily="34" charset="0"/>
                        </a:rPr>
                        <a:t>XferQoE</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0.439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67.8</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27.3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88.5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81.4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10.1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1"/>
                  </a:ext>
                </a:extLst>
              </a:tr>
              <a:tr h="361188">
                <a:tc>
                  <a:txBody>
                    <a:bodyPr/>
                    <a:lstStyle/>
                    <a:p>
                      <a:pPr algn="ctr"/>
                      <a:r>
                        <a:rPr lang="ko-KR" sz="900">
                          <a:latin typeface="Arial" panose="020B0604020202020204" pitchFamily="34" charset="0"/>
                          <a:cs typeface="Arial" panose="020B0604020202020204" pitchFamily="34" charset="0"/>
                        </a:rPr>
                        <a:t>STEER+</a:t>
                      </a:r>
                      <a:br>
                        <a:rPr lang="ko-KR" sz="900">
                          <a:latin typeface="Arial" panose="020B0604020202020204" pitchFamily="34" charset="0"/>
                          <a:cs typeface="Arial" panose="020B0604020202020204" pitchFamily="34" charset="0"/>
                        </a:rPr>
                      </a:br>
                      <a:r>
                        <a:rPr lang="ko-KR" sz="900">
                          <a:latin typeface="Arial" panose="020B0604020202020204" pitchFamily="34" charset="0"/>
                          <a:cs typeface="Arial" panose="020B0604020202020204" pitchFamily="34" charset="0"/>
                        </a:rPr>
                        <a:t>XferQoE's WF</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−0.060</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49.7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37.9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59.5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87.2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13.6</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5"/>
                  </a:ext>
                </a:extLst>
              </a:tr>
              <a:tr h="208026">
                <a:tc>
                  <a:txBody>
                    <a:bodyPr/>
                    <a:lstStyle/>
                    <a:p>
                      <a:pPr algn="ctr"/>
                      <a:r>
                        <a:rPr lang="ko-KR" sz="900">
                          <a:latin typeface="Arial" panose="020B0604020202020204" pitchFamily="34" charset="0"/>
                          <a:cs typeface="Arial" panose="020B0604020202020204" pitchFamily="34" charset="0"/>
                        </a:rPr>
                        <a:t>STEER</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0.003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54.2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37.5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59.1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86.6</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14.5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2"/>
                  </a:ext>
                </a:extLst>
              </a:tr>
              <a:tr h="208026">
                <a:tc>
                  <a:txBody>
                    <a:bodyPr/>
                    <a:lstStyle/>
                    <a:p>
                      <a:pPr algn="ctr"/>
                      <a:r>
                        <a:rPr lang="ko-KR" sz="900">
                          <a:latin typeface="Arial" panose="020B0604020202020204" pitchFamily="34" charset="0"/>
                          <a:cs typeface="Arial" panose="020B0604020202020204" pitchFamily="34" charset="0"/>
                        </a:rPr>
                        <a:t>GLOBEX</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0.203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60.7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33.4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74.0</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85.4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11.1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3"/>
                  </a:ext>
                </a:extLst>
              </a:tr>
              <a:tr h="208026">
                <a:tc>
                  <a:txBody>
                    <a:bodyPr/>
                    <a:lstStyle/>
                    <a:p>
                      <a:pPr algn="ctr"/>
                      <a:r>
                        <a:rPr lang="ko-KR" sz="900">
                          <a:latin typeface="Arial" panose="020B0604020202020204" pitchFamily="34" charset="0"/>
                          <a:cs typeface="Arial" panose="020B0604020202020204" pitchFamily="34" charset="0"/>
                        </a:rPr>
                        <a:t>Per-app HC</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0.367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64.7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25.7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86.7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80.8</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9.4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207" name="TextBox 37">
            <a:extLst>
              <a:ext uri="{FF2B5EF4-FFF2-40B4-BE49-F238E27FC236}">
                <a16:creationId xmlns:a16="http://schemas.microsoft.com/office/drawing/2014/main" id="{11906725-6016-9804-F9D6-E352B4CAE8CD}"/>
              </a:ext>
            </a:extLst>
          </p:cNvPr>
          <p:cNvSpPr txBox="1"/>
          <p:nvPr/>
        </p:nvSpPr>
        <p:spPr>
          <a:xfrm>
            <a:off x="182880" y="5664474"/>
            <a:ext cx="384048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Demo video: STEER+XferQoE's WF vs. XferQoE</a:t>
            </a:r>
          </a:p>
        </p:txBody>
      </p:sp>
      <p:pic>
        <p:nvPicPr>
          <p:cNvPr id="41" name="race_all.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82880" y="3466490"/>
            <a:ext cx="3840480" cy="2157984"/>
          </a:xfrm>
          <a:prstGeom prst="rect">
            <a:avLst/>
          </a:prstGeom>
        </p:spPr>
      </p:pic>
      <p:sp>
        <p:nvSpPr>
          <p:cNvPr id="208" name="VideoLink"/>
          <p:cNvSpPr/>
          <p:nvPr/>
        </p:nvSpPr>
        <p:spPr>
          <a:xfrm>
            <a:off x="626364" y="5853399"/>
            <a:ext cx="2953512"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6"/>
              </a:rPr>
              <a:t>sonny0714.github.io/</a:t>
            </a:r>
            <a:r>
              <a:rPr lang="en-US" altLang="ko-KR" sz="800" dirty="0" err="1">
                <a:ea typeface="맑은 고딕"/>
                <a:hlinkClick r:id="rId6"/>
              </a:rPr>
              <a:t>demo_video_robot</a:t>
            </a:r>
            <a:r>
              <a:rPr lang="en-US" altLang="ko-KR" sz="800" dirty="0">
                <a:ea typeface="맑은 고딕"/>
                <a:hlinkClick r:id="rId6"/>
              </a:rPr>
              <a:t>/xferqoe-pokecube.html</a:t>
            </a:r>
            <a:endParaRPr lang="en-US" altLang="ko-KR" sz="800" dirty="0">
              <a:latin typeface="맑은 고딕"/>
              <a:ea typeface="맑은 고딕"/>
              <a:hlinkClick r:id="rId6"/>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800"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1"/>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6</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0" y="467380"/>
            <a:ext cx="990600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[RFM, VLA]</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a:latin typeface="Arial" panose="020B0604020202020204" pitchFamily="34" charset="0"/>
                <a:ea typeface="Arial" panose="020B0604020202020204" pitchFamily="34" charset="0"/>
                <a:cs typeface="Arial" panose="020B0604020202020204" pitchFamily="34" charset="0"/>
              </a:rPr>
              <a:t>XferQoE</a:t>
            </a:r>
            <a:r>
              <a:rPr lang="en-US" altLang="ko-KR" b="1" dirty="0">
                <a:latin typeface="Arial" panose="020B0604020202020204" pitchFamily="34" charset="0"/>
                <a:ea typeface="Arial" panose="020B0604020202020204" pitchFamily="34" charset="0"/>
                <a:cs typeface="Arial" panose="020B0604020202020204" pitchFamily="34" charset="0"/>
              </a:rPr>
              <a:t> — Rate Control for Off-Board Robot Foundation Models</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301752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The robot's policy is now a robot foundation model (RFM), a vision-language-action (VLA) model on the edge server that computes each action chunk from the newest camera frame arriving within its deadline, so a late frame shows a static object where it is but a moving object where it was. </a:t>
            </a:r>
            <a:r>
              <a:rPr lang="en-US" altLang="ko-KR" sz="1100" u="sng" dirty="0">
                <a:latin typeface="Arial" panose="020B0604020202020204" pitchFamily="34" charset="0"/>
                <a:ea typeface="Arial" panose="020B0604020202020204" pitchFamily="34" charset="0"/>
                <a:cs typeface="Arial" panose="020B0604020202020204" pitchFamily="34" charset="0"/>
              </a:rPr>
              <a:t>The rate controller pretrained in S-Sim (page 4) serves both RFMs with only its objective weights refit per task</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Tasks</a:t>
            </a:r>
            <a:r>
              <a:rPr lang="en-US" altLang="ko-KR" sz="1100" dirty="0">
                <a:latin typeface="Arial" panose="020B0604020202020204" pitchFamily="34" charset="0"/>
                <a:ea typeface="Arial" panose="020B0604020202020204" pitchFamily="34" charset="0"/>
                <a:cs typeface="Arial" panose="020B0604020202020204" pitchFamily="34" charset="0"/>
              </a:rPr>
              <a:t> — π0.5 (public checkpoint fine-tuned on the four LIBERO suites) on LIBERO-Spatial, a time-invariant scene (place a bowl on the plate), and </a:t>
            </a:r>
            <a:r>
              <a:rPr lang="en-US" altLang="ko-KR" sz="1100" u="sng" dirty="0">
                <a:latin typeface="Arial" panose="020B0604020202020204" pitchFamily="34" charset="0"/>
                <a:ea typeface="Arial" panose="020B0604020202020204" pitchFamily="34" charset="0"/>
                <a:cs typeface="Arial" panose="020B0604020202020204" pitchFamily="34" charset="0"/>
              </a:rPr>
              <a:t>SmolVLA, fine-tuned from its base checkpoint on the 250 MIKASA-Robo-VLA Intercept demonstrations for 20,000 steps with only its action expert (the module that generates actions) and its state input layer trained</a:t>
            </a:r>
            <a:r>
              <a:rPr lang="en-US" altLang="ko-KR" sz="1100" dirty="0">
                <a:latin typeface="Arial" panose="020B0604020202020204" pitchFamily="34" charset="0"/>
                <a:ea typeface="Arial" panose="020B0604020202020204" pitchFamily="34" charset="0"/>
                <a:cs typeface="Arial" panose="020B0604020202020204" pitchFamily="34" charset="0"/>
              </a:rPr>
              <a:t>, on MIKASA Intercept, a time-varying scene (deflect a rolling ball to the target). Both run on NS-3 Wi-Fi with the Puffer trace, and a chunk counts as fresh when its frame is at most one 50 ms step old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On NS-3 Wi-Fi XferQoE leads both tasks with QoE 0.667 and 0.011, against at most 0.368 and −0.148 for the other controllers, and retains 0.88 and 0.51 of the success rate each RFM reaches with no delay (99% and 50%), against at most 0.68 and 0.41. 80% and 74% of its action chunks are fresh at 22% frame quality, while STEER and STEER+XferQoE's WF reach 31–33% frame quality with only 39–42% fresh</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Demo videos</a:t>
            </a:r>
            <a:r>
              <a:rPr lang="en-US" altLang="ko-KR" sz="1100" dirty="0">
                <a:latin typeface="Arial" panose="020B0604020202020204" pitchFamily="34" charset="0"/>
                <a:ea typeface="Arial" panose="020B0604020202020204" pitchFamily="34" charset="0"/>
                <a:cs typeface="Arial" panose="020B0604020202020204" pitchFamily="34" charset="0"/>
              </a:rPr>
              <a:t> — The first five tasks of one Puffer cell each, played in turn with the same RFM and scene, so only the rate controller differs. On LIBERO-Spatial XferQoE completes all five tasks within 36.9 s, by which time STEER+XferQoE's WF has finished two with no success; on MIKASA Intercept XferQoE succeeds in three of the five tasks, against one for STEER+XferQoE's WF</a:t>
            </a:r>
          </a:p>
        </p:txBody>
      </p:sp>
      <p:pic>
        <p:nvPicPr>
          <p:cNvPr id="211" name="race_k5_libero_spatial_s2_p262.mp4">
            <a:hlinkClick r:id="" action="ppaction://media"/>
          </p:cNvPr>
          <p:cNvPicPr>
            <a:picLocks noChangeAspect="1"/>
          </p:cNvPicPr>
          <p:nvPr>
            <a:videoFile r:link="rId11"/>
            <p:extLst>
              <p:ext uri="{DAA4B4D4-6D71-4841-9C94-3DE7FCFB9230}">
                <p14:media xmlns:p14="http://schemas.microsoft.com/office/powerpoint/2010/main" r:embed="rId10"/>
              </p:ext>
            </p:extLst>
          </p:nvPr>
        </p:nvPicPr>
        <p:blipFill>
          <a:blip r:embed="rId12"/>
          <a:stretch>
            <a:fillRect/>
          </a:stretch>
        </p:blipFill>
        <p:spPr>
          <a:xfrm>
            <a:off x="265176" y="3584448"/>
            <a:ext cx="4572000" cy="2571750"/>
          </a:xfrm>
          <a:prstGeom prst="rect">
            <a:avLst/>
          </a:prstGeom>
        </p:spPr>
      </p:pic>
      <p:sp>
        <p:nvSpPr>
          <p:cNvPr id="212" name="TextBox 37">
            <a:extLst/>
          </p:cNvPr>
          <p:cNvSpPr txBox="1"/>
          <p:nvPr/>
        </p:nvSpPr>
        <p:spPr>
          <a:xfrm>
            <a:off x="265176" y="6196432"/>
            <a:ext cx="45720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Time-invariant: LIBERO-Spatial, π0.5 (1.5× speed)</a:t>
            </a:r>
          </a:p>
        </p:txBody>
      </p:sp>
      <p:pic>
        <p:nvPicPr>
          <p:cNvPr id="213" name="race_k5_1x_mikasa_intercept_s4_p6.mp4">
            <a:hlinkClick r:id="" action="ppaction://media"/>
          </p:cNvPr>
          <p:cNvPicPr>
            <a:picLocks noChangeAspect="1"/>
          </p:cNvPicPr>
          <p:nvPr>
            <a:videoFile r:link="rId14"/>
            <p:extLst>
              <p:ext uri="{DAA4B4D4-6D71-4841-9C94-3DE7FCFB9230}">
                <p14:media xmlns:p14="http://schemas.microsoft.com/office/powerpoint/2010/main" r:embed="rId13"/>
              </p:ext>
            </p:extLst>
          </p:nvPr>
        </p:nvPicPr>
        <p:blipFill>
          <a:blip r:embed="rId15"/>
          <a:stretch>
            <a:fillRect/>
          </a:stretch>
        </p:blipFill>
        <p:spPr>
          <a:xfrm>
            <a:off x="5111496" y="3584448"/>
            <a:ext cx="4572000" cy="2571750"/>
          </a:xfrm>
          <a:prstGeom prst="rect">
            <a:avLst/>
          </a:prstGeom>
        </p:spPr>
      </p:pic>
      <p:sp>
        <p:nvSpPr>
          <p:cNvPr id="214" name="TextBox 37">
            <a:extLst/>
          </p:cNvPr>
          <p:cNvSpPr txBox="1"/>
          <p:nvPr/>
        </p:nvSpPr>
        <p:spPr>
          <a:xfrm>
            <a:off x="5111496" y="6196432"/>
            <a:ext cx="457200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Time-varying: MIKASA Intercept, SmolVLA (1× speed)</a:t>
            </a:r>
          </a:p>
        </p:txBody>
      </p:sp>
      <p:sp>
        <p:nvSpPr>
          <p:cNvPr id="215" name="VideoLink"/>
          <p:cNvSpPr/>
          <p:nvPr/>
        </p:nvSpPr>
        <p:spPr>
          <a:xfrm>
            <a:off x="1023498" y="6385357"/>
            <a:ext cx="3055357"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16"/>
              </a:rPr>
              <a:t>sonny0714.github.io/</a:t>
            </a:r>
            <a:r>
              <a:rPr lang="en-US" altLang="ko-KR" sz="800" dirty="0" err="1">
                <a:ea typeface="맑은 고딕"/>
                <a:hlinkClick r:id="rId16"/>
              </a:rPr>
              <a:t>demo_video_robot</a:t>
            </a:r>
            <a:r>
              <a:rPr lang="en-US" altLang="ko-KR" sz="800" dirty="0">
                <a:ea typeface="맑은 고딕"/>
                <a:hlinkClick r:id="rId16"/>
              </a:rPr>
              <a:t>/xferqoe-rfm-libero.html</a:t>
            </a:r>
            <a:endParaRPr lang="en-US" altLang="ko-KR" sz="800" dirty="0">
              <a:latin typeface="맑은 고딕"/>
              <a:ea typeface="맑은 고딕"/>
              <a:hlinkClick r:id="rId16"/>
            </a:endParaRPr>
          </a:p>
        </p:txBody>
      </p:sp>
      <p:sp>
        <p:nvSpPr>
          <p:cNvPr id="216" name="VideoLink"/>
          <p:cNvSpPr/>
          <p:nvPr/>
        </p:nvSpPr>
        <p:spPr>
          <a:xfrm>
            <a:off x="5869818" y="6385357"/>
            <a:ext cx="3055357"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17"/>
              </a:rPr>
              <a:t>sonny0714.github.io/</a:t>
            </a:r>
            <a:r>
              <a:rPr lang="en-US" altLang="ko-KR" sz="800" dirty="0" err="1">
                <a:ea typeface="맑은 고딕"/>
                <a:hlinkClick r:id="rId17"/>
              </a:rPr>
              <a:t>demo_video_robot</a:t>
            </a:r>
            <a:r>
              <a:rPr lang="en-US" altLang="ko-KR" sz="800" dirty="0">
                <a:ea typeface="맑은 고딕"/>
                <a:hlinkClick r:id="rId17"/>
              </a:rPr>
              <a:t>/xferqoe-rfm-mikasa.html</a:t>
            </a:r>
            <a:endParaRPr lang="en-US" altLang="ko-KR" sz="800" dirty="0">
              <a:latin typeface="맑은 고딕"/>
              <a:ea typeface="맑은 고딕"/>
              <a:hlinkClick r:id="rId17"/>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3267" fill="hold"/>
                                        <p:tgtEl>
                                          <p:spTgt spid="211"/>
                                        </p:tgtEl>
                                      </p:cBhvr>
                                    </p:cmd>
                                  </p:childTnLst>
                                </p:cTn>
                              </p:par>
                              <p:par>
                                <p:cTn id="7" presetID="1" presetClass="mediacall" presetSubtype="0" fill="hold" nodeType="withEffect">
                                  <p:stCondLst>
                                    <p:cond delay="0"/>
                                  </p:stCondLst>
                                  <p:childTnLst>
                                    <p:cmd type="call" cmd="playFrom(0.0)">
                                      <p:cBhvr>
                                        <p:cTn id="8" dur="45333" fill="hold"/>
                                        <p:tgtEl>
                                          <p:spTgt spid="21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211"/>
                </p:tgtEl>
              </p:cMediaNode>
            </p:video>
            <p:video>
              <p:cMediaNode vol="80000">
                <p:cTn id="10" fill="hold" display="0">
                  <p:stCondLst>
                    <p:cond delay="indefinite"/>
                  </p:stCondLst>
                </p:cTn>
                <p:tgtEl>
                  <p:spTgt spid="21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7</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9520" y="467380"/>
            <a:ext cx="9915520" cy="369332"/>
          </a:xfrm>
          <a:prstGeom prst="rect">
            <a:avLst/>
          </a:prstGeom>
          <a:noFill/>
        </p:spPr>
        <p:txBody>
          <a:bodyPr wrap="square" rtlCol="0">
            <a:spAutoFit/>
          </a:bodyPr>
          <a:lstStyle/>
          <a:p>
            <a:r>
              <a:rPr lang="en-US" altLang="ko-KR" b="1" dirty="0" sz="1800">
                <a:solidFill>
                  <a:srgbClr val="0070C0"/>
                </a:solidFill>
                <a:latin typeface="Arial" panose="020B0604020202020204" pitchFamily="34" charset="0"/>
                <a:ea typeface="Arial" panose="020B0604020202020204" pitchFamily="34" charset="0"/>
                <a:cs typeface="Arial" panose="020B0604020202020204" pitchFamily="34" charset="0"/>
              </a:rPr>
              <a:t>[Object Recognition, Real-World Testbed]</a:t>
            </a:r>
            <a:r>
              <a:rPr lang="en-US" altLang="ko-KR" b="1" dirty="0" sz="1800">
                <a:latin typeface="Arial" panose="020B0604020202020204" pitchFamily="34" charset="0"/>
                <a:ea typeface="Arial" panose="020B0604020202020204" pitchFamily="34" charset="0"/>
                <a:cs typeface="Arial" panose="020B0604020202020204" pitchFamily="34" charset="0"/>
              </a:rPr>
              <a:t> </a:t>
            </a:r>
            <a:r>
              <a:rPr lang="en-US" altLang="ko-KR" b="1" dirty="0" sz="1800">
                <a:latin typeface="Arial" panose="020B0604020202020204" pitchFamily="34" charset="0"/>
                <a:ea typeface="Arial" panose="020B0604020202020204" pitchFamily="34" charset="0"/>
                <a:cs typeface="Arial" panose="020B0604020202020204" pitchFamily="34" charset="0"/>
              </a:rPr>
              <a:t>XferQoE</a:t>
            </a:r>
            <a:r>
              <a:rPr lang="en-US" altLang="ko-KR" b="1" dirty="0" sz="1800">
                <a:latin typeface="Arial" panose="020B0604020202020204" pitchFamily="34" charset="0"/>
                <a:ea typeface="Arial" panose="020B0604020202020204" pitchFamily="34" charset="0"/>
                <a:cs typeface="Arial" panose="020B0604020202020204" pitchFamily="34" charset="0"/>
              </a:rPr>
              <a:t> — Networked Monitoring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864759"/>
            <a:ext cx="9603782" cy="283464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Target system</a:t>
            </a:r>
            <a:r>
              <a:rPr lang="en-US" altLang="ko-KR" sz="1100" dirty="0">
                <a:latin typeface="Arial" panose="020B0604020202020204" pitchFamily="34" charset="0"/>
                <a:ea typeface="Arial" panose="020B0604020202020204" pitchFamily="34" charset="0"/>
                <a:cs typeface="Arial" panose="020B0604020202020204" pitchFamily="34" charset="0"/>
              </a:rPr>
              <a:t> — In networked monitoring, many devices share one wireless link to a server whose recognition model reads their frames: a late frame shows a past scene, and a heavily compressed one loses small objects. XferQoE serves this application with the same frozen rate controller by refitting only its objective weights, whereas Repot (page 8) targets this kind of system through policy fine-tuning</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Built</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Sixteen Raspberry Pi 4 senders on the real-world testbed of page 5 stream pedestrian-scene frames, as sixteen cameras would, over one 802.11ac link through an access point to the edge server, which runs a recognition model (YOLO11) and scores every interval by detection F1 against the current ground truth</a:t>
            </a:r>
            <a:r>
              <a:rPr lang="en-US" altLang="ko-KR" sz="1100" dirty="0">
                <a:latin typeface="Arial" panose="020B0604020202020204" pitchFamily="34" charset="0"/>
                <a:ea typeface="Arial" panose="020B0604020202020204" pitchFamily="34" charset="0"/>
                <a:cs typeface="Arial" panose="020B0604020202020204" pitchFamily="34" charset="0"/>
              </a:rPr>
              <a:t>. The same scoring runs on NS-3 Wi-Fi, and S-Sim uses a recall model fitted to the recognition model</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XferQoE has the highest recognition QoE on NS-3 Wi-Fi and on the real-world testbed (0.306 and 0.320, table), although every method stays within 0.035 on the testbed. Unlike robot control, monitoring weighs frame detail about as heavily as timeliness; its fitted weight on throughput is 0.37 in S-Sim and 0.47 on the testbed, where the recognition model, the frame interval, and the cell set also differ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Demo video</a:t>
            </a:r>
            <a:r>
              <a:rPr lang="en-US" altLang="ko-KR" sz="1100" dirty="0">
                <a:latin typeface="Arial" panose="020B0604020202020204" pitchFamily="34" charset="0"/>
                <a:ea typeface="Arial" panose="020B0604020202020204" pitchFamily="34" charset="0"/>
                <a:cs typeface="Arial" panose="020B0604020202020204" pitchFamily="34" charset="0"/>
              </a:rPr>
              <a:t> — One Puffer cell, 145–185 s. At 148.5 s each camera's link is 3.3 Mbps: STEER+XferQoE's WF sends 6.7 Mbps, so camera 7 holds a frame three frames old and finds none of its five objects, while XferQoE sends 2.1 Mbps and finds four. Over the slow span (145–166 s) XferQoE's F1 is 0.286 against 0.235; after the link opens at 167 s, STEER+XferQoE's WF scores 0.769 against 0.721</a:t>
            </a:r>
          </a:p>
        </p:txBody>
      </p:sp>
      <p:sp>
        <p:nvSpPr>
          <p:cNvPr id="39" name="TableCaption"/>
          <p:cNvSpPr txBox="1"/>
          <p:nvPr/>
        </p:nvSpPr>
        <p:spPr>
          <a:xfrm>
            <a:off x="4096512" y="3401568"/>
            <a:ext cx="5650992" cy="152349"/>
          </a:xfrm>
          <a:prstGeom prst="rect">
            <a:avLst/>
          </a:prstGeom>
          <a:noFill/>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Monitoring on NS-3 Wi-Fi and the real-world testbed</a:t>
            </a:r>
          </a:p>
        </p:txBody>
      </p:sp>
      <p:graphicFrame>
        <p:nvGraphicFramePr>
          <p:cNvPr id="40" name="Table 39"/>
          <p:cNvGraphicFramePr>
            <a:graphicFrameLocks noGrp="1"/>
          </p:cNvGraphicFramePr>
          <p:nvPr/>
        </p:nvGraphicFramePr>
        <p:xfrm>
          <a:off x="4096512" y="3593592"/>
          <a:ext cx="5650992" cy="1580007"/>
        </p:xfrm>
        <a:graphic>
          <a:graphicData uri="http://schemas.openxmlformats.org/drawingml/2006/table">
            <a:tbl>
              <a:tblPr>
                <a:tableStyleId>{5C22544A-7EE6-4342-B048-85BDC9FD1C3A}</a:tableStyleId>
              </a:tblPr>
              <a:tblGrid>
                <a:gridCol w="1207008">
                  <a:extLst>
                    <a:ext uri="{9D8B030D-6E8A-4147-A177-3AD203B41FA5}">
                      <a16:colId xmlns:a16="http://schemas.microsoft.com/office/drawing/2014/main" val="20000"/>
                    </a:ext>
                  </a:extLst>
                </a:gridCol>
                <a:gridCol w="932688">
                  <a:extLst>
                    <a:ext uri="{9D8B030D-6E8A-4147-A177-3AD203B41FA5}">
                      <a16:colId xmlns:a16="http://schemas.microsoft.com/office/drawing/2014/main" val="20001"/>
                    </a:ext>
                  </a:extLst>
                </a:gridCol>
                <a:gridCol w="603504">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932688">
                  <a:extLst>
                    <a:ext uri="{9D8B030D-6E8A-4147-A177-3AD203B41FA5}">
                      <a16:colId xmlns:a16="http://schemas.microsoft.com/office/drawing/2014/main" val="20004"/>
                    </a:ext>
                  </a:extLst>
                </a:gridCol>
                <a:gridCol w="603504">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tblGrid>
              <a:tr h="539877">
                <a:tc>
                  <a:txBody>
                    <a:bodyPr/>
                    <a:lstStyle/>
                    <a:p>
                      <a:pPr algn="ctr"/>
                      <a:r>
                        <a:rPr lang="ko-KR" sz="950" b="1">
                          <a:latin typeface="Arial" panose="020B0604020202020204" pitchFamily="34" charset="0"/>
                          <a:cs typeface="Arial" panose="020B0604020202020204" pitchFamily="34" charset="0"/>
                        </a:rPr>
                        <a:t>Method</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NS-3 Wi-Fi QoE (F1)</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Q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AoI (ms)</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Real-world testbed QoE (F1)</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Q (%)</a:t>
                      </a:r>
                    </a:p>
                  </a:txBody>
                  <a:tcPr marL="45720" marR="45720" marT="27432" marB="27432" anchor="ctr">
                    <a:lnB w="9525" cap="flat" cmpd="sng" algn="ctr">
                      <a:solidFill>
                        <a:srgbClr val="BFBFBF"/>
                      </a:solidFill>
                    </a:lnB>
                    <a:solidFill>
                      <a:srgbClr val="EEF1F6"/>
                    </a:solidFill>
                  </a:tcPr>
                </a:tc>
                <a:tc>
                  <a:txBody>
                    <a:bodyPr/>
                    <a:lstStyle/>
                    <a:p>
                      <a:pPr algn="ctr"/>
                      <a:r>
                        <a:rPr lang="ko-KR" sz="950" b="1">
                          <a:latin typeface="Arial" panose="020B0604020202020204" pitchFamily="34" charset="0"/>
                          <a:cs typeface="Arial" panose="020B0604020202020204" pitchFamily="34" charset="0"/>
                        </a:rPr>
                        <a:t>AoI (ms)</a:t>
                      </a:r>
                    </a:p>
                  </a:txBody>
                  <a:tcPr marL="45720" marR="45720" marT="27432" marB="27432" anchor="ctr">
                    <a:lnB w="9525" cap="flat" cmpd="sng" algn="ctr">
                      <a:solidFill>
                        <a:srgbClr val="BFBFBF"/>
                      </a:solidFill>
                    </a:lnB>
                    <a:solidFill>
                      <a:srgbClr val="EEF1F6"/>
                    </a:solidFill>
                  </a:tcPr>
                </a:tc>
                <a:extLst>
                  <a:ext uri="{0D108BD9-81ED-4DB2-BD59-A6C34878D82A}">
                    <a16:rowId xmlns:a16="http://schemas.microsoft.com/office/drawing/2014/main" val="10000"/>
                  </a:ext>
                </a:extLst>
              </a:tr>
              <a:tr h="208026">
                <a:tc>
                  <a:txBody>
                    <a:bodyPr/>
                    <a:lstStyle/>
                    <a:p>
                      <a:pPr algn="ctr"/>
                      <a:r>
                        <a:rPr lang="ko-KR" sz="900">
                          <a:latin typeface="Arial" panose="020B0604020202020204" pitchFamily="34" charset="0"/>
                          <a:cs typeface="Arial" panose="020B0604020202020204" pitchFamily="34" charset="0"/>
                        </a:rPr>
                        <a:t>XferQoE</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0.306</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32.9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65.6</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0.320</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35.7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54.9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1"/>
                  </a:ext>
                </a:extLst>
              </a:tr>
              <a:tr h="208026">
                <a:tc>
                  <a:txBody>
                    <a:bodyPr/>
                    <a:lstStyle/>
                    <a:p>
                      <a:pPr algn="ctr"/>
                      <a:r>
                        <a:rPr lang="ko-KR" sz="900">
                          <a:latin typeface="Arial" panose="020B0604020202020204" pitchFamily="34" charset="0"/>
                          <a:cs typeface="Arial" panose="020B0604020202020204" pitchFamily="34" charset="0"/>
                        </a:rPr>
                        <a:t>STEER+XferQoE's WF</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0.279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31.1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75.6</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0.287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31.9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60.9</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5"/>
                  </a:ext>
                </a:extLst>
              </a:tr>
              <a:tr h="208026">
                <a:tc>
                  <a:txBody>
                    <a:bodyPr/>
                    <a:lstStyle/>
                    <a:p>
                      <a:pPr algn="ctr"/>
                      <a:r>
                        <a:rPr lang="ko-KR" sz="900">
                          <a:latin typeface="Arial" panose="020B0604020202020204" pitchFamily="34" charset="0"/>
                          <a:cs typeface="Arial" panose="020B0604020202020204" pitchFamily="34" charset="0"/>
                        </a:rPr>
                        <a:t>STEER</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0.234</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24.7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60.7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0.285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28.3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47.7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2"/>
                  </a:ext>
                </a:extLst>
              </a:tr>
              <a:tr h="208026">
                <a:tc>
                  <a:txBody>
                    <a:bodyPr/>
                    <a:lstStyle/>
                    <a:p>
                      <a:pPr algn="ctr"/>
                      <a:r>
                        <a:rPr lang="ko-KR" sz="900">
                          <a:latin typeface="Arial" panose="020B0604020202020204" pitchFamily="34" charset="0"/>
                          <a:cs typeface="Arial" panose="020B0604020202020204" pitchFamily="34" charset="0"/>
                        </a:rPr>
                        <a:t>GLOBEX</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0.201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19.1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40.8</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0.315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26.3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30.1</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3"/>
                  </a:ext>
                </a:extLst>
              </a:tr>
              <a:tr h="208026">
                <a:tc>
                  <a:txBody>
                    <a:bodyPr/>
                    <a:lstStyle/>
                    <a:p>
                      <a:pPr algn="ctr"/>
                      <a:r>
                        <a:rPr lang="ko-KR" sz="900">
                          <a:latin typeface="Arial" panose="020B0604020202020204" pitchFamily="34" charset="0"/>
                          <a:cs typeface="Arial" panose="020B0604020202020204" pitchFamily="34" charset="0"/>
                        </a:rPr>
                        <a:t>Per-app HC</a:t>
                      </a:r>
                    </a:p>
                  </a:txBody>
                  <a:tcPr marL="45720" marR="4572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0.167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16.2</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38.7</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0.300</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22.3</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tc>
                  <a:txBody>
                    <a:bodyPr/>
                    <a:lstStyle/>
                    <a:p>
                      <a:pPr algn="r"/>
                      <a:r>
                        <a:rPr lang="ko-KR" sz="900">
                          <a:latin typeface="Arial" panose="020B0604020202020204" pitchFamily="34" charset="0"/>
                          <a:cs typeface="Arial" panose="020B0604020202020204" pitchFamily="34" charset="0"/>
                        </a:rPr>
                        <a:t>13.5</a:t>
                      </a:r>
                    </a:p>
                  </a:txBody>
                  <a:tcPr marL="45720" marR="36000" marT="27432" marB="27432" anchor="ctr">
                    <a:lnT w="9525" cap="flat" cmpd="sng" algn="ctr">
                      <a:solidFill>
                        <a:srgbClr val="BFBFBF"/>
                      </a:solidFill>
                      <a:prstDash val="solid"/>
                      <a:round/>
                      <a:headEnd type="none" w="med" len="med"/>
                      <a:tailEnd type="none" w="med" len="med"/>
                    </a:lnT>
                    <a:lnB w="9525" cap="flat" cmpd="sng" algn="ctr">
                      <a:solidFill>
                        <a:srgbClr val="BFBFBF"/>
                      </a:solidFill>
                    </a:lnB>
                    <a:solidFill>
                      <a:srgbClr val="FFFFFF"/>
                    </a:solidFill>
                  </a:tcPr>
                </a:tc>
                <a:extLst>
                  <a:ext uri="{0D108BD9-81ED-4DB2-BD59-A6C34878D82A}">
                    <a16:rowId xmlns:a16="http://schemas.microsoft.com/office/drawing/2014/main" val="10004"/>
                  </a:ext>
                </a:extLst>
              </a:tr>
            </a:tbl>
          </a:graphicData>
        </a:graphic>
      </p:graphicFrame>
      <p:sp>
        <p:nvSpPr>
          <p:cNvPr id="207" name="TextBox 37">
            <a:extLst>
              <a:ext uri="{FF2B5EF4-FFF2-40B4-BE49-F238E27FC236}">
                <a16:creationId xmlns:a16="http://schemas.microsoft.com/office/drawing/2014/main" id="{11906725-6016-9804-F9D6-E352B4CAE8CD}"/>
              </a:ext>
            </a:extLst>
          </p:cNvPr>
          <p:cNvSpPr txBox="1"/>
          <p:nvPr/>
        </p:nvSpPr>
        <p:spPr>
          <a:xfrm>
            <a:off x="182880" y="5602072"/>
            <a:ext cx="384048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Monitoring demo (145–185 s)</a:t>
            </a:r>
          </a:p>
        </p:txBody>
      </p:sp>
      <p:pic>
        <p:nvPicPr>
          <p:cNvPr id="41" name="events_720p_crf26.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82880" y="3401568"/>
            <a:ext cx="3840480" cy="2160270"/>
          </a:xfrm>
          <a:prstGeom prst="rect">
            <a:avLst/>
          </a:prstGeom>
        </p:spPr>
      </p:pic>
      <p:sp>
        <p:nvSpPr>
          <p:cNvPr id="209" name="PageFootnote"/>
          <p:cNvSpPr txBox="1"/>
          <p:nvPr/>
        </p:nvSpPr>
        <p:spPr>
          <a:xfrm>
            <a:off x="172654" y="6597396"/>
            <a:ext cx="9603782" cy="136246"/>
          </a:xfrm>
          <a:prstGeom prst="rect">
            <a:avLst/>
          </a:prstGeom>
          <a:noFill/>
        </p:spPr>
        <p:txBody>
          <a:bodyPr wrap="square" lIns="0" tIns="0" rIns="0" bIns="0">
            <a:spAutoFit/>
          </a:bodyPr>
          <a:lstStyle/>
          <a:p>
            <a:pPr algn="l"/>
            <a:r>
              <a:rPr lang="en-US" altLang="en-US" sz="800" dirty="0">
                <a:solidFill>
                  <a:srgbClr val="595959"/>
                </a:solidFill>
                <a:latin typeface="Arial" panose="020B0604020202020204" pitchFamily="34" charset="0"/>
                <a:ea typeface="Arial" panose="020B0604020202020204" pitchFamily="34" charset="0"/>
                <a:cs typeface="Arial" panose="020B0604020202020204" pitchFamily="34" charset="0"/>
              </a:rPr>
              <a:t>QoE = recognition F1 · Q = received frame quality · AoI = age of information · STEER+XferQoE's WF = STEER with XferQoE's objective-weight fit · HC = hand-crafted</a:t>
            </a:r>
          </a:p>
        </p:txBody>
      </p:sp>
      <p:sp>
        <p:nvSpPr>
          <p:cNvPr id="210" name="VideoLink"/>
          <p:cNvSpPr/>
          <p:nvPr/>
        </p:nvSpPr>
        <p:spPr>
          <a:xfrm>
            <a:off x="575442" y="5790997"/>
            <a:ext cx="3055357" cy="146304"/>
          </a:xfrm>
          <a:prstGeom prst="roundRect">
            <a:avLst/>
          </a:prstGeom>
          <a:solidFill>
            <a:srgbClr val="D9E2F3"/>
          </a:solidFill>
          <a:ln>
            <a:noFill/>
          </a:ln>
        </p:spPr>
        <p:txBody>
          <a:bodyPr wrap="none" lIns="0" tIns="0" rIns="0" bIns="0" rtlCol="0" anchor="ctr"/>
          <a:lstStyle/>
          <a:p>
            <a:pPr algn="ctr"/>
            <a:r>
              <a:rPr lang="en-US" altLang="ko-KR" sz="800" dirty="0">
                <a:ea typeface="맑은 고딕"/>
                <a:hlinkClick r:id="rId6"/>
              </a:rPr>
              <a:t>sonny0714.github.io/</a:t>
            </a:r>
            <a:r>
              <a:rPr lang="en-US" altLang="ko-KR" sz="800" dirty="0" err="1">
                <a:ea typeface="맑은 고딕"/>
                <a:hlinkClick r:id="rId6"/>
              </a:rPr>
              <a:t>demo_video_robot</a:t>
            </a:r>
            <a:r>
              <a:rPr lang="en-US" altLang="ko-KR" sz="800" dirty="0">
                <a:ea typeface="맑은 고딕"/>
                <a:hlinkClick r:id="rId6"/>
              </a:rPr>
              <a:t>/xferqoe-monitoring.html</a:t>
            </a:r>
            <a:endParaRPr lang="en-US" altLang="ko-KR" sz="800" dirty="0">
              <a:latin typeface="맑은 고딕"/>
              <a:ea typeface="맑은 고딕"/>
              <a:hlinkClick r:id="rId6"/>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400"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1"/>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B42E8-8410-5741-2D39-192E7D869211}"/>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8</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endParaRPr lang="en-US" altLang="ko-KR" sz="1400" dirty="0">
              <a:latin typeface="Arial" pitchFamily="34" charset="0"/>
              <a:ea typeface="Arial Unicode MS" pitchFamily="50" charset="-127"/>
              <a:cs typeface="Arial" pitchFamily="34" charset="0"/>
            </a:endParaRPr>
          </a:p>
        </p:txBody>
      </p:sp>
      <p:pic>
        <p:nvPicPr>
          <p:cNvPr id="3" name="그림 2">
            <a:extLst>
              <a:ext uri="{FF2B5EF4-FFF2-40B4-BE49-F238E27FC236}">
                <a16:creationId xmlns:a16="http://schemas.microsoft.com/office/drawing/2014/main" id="{CB3E7876-0E57-44E1-34ED-24B036D283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0266" y="4043029"/>
            <a:ext cx="2814108" cy="2351650"/>
          </a:xfrm>
          <a:prstGeom prst="rect">
            <a:avLst/>
          </a:prstGeom>
        </p:spPr>
      </p:pic>
      <p:pic>
        <p:nvPicPr>
          <p:cNvPr id="6" name="그림 5" descr="figure">
            <a:extLst>
              <a:ext uri="{FF2B5EF4-FFF2-40B4-BE49-F238E27FC236}">
                <a16:creationId xmlns:a16="http://schemas.microsoft.com/office/drawing/2014/main" id="{28FA2C31-510F-C204-49BB-51064AFC6E00}"/>
              </a:ext>
            </a:extLst>
          </p:cNvPr>
          <p:cNvPicPr>
            <a:picLocks noChangeAspect="1"/>
          </p:cNvPicPr>
          <p:nvPr/>
        </p:nvPicPr>
        <p:blipFill rotWithShape="1">
          <a:blip r:embed="rId4">
            <a:extLst>
              <a:ext uri="{28A0092B-C50C-407E-A947-70E740481C1C}">
                <a14:useLocalDpi xmlns:a14="http://schemas.microsoft.com/office/drawing/2010/main" val="0"/>
              </a:ext>
            </a:extLst>
          </a:blip>
          <a:srcRect l="49597" b="14091"/>
          <a:stretch/>
        </p:blipFill>
        <p:spPr>
          <a:xfrm>
            <a:off x="8073298" y="5168481"/>
            <a:ext cx="1100672" cy="946177"/>
          </a:xfrm>
          <a:prstGeom prst="rect">
            <a:avLst/>
          </a:prstGeom>
        </p:spPr>
      </p:pic>
      <p:pic>
        <p:nvPicPr>
          <p:cNvPr id="9" name="그림 8" descr="figure">
            <a:extLst>
              <a:ext uri="{FF2B5EF4-FFF2-40B4-BE49-F238E27FC236}">
                <a16:creationId xmlns:a16="http://schemas.microsoft.com/office/drawing/2014/main" id="{49640848-10E6-D68D-E6ED-083021CA1D73}"/>
              </a:ext>
            </a:extLst>
          </p:cNvPr>
          <p:cNvPicPr>
            <a:picLocks noChangeAspect="1"/>
          </p:cNvPicPr>
          <p:nvPr/>
        </p:nvPicPr>
        <p:blipFill rotWithShape="1">
          <a:blip r:embed="rId5">
            <a:extLst>
              <a:ext uri="{28A0092B-C50C-407E-A947-70E740481C1C}">
                <a14:useLocalDpi xmlns:a14="http://schemas.microsoft.com/office/drawing/2010/main" val="0"/>
              </a:ext>
            </a:extLst>
          </a:blip>
          <a:srcRect l="50000" b="14778"/>
          <a:stretch/>
        </p:blipFill>
        <p:spPr>
          <a:xfrm>
            <a:off x="6522565" y="5157959"/>
            <a:ext cx="1094168" cy="946177"/>
          </a:xfrm>
          <a:prstGeom prst="rect">
            <a:avLst/>
          </a:prstGeom>
        </p:spPr>
      </p:pic>
      <p:pic>
        <p:nvPicPr>
          <p:cNvPr id="11" name="그림 10" descr="figure">
            <a:extLst>
              <a:ext uri="{FF2B5EF4-FFF2-40B4-BE49-F238E27FC236}">
                <a16:creationId xmlns:a16="http://schemas.microsoft.com/office/drawing/2014/main" id="{51AE5640-2E71-FA62-3543-5CEC6159956D}"/>
              </a:ext>
            </a:extLst>
          </p:cNvPr>
          <p:cNvPicPr>
            <a:picLocks noChangeAspect="1"/>
          </p:cNvPicPr>
          <p:nvPr/>
        </p:nvPicPr>
        <p:blipFill rotWithShape="1">
          <a:blip r:embed="rId5">
            <a:extLst>
              <a:ext uri="{28A0092B-C50C-407E-A947-70E740481C1C}">
                <a14:useLocalDpi xmlns:a14="http://schemas.microsoft.com/office/drawing/2010/main" val="0"/>
              </a:ext>
            </a:extLst>
          </a:blip>
          <a:srcRect r="50000" b="17418"/>
          <a:stretch>
            <a:fillRect/>
          </a:stretch>
        </p:blipFill>
        <p:spPr>
          <a:xfrm>
            <a:off x="8100924" y="4025100"/>
            <a:ext cx="1073047" cy="830810"/>
          </a:xfrm>
          <a:prstGeom prst="rect">
            <a:avLst/>
          </a:prstGeom>
        </p:spPr>
      </p:pic>
      <p:sp>
        <p:nvSpPr>
          <p:cNvPr id="14" name="TextBox 13">
            <a:extLst>
              <a:ext uri="{FF2B5EF4-FFF2-40B4-BE49-F238E27FC236}">
                <a16:creationId xmlns:a16="http://schemas.microsoft.com/office/drawing/2014/main" id="{AA58128A-9460-B7F5-A51B-900993861FB6}"/>
              </a:ext>
            </a:extLst>
          </p:cNvPr>
          <p:cNvSpPr txBox="1"/>
          <p:nvPr/>
        </p:nvSpPr>
        <p:spPr>
          <a:xfrm>
            <a:off x="6324369" y="6143931"/>
            <a:ext cx="1490560" cy="304699"/>
          </a:xfrm>
          <a:prstGeom prst="rect">
            <a:avLst/>
          </a:prstGeom>
          <a:solidFill>
            <a:schemeClr val="bg1"/>
          </a:solidFill>
        </p:spPr>
        <p:txBody>
          <a:bodyPr wrap="square" lIns="0" tIns="0" rIns="0" bIns="0">
            <a:spAutoFit/>
          </a:bodyPr>
          <a:lstStyle/>
          <a:p>
            <a:pPr algn="ctr">
              <a:lnSpc>
                <a:spcPct val="90000"/>
              </a:lnSpc>
            </a:pPr>
            <a:r>
              <a:rPr lang="en-US" altLang="ko-KR" sz="1100" dirty="0">
                <a:latin typeface="Arial" pitchFamily="34" charset="0"/>
                <a:cs typeface="Arial" pitchFamily="34" charset="0"/>
              </a:rPr>
              <a:t>Action attention map</a:t>
            </a:r>
          </a:p>
          <a:p>
            <a:pPr algn="ctr">
              <a:lnSpc>
                <a:spcPct val="90000"/>
              </a:lnSpc>
            </a:pPr>
            <a:r>
              <a:rPr lang="en-US" altLang="ko-KR" sz="1100" dirty="0">
                <a:latin typeface="Arial" pitchFamily="34" charset="0"/>
                <a:cs typeface="Arial" pitchFamily="34" charset="0"/>
              </a:rPr>
              <a:t>(b1) During pretraining</a:t>
            </a:r>
          </a:p>
        </p:txBody>
      </p:sp>
      <p:sp>
        <p:nvSpPr>
          <p:cNvPr id="22" name="TextBox 21">
            <a:extLst>
              <a:ext uri="{FF2B5EF4-FFF2-40B4-BE49-F238E27FC236}">
                <a16:creationId xmlns:a16="http://schemas.microsoft.com/office/drawing/2014/main" id="{FE1D7B71-1BE6-1F85-016A-80EDDD533E9A}"/>
              </a:ext>
            </a:extLst>
          </p:cNvPr>
          <p:cNvSpPr txBox="1"/>
          <p:nvPr/>
        </p:nvSpPr>
        <p:spPr>
          <a:xfrm>
            <a:off x="7882126" y="6163598"/>
            <a:ext cx="1483018" cy="304699"/>
          </a:xfrm>
          <a:prstGeom prst="rect">
            <a:avLst/>
          </a:prstGeom>
          <a:solidFill>
            <a:schemeClr val="bg1"/>
          </a:solidFill>
        </p:spPr>
        <p:txBody>
          <a:bodyPr wrap="square" lIns="0" tIns="0" rIns="0" bIns="0">
            <a:spAutoFit/>
          </a:bodyPr>
          <a:lstStyle/>
          <a:p>
            <a:pPr algn="ctr">
              <a:lnSpc>
                <a:spcPct val="90000"/>
              </a:lnSpc>
            </a:pPr>
            <a:r>
              <a:rPr lang="en-US" altLang="ko-KR" sz="1100" dirty="0">
                <a:latin typeface="Arial" pitchFamily="34" charset="0"/>
                <a:cs typeface="Arial" pitchFamily="34" charset="0"/>
              </a:rPr>
              <a:t>Action attention map</a:t>
            </a:r>
          </a:p>
          <a:p>
            <a:pPr algn="ctr">
              <a:lnSpc>
                <a:spcPct val="90000"/>
              </a:lnSpc>
            </a:pPr>
            <a:r>
              <a:rPr lang="en-US" altLang="ko-KR" sz="1100" dirty="0">
                <a:latin typeface="Arial" pitchFamily="34" charset="0"/>
                <a:cs typeface="Arial" pitchFamily="34" charset="0"/>
              </a:rPr>
              <a:t>(b2) During adaptation</a:t>
            </a:r>
          </a:p>
        </p:txBody>
      </p:sp>
      <p:pic>
        <p:nvPicPr>
          <p:cNvPr id="26" name="Picture 5" descr="figure">
            <a:extLst>
              <a:ext uri="{FF2B5EF4-FFF2-40B4-BE49-F238E27FC236}">
                <a16:creationId xmlns:a16="http://schemas.microsoft.com/office/drawing/2014/main" id="{5C0D2AB1-4DF7-9ABF-99CB-E3FD96F720D7}"/>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543686" y="4023212"/>
            <a:ext cx="1073047" cy="835068"/>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AA766A37-DC07-310B-9E41-17BB75EEE6D3}"/>
              </a:ext>
            </a:extLst>
          </p:cNvPr>
          <p:cNvSpPr txBox="1"/>
          <p:nvPr/>
        </p:nvSpPr>
        <p:spPr>
          <a:xfrm>
            <a:off x="6380941" y="4824331"/>
            <a:ext cx="1398536" cy="261610"/>
          </a:xfrm>
          <a:prstGeom prst="rect">
            <a:avLst/>
          </a:prstGeom>
          <a:noFill/>
          <a:ln>
            <a:noFill/>
          </a:ln>
        </p:spPr>
        <p:txBody>
          <a:bodyPr wrap="square" rtlCol="0">
            <a:spAutoFit/>
          </a:bodyPr>
          <a:lstStyle/>
          <a:p>
            <a:pPr algn="ctr"/>
            <a:r>
              <a:rPr lang="en-US" altLang="ko-KR" sz="1100" dirty="0">
                <a:latin typeface="Arial" panose="020B0604020202020204" pitchFamily="34" charset="0"/>
                <a:cs typeface="Arial" panose="020B0604020202020204" pitchFamily="34" charset="0"/>
              </a:rPr>
              <a:t>(a1) Top-view map</a:t>
            </a:r>
            <a:endParaRPr lang="ko-KR" altLang="en-US" sz="1100" dirty="0">
              <a:latin typeface="Arial" panose="020B0604020202020204" pitchFamily="34" charset="0"/>
              <a:cs typeface="Arial" panose="020B0604020202020204" pitchFamily="34" charset="0"/>
            </a:endParaRPr>
          </a:p>
        </p:txBody>
      </p:sp>
      <p:pic>
        <p:nvPicPr>
          <p:cNvPr id="32" name="그림 31" descr="figure">
            <a:extLst>
              <a:ext uri="{FF2B5EF4-FFF2-40B4-BE49-F238E27FC236}">
                <a16:creationId xmlns:a16="http://schemas.microsoft.com/office/drawing/2014/main" id="{76376554-1CBD-6DEA-7517-716BE3A93A38}"/>
              </a:ext>
            </a:extLst>
          </p:cNvPr>
          <p:cNvPicPr>
            <a:picLocks noChangeAspect="1"/>
          </p:cNvPicPr>
          <p:nvPr/>
        </p:nvPicPr>
        <p:blipFill>
          <a:blip r:embed="rId7">
            <a:extLst>
              <a:ext uri="{28A0092B-C50C-407E-A947-70E740481C1C}">
                <a14:useLocalDpi xmlns:a14="http://schemas.microsoft.com/office/drawing/2010/main" val="0"/>
              </a:ext>
            </a:extLst>
          </a:blip>
          <a:srcRect l="38851" b="89949"/>
          <a:stretch>
            <a:fillRect/>
          </a:stretch>
        </p:blipFill>
        <p:spPr>
          <a:xfrm>
            <a:off x="6467056" y="3791494"/>
            <a:ext cx="2824110" cy="195749"/>
          </a:xfrm>
          <a:prstGeom prst="rect">
            <a:avLst/>
          </a:prstGeom>
        </p:spPr>
      </p:pic>
      <p:sp>
        <p:nvSpPr>
          <p:cNvPr id="34" name="TextBox 33">
            <a:extLst>
              <a:ext uri="{FF2B5EF4-FFF2-40B4-BE49-F238E27FC236}">
                <a16:creationId xmlns:a16="http://schemas.microsoft.com/office/drawing/2014/main" id="{296B4248-9017-2624-47B4-90E477797787}"/>
              </a:ext>
            </a:extLst>
          </p:cNvPr>
          <p:cNvSpPr txBox="1"/>
          <p:nvPr/>
        </p:nvSpPr>
        <p:spPr>
          <a:xfrm>
            <a:off x="7998855" y="4817668"/>
            <a:ext cx="1277184" cy="261610"/>
          </a:xfrm>
          <a:prstGeom prst="rect">
            <a:avLst/>
          </a:prstGeom>
          <a:noFill/>
          <a:ln>
            <a:noFill/>
          </a:ln>
        </p:spPr>
        <p:txBody>
          <a:bodyPr wrap="square" rtlCol="0">
            <a:spAutoFit/>
          </a:bodyPr>
          <a:lstStyle/>
          <a:p>
            <a:pPr algn="ctr"/>
            <a:r>
              <a:rPr lang="en-US" altLang="ko-KR" sz="1100" dirty="0">
                <a:latin typeface="Arial" panose="020B0604020202020204" pitchFamily="34" charset="0"/>
                <a:cs typeface="Arial" panose="020B0604020202020204" pitchFamily="34" charset="0"/>
              </a:rPr>
              <a:t>(a2) Object map</a:t>
            </a:r>
            <a:endParaRPr lang="ko-KR" altLang="en-US" sz="1100" dirty="0">
              <a:latin typeface="Arial" panose="020B0604020202020204" pitchFamily="34" charset="0"/>
              <a:cs typeface="Arial" panose="020B0604020202020204" pitchFamily="34" charset="0"/>
            </a:endParaRPr>
          </a:p>
        </p:txBody>
      </p:sp>
      <p:pic>
        <p:nvPicPr>
          <p:cNvPr id="36" name="Picture 2" descr="figure">
            <a:extLst>
              <a:ext uri="{FF2B5EF4-FFF2-40B4-BE49-F238E27FC236}">
                <a16:creationId xmlns:a16="http://schemas.microsoft.com/office/drawing/2014/main" id="{815C620F-03E2-C074-84A7-D9361BD29E60}"/>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915517" y="4044085"/>
            <a:ext cx="1711064" cy="2303207"/>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11906725-6016-9804-F9D6-E352B4CAE8CD}"/>
              </a:ext>
            </a:extLst>
          </p:cNvPr>
          <p:cNvSpPr txBox="1"/>
          <p:nvPr/>
        </p:nvSpPr>
        <p:spPr>
          <a:xfrm>
            <a:off x="491752" y="6478051"/>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cs typeface="Arial" pitchFamily="34" charset="0"/>
              </a:rPr>
              <a:t>Networked monitoring systems</a:t>
            </a:r>
          </a:p>
        </p:txBody>
      </p:sp>
      <p:sp>
        <p:nvSpPr>
          <p:cNvPr id="41" name="TextBox 40">
            <a:extLst>
              <a:ext uri="{FF2B5EF4-FFF2-40B4-BE49-F238E27FC236}">
                <a16:creationId xmlns:a16="http://schemas.microsoft.com/office/drawing/2014/main" id="{A7326B21-074C-921E-4B71-56A17CA0E4CB}"/>
              </a:ext>
            </a:extLst>
          </p:cNvPr>
          <p:cNvSpPr txBox="1"/>
          <p:nvPr/>
        </p:nvSpPr>
        <p:spPr>
          <a:xfrm>
            <a:off x="3336174" y="6467241"/>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cs typeface="Arial" pitchFamily="34" charset="0"/>
              </a:rPr>
              <a:t>Action shaping model structure</a:t>
            </a:r>
          </a:p>
        </p:txBody>
      </p:sp>
      <p:cxnSp>
        <p:nvCxnSpPr>
          <p:cNvPr id="43" name="직선 화살표 연결선 42">
            <a:extLst>
              <a:ext uri="{FF2B5EF4-FFF2-40B4-BE49-F238E27FC236}">
                <a16:creationId xmlns:a16="http://schemas.microsoft.com/office/drawing/2014/main" id="{CC721177-F517-0FDA-A155-52A2513DD008}"/>
              </a:ext>
            </a:extLst>
          </p:cNvPr>
          <p:cNvCxnSpPr>
            <a:cxnSpLocks/>
          </p:cNvCxnSpPr>
          <p:nvPr/>
        </p:nvCxnSpPr>
        <p:spPr>
          <a:xfrm>
            <a:off x="7688649" y="4373464"/>
            <a:ext cx="384059" cy="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44" name="직선 화살표 연결선 43">
            <a:extLst>
              <a:ext uri="{FF2B5EF4-FFF2-40B4-BE49-F238E27FC236}">
                <a16:creationId xmlns:a16="http://schemas.microsoft.com/office/drawing/2014/main" id="{289F50E6-554C-86D1-E2C9-2058026FE874}"/>
              </a:ext>
            </a:extLst>
          </p:cNvPr>
          <p:cNvCxnSpPr>
            <a:cxnSpLocks/>
          </p:cNvCxnSpPr>
          <p:nvPr/>
        </p:nvCxnSpPr>
        <p:spPr>
          <a:xfrm>
            <a:off x="7687082" y="5507608"/>
            <a:ext cx="384059" cy="1"/>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46" name="TextBox 45">
            <a:extLst>
              <a:ext uri="{FF2B5EF4-FFF2-40B4-BE49-F238E27FC236}">
                <a16:creationId xmlns:a16="http://schemas.microsoft.com/office/drawing/2014/main" id="{71316E9D-F637-1E73-F5E2-E298FD3832E6}"/>
              </a:ext>
            </a:extLst>
          </p:cNvPr>
          <p:cNvSpPr txBox="1"/>
          <p:nvPr/>
        </p:nvSpPr>
        <p:spPr>
          <a:xfrm>
            <a:off x="6687023" y="6475714"/>
            <a:ext cx="2439356" cy="152349"/>
          </a:xfrm>
          <a:prstGeom prst="rect">
            <a:avLst/>
          </a:prstGeom>
          <a:noFill/>
          <a:ln>
            <a:noFill/>
          </a:ln>
        </p:spPr>
        <p:txBody>
          <a:bodyPr wrap="square" lIns="0" tIns="0" rIns="0" bIns="0">
            <a:spAutoFit/>
          </a:bodyPr>
          <a:lstStyle/>
          <a:p>
            <a:pPr algn="ctr">
              <a:lnSpc>
                <a:spcPct val="90000"/>
              </a:lnSpc>
            </a:pPr>
            <a:r>
              <a:rPr lang="en-US" altLang="ko-KR" sz="1100" b="1" dirty="0">
                <a:latin typeface="Arial" panose="020B0604020202020204" pitchFamily="34" charset="0"/>
                <a:ea typeface="Arial" panose="020B0604020202020204" pitchFamily="34" charset="0"/>
                <a:cs typeface="Arial" panose="020B0604020202020204" pitchFamily="34" charset="0"/>
              </a:rPr>
              <a:t>Action attention map transfer</a:t>
            </a:r>
            <a:endParaRPr lang="en-US" altLang="ko-KR" sz="1100" b="1" dirty="0">
              <a:latin typeface="Arial" panose="020B0604020202020204" pitchFamily="34" charset="0"/>
              <a:cs typeface="Arial" pitchFamily="34" charset="0"/>
            </a:endParaRP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545665"/>
            <a:ext cx="931685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[RL, Finetuning]</a:t>
            </a:r>
            <a:r>
              <a:rPr lang="en-US" altLang="ko-KR" b="1" dirty="0">
                <a:latin typeface="Arial" panose="020B0604020202020204" pitchFamily="34" charset="0"/>
                <a:ea typeface="Arial" panose="020B0604020202020204" pitchFamily="34" charset="0"/>
                <a:cs typeface="Arial" panose="020B0604020202020204" pitchFamily="34" charset="0"/>
              </a:rPr>
              <a:t> Repot — Transferable RL for Networked Monitoring</a:t>
            </a:r>
            <a:endParaRPr lang="en-US" altLang="ko-KR"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1052736"/>
            <a:ext cx="9603782" cy="2514657"/>
          </a:xfrm>
          <a:prstGeom prst="rect">
            <a:avLst/>
          </a:prstGeom>
          <a:noFill/>
        </p:spPr>
        <p:txBody>
          <a:bodyPr wrap="square">
            <a:no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2020–2021 · IEEE Access 2021 (first author) · Network Monitoring System patent, KR 2023 / US 2026 (first inventor)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 </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implementation, experiments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When sensing devices share a single link, the bandwidth allocation must keep a server's continual query accurate as the network degrades. </a:t>
            </a:r>
            <a:r>
              <a:rPr lang="en-US" altLang="ko-KR" sz="1100" u="sng" dirty="0">
                <a:latin typeface="Arial" panose="020B0604020202020204" pitchFamily="34" charset="0"/>
                <a:ea typeface="Arial" panose="020B0604020202020204" pitchFamily="34" charset="0"/>
                <a:cs typeface="Arial" panose="020B0604020202020204" pitchFamily="34" charset="0"/>
              </a:rPr>
              <a:t>Re-learning that allocation from scratch for each new network scale and condition is prohibitively expensive</a:t>
            </a:r>
            <a:r>
              <a:rPr lang="en-US" altLang="ko-KR" sz="1100" dirty="0">
                <a:latin typeface="Arial" panose="020B0604020202020204" pitchFamily="34" charset="0"/>
                <a:ea typeface="Arial" panose="020B0604020202020204" pitchFamily="34" charset="0"/>
                <a:cs typeface="Arial" panose="020B0604020202020204" pitchFamily="34" charset="0"/>
              </a:rPr>
              <a:t> (left figure)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Approach</a:t>
            </a:r>
            <a:r>
              <a:rPr lang="en-US" altLang="ko-KR" sz="1100" dirty="0">
                <a:latin typeface="Arial" panose="020B0604020202020204" pitchFamily="34" charset="0"/>
                <a:ea typeface="Arial" panose="020B0604020202020204" pitchFamily="34" charset="0"/>
                <a:cs typeface="Arial" panose="020B0604020202020204" pitchFamily="34" charset="0"/>
              </a:rPr>
              <a:t> — Two-phase transfer (center figure): ① the policy is trained end to end with SAC (soft actor–critic) in an ideal time-slotted source environment with inexpensive samples; ② in the NS-3 target, all learned modules are frozen and a second, small SAC policy (the adjustment function, with its own critics) is trained on expensive samples. Its outputs enter the shaping function together with the frozen latent action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Structure</a:t>
            </a:r>
            <a:r>
              <a:rPr lang="en-US" altLang="ko-KR" sz="1100" dirty="0">
                <a:latin typeface="Arial" panose="020B0604020202020204" pitchFamily="34" charset="0"/>
                <a:ea typeface="Arial" panose="020B0604020202020204" pitchFamily="34" charset="0"/>
                <a:cs typeface="Arial" panose="020B0604020202020204" pitchFamily="34" charset="0"/>
              </a:rPr>
              <a:t> — Flow embedding: a Transformer encoder (per-device MLP vectorization + self-attention over all flows) represents every stream by its history and its relation to the others in one vector space → Allocation: a trainable function emits a latent action → Shaping: a non-trainable function maps it to per-device bandwidth limits by a distance-weighted softmax; the adjustment function supplies the control values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The policy adapts with 6.25% of the from-scratch training samples and reaches 14.5–20.8% higher QoE (quality of experience) than the two learning-based baselines in the target. QoE holds at 91–94% of the equal-share reference across 49–400 devices in the source, and the SUMO (Simulation of Urban MObility) vehicle study shows +6.5% (urban) and +12.6% (suburban) over Top-Opt, a Top-K heuristic (right figure)</a:t>
            </a:r>
          </a:p>
        </p:txBody>
      </p:sp>
    </p:spTree>
    <p:extLst>
      <p:ext uri="{BB962C8B-B14F-4D97-AF65-F5344CB8AC3E}">
        <p14:creationId xmlns:p14="http://schemas.microsoft.com/office/powerpoint/2010/main" val="493398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Group 12">
            <a:extLst>
              <a:ext uri="{FF2B5EF4-FFF2-40B4-BE49-F238E27FC236}">
                <a16:creationId xmlns:a16="http://schemas.microsoft.com/office/drawing/2014/main" id="{D33CD2D0-B220-9768-D9DA-34CA25B26010}"/>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2C7A089-86FF-9648-3A6E-943151F17C44}"/>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E38A1ADC-C763-8D7C-B019-78AFDC698D5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BB45B632-6985-18D6-8756-E2231ADF9D8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8D248AF6-B74E-E4F4-ADE3-D8D7F86C3F13}"/>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cxnSp>
        <p:nvCxnSpPr>
          <p:cNvPr id="4" name="직선 연결선 3">
            <a:extLst>
              <a:ext uri="{FF2B5EF4-FFF2-40B4-BE49-F238E27FC236}">
                <a16:creationId xmlns:a16="http://schemas.microsoft.com/office/drawing/2014/main" id="{67C72FF8-C84A-9707-021C-DC94582FD4BD}"/>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07FC17-1F18-03B3-7586-6C43D37AB949}"/>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9</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AEAB198A-6994-2E17-354A-CF61F7D2179F}"/>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① Reinforcement Learning — Resource Management &amp; Cloud Robotics</a:t>
            </a:r>
          </a:p>
        </p:txBody>
      </p:sp>
      <p:sp>
        <p:nvSpPr>
          <p:cNvPr id="5" name="TextBox 4">
            <a:extLst>
              <a:ext uri="{FF2B5EF4-FFF2-40B4-BE49-F238E27FC236}">
                <a16:creationId xmlns:a16="http://schemas.microsoft.com/office/drawing/2014/main" id="{4A60E6F1-D7C2-2868-3B84-5D7A0D899C08}"/>
              </a:ext>
            </a:extLst>
          </p:cNvPr>
          <p:cNvSpPr txBox="1"/>
          <p:nvPr/>
        </p:nvSpPr>
        <p:spPr>
          <a:xfrm>
            <a:off x="172654" y="436866"/>
            <a:ext cx="9603782"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[RFM, VLM, VLA]</a:t>
            </a:r>
            <a:r>
              <a:rPr lang="en-US" altLang="ko-KR" b="1" dirty="0">
                <a:latin typeface="Arial" panose="020B0604020202020204" pitchFamily="34" charset="0"/>
                <a:ea typeface="Arial" panose="020B0604020202020204" pitchFamily="34" charset="0"/>
                <a:cs typeface="Arial" panose="020B0604020202020204" pitchFamily="34" charset="0"/>
              </a:rPr>
              <a:t> Physical-AI PoC — Code-as-Policies Demo, RFM Fine-Tuning</a:t>
            </a:r>
          </a:p>
        </p:txBody>
      </p:sp>
      <p:sp>
        <p:nvSpPr>
          <p:cNvPr id="10" name="TextBox 9">
            <a:extLst>
              <a:ext uri="{FF2B5EF4-FFF2-40B4-BE49-F238E27FC236}">
                <a16:creationId xmlns:a16="http://schemas.microsoft.com/office/drawing/2014/main" id="{19D6C12A-DC67-8854-3182-C570D83972F0}"/>
              </a:ext>
            </a:extLst>
          </p:cNvPr>
          <p:cNvSpPr txBox="1"/>
          <p:nvPr/>
        </p:nvSpPr>
        <p:spPr>
          <a:xfrm>
            <a:off x="172654" y="795091"/>
            <a:ext cx="9603782" cy="3636273"/>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Physical-AI Core-Technology PoC (MSIT / NIPA, 2025, researcher): the four-stage demo was recorded in Jan. 2026. The SO-101 work (Mar.–May 2026) is a separate effort toward human-to-robot transfer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Participant</a:t>
            </a:r>
            <a:r>
              <a:rPr lang="en-US" altLang="ko-KR" sz="1100" dirty="0">
                <a:latin typeface="Arial" panose="020B0604020202020204" pitchFamily="34" charset="0"/>
                <a:ea typeface="Arial" panose="020B0604020202020204" pitchFamily="34" charset="0"/>
                <a:cs typeface="Arial" panose="020B0604020202020204" pitchFamily="34" charset="0"/>
              </a:rPr>
              <a:t> in the PoC demo (pipeline structure design, LeRobot runs) and carried out the SO-101 work (encoder pretraining, data collection, fine-tuning, real-arm tests)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Demo: skill-based Code-as-Policies</a:t>
            </a:r>
            <a:r>
              <a:rPr lang="en-US" altLang="ko-KR" sz="1100" dirty="0">
                <a:latin typeface="Arial" panose="020B0604020202020204" pitchFamily="34" charset="0"/>
                <a:ea typeface="Arial" panose="020B0604020202020204" pitchFamily="34" charset="0"/>
                <a:cs typeface="Arial" panose="020B0604020202020204" pitchFamily="34" charset="0"/>
              </a:rPr>
              <a:t> — The task sequence is fixed (pick → move → assemble → inspect) and the skills are predefined. For each skill, </a:t>
            </a:r>
            <a:r>
              <a:rPr lang="en-US" altLang="ko-KR" sz="1100" u="sng" dirty="0">
                <a:latin typeface="Arial" panose="020B0604020202020204" pitchFamily="34" charset="0"/>
                <a:ea typeface="Arial" panose="020B0604020202020204" pitchFamily="34" charset="0"/>
                <a:cs typeface="Arial" panose="020B0604020202020204" pitchFamily="34" charset="0"/>
              </a:rPr>
              <a:t>the prompt to Gemini (a VLM, vision-language model) carries a code skeleton written over the robot's perception and control primitives, and Gemini fills the skeleton with executable code offline</a:t>
            </a:r>
            <a:r>
              <a:rPr lang="en-US" altLang="ko-KR" sz="1100" dirty="0">
                <a:latin typeface="Arial" panose="020B0604020202020204" pitchFamily="34" charset="0"/>
                <a:ea typeface="Arial" panose="020B0604020202020204" pitchFamily="34" charset="0"/>
                <a:cs typeface="Arial" panose="020B0604020202020204" pitchFamily="34" charset="0"/>
              </a:rPr>
              <a:t>; the filled skills form the library. </a:t>
            </a:r>
            <a:r>
              <a:rPr lang="en-US" altLang="ko-KR" sz="1100" u="sng" dirty="0">
                <a:latin typeface="Arial" panose="020B0604020202020204" pitchFamily="34" charset="0"/>
                <a:ea typeface="Arial" panose="020B0604020202020204" pitchFamily="34" charset="0"/>
                <a:cs typeface="Arial" panose="020B0604020202020204" pitchFamily="34" charset="0"/>
              </a:rPr>
              <a:t>At run time Gemini reads the camera frame, selects a skill, and that code drives the arms on LeRobot (LeKiwi's arm picks, two SO-101 arms assemble). </a:t>
            </a:r>
            <a:r>
              <a:rPr lang="en-US" altLang="ko-KR" sz="1100" dirty="0">
                <a:latin typeface="Arial" panose="020B0604020202020204" pitchFamily="34" charset="0"/>
                <a:ea typeface="Arial" panose="020B0604020202020204" pitchFamily="34" charset="0"/>
                <a:cs typeface="Arial" panose="020B0604020202020204" pitchFamily="34" charset="0"/>
              </a:rPr>
              <a:t>The LeKiwi mobile base carries the parts along a black floor line to the assembly table and an inspection camera returns pass/fail (video at right)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SO-101: RFM (robot foundation model) encoder fine-tuning toward human-to-robot (H2R) transfer</a:t>
            </a:r>
            <a:r>
              <a:rPr lang="en-US" altLang="ko-KR" sz="1100" dirty="0">
                <a:latin typeface="Arial" panose="020B0604020202020204" pitchFamily="34" charset="0"/>
                <a:ea typeface="Arial" panose="020B0604020202020204" pitchFamily="34" charset="0"/>
                <a:cs typeface="Arial" panose="020B0604020202020204" pitchFamily="34" charset="0"/>
              </a:rPr>
              <a:t> — The vision encoder was the part trained so that human videos could guide robot imitation learning: H2R was reproduced on public data (two ViT-B/16 encoders pretrained by masked autoencoding, on human and on manipulation videos, each as the ACT (Action Chunking with Transformers) backbone, compared offline with ImageNet pretraining). On the real arm, </a:t>
            </a:r>
            <a:r>
              <a:rPr lang="en-US" altLang="ko-KR" sz="1100" u="sng" dirty="0">
                <a:latin typeface="Arial" panose="020B0604020202020204" pitchFamily="34" charset="0"/>
                <a:ea typeface="Arial" panose="020B0604020202020204" pitchFamily="34" charset="0"/>
                <a:cs typeface="Arial" panose="020B0604020202020204" pitchFamily="34" charset="0"/>
              </a:rPr>
              <a:t>the vision encoders of the pretrained SmolVLA and π0.5 were then fine-tuned on LeRobot</a:t>
            </a:r>
            <a:r>
              <a:rPr lang="en-US" altLang="ko-KR" sz="1100" dirty="0">
                <a:latin typeface="Arial" panose="020B0604020202020204" pitchFamily="34" charset="0"/>
                <a:ea typeface="Arial" panose="020B0604020202020204" pitchFamily="34" charset="0"/>
                <a:cs typeface="Arial" panose="020B0604020202020204" pitchFamily="34" charset="0"/>
              </a:rPr>
              <a:t>, action expert frozen, on teleoperated donut pick-and-place data (104 episodes, 45,553 frames). ACT on the same data was the baseline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Models</a:t>
            </a:r>
            <a:r>
              <a:rPr lang="en-US" altLang="ko-KR" sz="1100" dirty="0">
                <a:latin typeface="Arial" panose="020B0604020202020204" pitchFamily="34" charset="0"/>
                <a:ea typeface="Arial" panose="020B0604020202020204" pitchFamily="34" charset="0"/>
                <a:cs typeface="Arial" panose="020B0604020202020204" pitchFamily="34" charset="0"/>
              </a:rPr>
              <a:t> — ACT: CNN vision backbone + transformer encoder–decoder trained as a conditional VAE; SmolVLA: SmolVLM-2 vision-language backbone + flow-matching action expert; π0.5: PaliGemma-based VLM + flow-matching action expert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Real-arm result</a:t>
            </a:r>
            <a:r>
              <a:rPr lang="en-US" altLang="ko-KR" sz="1100" dirty="0">
                <a:latin typeface="Arial" panose="020B0604020202020204" pitchFamily="34" charset="0"/>
                <a:ea typeface="Arial" panose="020B0604020202020204" pitchFamily="34" charset="0"/>
                <a:cs typeface="Arial" panose="020B0604020202020204" pitchFamily="34" charset="0"/>
              </a:rPr>
              <a:t> — On donut pick-and-place, 10 trials each at trained positions (in-distribution, ID) and new positions (out-of-distribution, OOD), reported as [ID, OOD]: ACT [70%, 40%], SmolVLA [90%, 50%], π0.5 [80%, 60%]</a:t>
            </a:r>
          </a:p>
        </p:txBody>
      </p:sp>
      <p:pic>
        <p:nvPicPr>
          <p:cNvPr id="22" name="Picture 21" descr="image.png"/>
          <p:cNvPicPr>
            <a:picLocks noChangeAspect="1"/>
          </p:cNvPicPr>
          <p:nvPr/>
        </p:nvPicPr>
        <p:blipFill>
          <a:blip r:embed="rId5"/>
          <a:stretch>
            <a:fillRect/>
          </a:stretch>
        </p:blipFill>
        <p:spPr>
          <a:xfrm>
            <a:off x="864552" y="4443554"/>
            <a:ext cx="3950208" cy="1975104"/>
          </a:xfrm>
          <a:prstGeom prst="rect">
            <a:avLst/>
          </a:prstGeom>
        </p:spPr>
      </p:pic>
      <p:sp>
        <p:nvSpPr>
          <p:cNvPr id="38" name="TextBox 37">
            <a:extLst>
              <a:ext uri="{FF2B5EF4-FFF2-40B4-BE49-F238E27FC236}">
                <a16:creationId xmlns:a16="http://schemas.microsoft.com/office/drawing/2014/main" id="{11906725-6016-9804-F9D6-E352B4CAE8CD}"/>
              </a:ext>
            </a:extLst>
          </p:cNvPr>
          <p:cNvSpPr txBox="1"/>
          <p:nvPr/>
        </p:nvSpPr>
        <p:spPr>
          <a:xfrm>
            <a:off x="416496" y="6458030"/>
            <a:ext cx="484632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Demo: offline skill code; camera → Gemini selects skill → LeRobot</a:t>
            </a:r>
          </a:p>
        </p:txBody>
      </p:sp>
      <p:sp>
        <p:nvSpPr>
          <p:cNvPr id="209" name="TextBox 37">
            <a:extLst>
              <a:ext uri="{FF2B5EF4-FFF2-40B4-BE49-F238E27FC236}">
                <a16:creationId xmlns:a16="http://schemas.microsoft.com/office/drawing/2014/main" id="{11906725-6016-9804-F9D6-E352B4CAE8CD}"/>
              </a:ext>
            </a:extLst>
          </p:cNvPr>
          <p:cNvSpPr txBox="1"/>
          <p:nvPr/>
        </p:nvSpPr>
        <p:spPr>
          <a:xfrm>
            <a:off x="5500560" y="6476318"/>
            <a:ext cx="3931920" cy="152349"/>
          </a:xfrm>
          <a:prstGeom prst="rect">
            <a:avLst/>
          </a:prstGeom>
          <a:noFill/>
          <a:ln>
            <a:noFill/>
          </a:ln>
        </p:spPr>
        <p:txBody>
          <a:bodyPr wrap="square" lIns="0" tIns="0" rIns="0" bIns="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PoC demo video (41 s): pick, move, assemble, inspect</a:t>
            </a:r>
          </a:p>
        </p:txBody>
      </p:sp>
      <p:pic>
        <p:nvPicPr>
          <p:cNvPr id="39" name="poc_demo_41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5697156" y="4445383"/>
            <a:ext cx="3538728" cy="199156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1034" fill="hold"/>
                                        <p:tgtEl>
                                          <p:spTgt spid="3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9"/>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7934F-7FED-2F64-E20C-A09062937C63}"/>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52DA9AB-7727-CB48-E8C9-A7B7AA569817}"/>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D92C26A8-53E8-573D-F4AB-46712D826607}"/>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E94EDEA2-3024-78CF-1C84-BF4EDF205D81}"/>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CD3AF7D8-62C3-F996-CA25-0DF260021F4A}"/>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62BEDAEB-5921-DA97-D1A7-4A8CCB000755}"/>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EAA1E42D-DEA8-2B5F-478A-7FCB3AAAD8DE}"/>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1F0F8ADE-1B5C-310C-987A-0E9E13B954F5}"/>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10</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6F4D3AB4-666E-A4E5-8D9B-0AC5A858F07A}"/>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② Agentic AI — LLM</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Agents for System Operation (Robotics &amp; V2G)</a:t>
            </a:r>
            <a:endParaRPr lang="en-US" altLang="ko-KR" sz="1400" dirty="0">
              <a:latin typeface="Arial" pitchFamily="34" charset="0"/>
              <a:ea typeface="Arial Unicode MS" pitchFamily="50" charset="-127"/>
              <a:cs typeface="Arial" pitchFamily="34" charset="0"/>
            </a:endParaRPr>
          </a:p>
        </p:txBody>
      </p:sp>
      <p:sp>
        <p:nvSpPr>
          <p:cNvPr id="178" name="TextBox 177">
            <a:extLst>
              <a:ext uri="{FF2B5EF4-FFF2-40B4-BE49-F238E27FC236}">
                <a16:creationId xmlns:a16="http://schemas.microsoft.com/office/drawing/2014/main" id="{D3FD8C36-C268-D947-AE5A-EF45E6C193CF}"/>
              </a:ext>
            </a:extLst>
          </p:cNvPr>
          <p:cNvSpPr txBox="1"/>
          <p:nvPr/>
        </p:nvSpPr>
        <p:spPr>
          <a:xfrm>
            <a:off x="6345936" y="6565392"/>
            <a:ext cx="342900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Manipulation task executions (Meta-World)</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6907D9A4-4223-B718-D2F5-44CE38804800}"/>
              </a:ext>
            </a:extLst>
          </p:cNvPr>
          <p:cNvSpPr txBox="1"/>
          <p:nvPr/>
        </p:nvSpPr>
        <p:spPr>
          <a:xfrm>
            <a:off x="138124" y="6551766"/>
            <a:ext cx="6435448"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LDuS: language context → LLM-generated loss code → guided trajectory generation</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8" name="그림 7" descr="figure">
            <a:extLst>
              <a:ext uri="{FF2B5EF4-FFF2-40B4-BE49-F238E27FC236}">
                <a16:creationId xmlns:a16="http://schemas.microsoft.com/office/drawing/2014/main" id="{0F8D9572-845D-F5AC-8649-668E0540038E}"/>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35945" y="4506862"/>
            <a:ext cx="4918060" cy="2026616"/>
          </a:xfrm>
          <a:prstGeom prst="rect">
            <a:avLst/>
          </a:prstGeom>
        </p:spPr>
      </p:pic>
      <p:pic>
        <p:nvPicPr>
          <p:cNvPr id="10" name="expert">
            <a:hlinkClick r:id="" action="ppaction://media"/>
            <a:extLst>
              <a:ext uri="{FF2B5EF4-FFF2-40B4-BE49-F238E27FC236}">
                <a16:creationId xmlns:a16="http://schemas.microsoft.com/office/drawing/2014/main" id="{4966335C-3BF5-FAA5-A039-AF82B8C2790C}"/>
              </a:ext>
            </a:extLst>
          </p:cNvPr>
          <p:cNvPicPr>
            <a:picLocks noChangeAspect="1"/>
          </p:cNvPicPr>
          <p:nvPr>
            <a:videoFile r:link="rId2"/>
            <p:extLst>
              <p:ext uri="{DAA4B4D4-6D71-4841-9C94-3DE7FCFB9230}">
                <p14:media xmlns:p14="http://schemas.microsoft.com/office/powerpoint/2010/main" r:embed="rId1"/>
              </p:ext>
            </p:extLst>
          </p:nvPr>
        </p:nvPicPr>
        <p:blipFill>
          <a:blip r:embed="rId8"/>
          <a:stretch>
            <a:fillRect/>
          </a:stretch>
        </p:blipFill>
        <p:spPr>
          <a:xfrm>
            <a:off x="7933077" y="5509811"/>
            <a:ext cx="1380672" cy="1037293"/>
          </a:xfrm>
          <a:prstGeom prst="rect">
            <a:avLst/>
          </a:prstGeom>
        </p:spPr>
      </p:pic>
      <p:pic>
        <p:nvPicPr>
          <p:cNvPr id="11" name="window-open-variant-v2_0">
            <a:hlinkClick r:id="" action="ppaction://media"/>
            <a:extLst>
              <a:ext uri="{FF2B5EF4-FFF2-40B4-BE49-F238E27FC236}">
                <a16:creationId xmlns:a16="http://schemas.microsoft.com/office/drawing/2014/main" id="{C9F16B56-C994-0741-A6C3-006D62DAA0EB}"/>
              </a:ext>
            </a:extLst>
          </p:cNvPr>
          <p:cNvPicPr>
            <a:picLocks noChangeAspect="1"/>
          </p:cNvPicPr>
          <p:nvPr>
            <a:videoFile r:link="rId4"/>
            <p:extLst>
              <p:ext uri="{DAA4B4D4-6D71-4841-9C94-3DE7FCFB9230}">
                <p14:media xmlns:p14="http://schemas.microsoft.com/office/powerpoint/2010/main" r:embed="rId3"/>
              </p:ext>
            </p:extLst>
          </p:nvPr>
        </p:nvPicPr>
        <p:blipFill>
          <a:blip r:embed="rId9"/>
          <a:stretch>
            <a:fillRect/>
          </a:stretch>
        </p:blipFill>
        <p:spPr>
          <a:xfrm>
            <a:off x="6928954" y="4426148"/>
            <a:ext cx="1380671" cy="1037292"/>
          </a:xfrm>
          <a:prstGeom prst="rect">
            <a:avLst/>
          </a:prstGeom>
        </p:spPr>
      </p:pic>
      <p:sp>
        <p:nvSpPr>
          <p:cNvPr id="3" name="TextBox 2">
            <a:extLst>
              <a:ext uri="{FF2B5EF4-FFF2-40B4-BE49-F238E27FC236}">
                <a16:creationId xmlns:a16="http://schemas.microsoft.com/office/drawing/2014/main" id="{B044F6A2-4FBE-E8F8-4DE4-DB364EDD45DE}"/>
              </a:ext>
            </a:extLst>
          </p:cNvPr>
          <p:cNvSpPr txBox="1"/>
          <p:nvPr/>
        </p:nvSpPr>
        <p:spPr>
          <a:xfrm>
            <a:off x="173754" y="467380"/>
            <a:ext cx="9732246"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[Diffusion, Action Decoder]</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err="1">
                <a:latin typeface="Arial" panose="020B0604020202020204" pitchFamily="34" charset="0"/>
                <a:ea typeface="Arial" panose="020B0604020202020204" pitchFamily="34" charset="0"/>
                <a:cs typeface="Arial" panose="020B0604020202020204" pitchFamily="34" charset="0"/>
              </a:rPr>
              <a:t>LDuS</a:t>
            </a:r>
            <a:r>
              <a:rPr lang="en-US" altLang="ko-KR" b="1" dirty="0">
                <a:latin typeface="Arial" panose="020B0604020202020204" pitchFamily="34" charset="0"/>
                <a:ea typeface="Arial" panose="020B0604020202020204" pitchFamily="34" charset="0"/>
                <a:cs typeface="Arial" panose="020B0604020202020204" pitchFamily="34" charset="0"/>
              </a:rPr>
              <a:t> — LLM-Guided Skill Diffusion for Policy Adaptation</a:t>
            </a:r>
            <a:endParaRPr lang="en-US" altLang="ko-KR" dirty="0">
              <a:latin typeface="Arial" pitchFamily="34" charset="0"/>
              <a:ea typeface="Arial Unicode MS" pitchFamily="50" charset="-127"/>
              <a:cs typeface="Arial" pitchFamily="34" charset="0"/>
            </a:endParaRPr>
          </a:p>
        </p:txBody>
      </p:sp>
      <p:sp>
        <p:nvSpPr>
          <p:cNvPr id="6" name="TextBox 5">
            <a:extLst>
              <a:ext uri="{FF2B5EF4-FFF2-40B4-BE49-F238E27FC236}">
                <a16:creationId xmlns:a16="http://schemas.microsoft.com/office/drawing/2014/main" id="{3BF4EAA4-CBF7-36DD-C06A-7CDF9E874A66}"/>
              </a:ext>
            </a:extLst>
          </p:cNvPr>
          <p:cNvSpPr txBox="1"/>
          <p:nvPr/>
        </p:nvSpPr>
        <p:spPr>
          <a:xfrm>
            <a:off x="173736" y="906098"/>
            <a:ext cx="9603782" cy="373737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2023–2024 · “LLM-based Skill Diffusion for Zero-shot Policy Adaptation,” NeurIPS 2024 Main Conference Track (second author)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architecture, experiment design; robot-task validation on Meta-World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 skill-based policy learned from expert data </a:t>
            </a:r>
            <a:r>
              <a:rPr lang="en-US" altLang="ko-KR" sz="1100" u="sng" dirty="0">
                <a:latin typeface="Arial" panose="020B0604020202020204" pitchFamily="34" charset="0"/>
                <a:ea typeface="Arial" panose="020B0604020202020204" pitchFamily="34" charset="0"/>
                <a:cs typeface="Arial" panose="020B0604020202020204" pitchFamily="34" charset="0"/>
              </a:rPr>
              <a:t>cannot adapt to a language-specified context unseen in training, and retraining for each context is expensive</a:t>
            </a:r>
            <a:r>
              <a:rPr lang="en-US" altLang="ko-KR" sz="1100" dirty="0">
                <a:latin typeface="Arial" panose="020B0604020202020204" pitchFamily="34" charset="0"/>
                <a:ea typeface="Arial" panose="020B0604020202020204" pitchFamily="34" charset="0"/>
                <a:cs typeface="Arial" panose="020B0604020202020204" pitchFamily="34" charset="0"/>
              </a:rPr>
              <a:t> (left figure, Cases 2–3). </a:t>
            </a:r>
            <a:r>
              <a:rPr lang="en-US" altLang="ko-KR" sz="1100" u="sng" dirty="0">
                <a:latin typeface="Arial" panose="020B0604020202020204" pitchFamily="34" charset="0"/>
                <a:ea typeface="Arial" panose="020B0604020202020204" pitchFamily="34" charset="0"/>
                <a:cs typeface="Arial" panose="020B0604020202020204" pitchFamily="34" charset="0"/>
              </a:rPr>
              <a:t>Such a context is a changed environmental condition or a user requirement such as a target speed, low power usage, or a spatial constraint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Pretraining (skill learning)</a:t>
            </a:r>
            <a:r>
              <a:rPr lang="en-US" altLang="ko-KR" sz="1100" dirty="0">
                <a:latin typeface="Arial" panose="020B0604020202020204" pitchFamily="34" charset="0"/>
                <a:ea typeface="Arial" panose="020B0604020202020204" pitchFamily="34" charset="0"/>
                <a:cs typeface="Arial" panose="020B0604020202020204" pitchFamily="34" charset="0"/>
              </a:rPr>
              <a:t> — On goal-annotated expert trajectories without context, a hierarchical skill model is trained: a VAE skill encoder maps an h-step state–action segment to a skill embedding, a skill prior predicts it from the state and the language goal encoded by CLIP (contrastive language–image pretraining), and a skill diffusion planner, a U-Net denoiser as in Diffuser, reconstructs the segment from the embedding. Sequential in-painting fixes the past states and actions into the generated trajectory, so the planner completes the rest at test time</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Adaptation (zero-shot, no policy update)</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In the manner of Code-as-Policies (the LLM writes executable code instead of acting directly), but for a loss function rather than the policy, GPT-3.5 turns the context into loss code, and the gradient of that loss guides every denoising step of the pretrained planner</a:t>
            </a:r>
            <a:r>
              <a:rPr lang="en-US" altLang="ko-KR" sz="1100" dirty="0">
                <a:latin typeface="Arial" panose="020B0604020202020204" pitchFamily="34" charset="0"/>
                <a:ea typeface="Arial" panose="020B0604020202020204" pitchFamily="34" charset="0"/>
                <a:cs typeface="Arial" panose="020B0604020202020204" pitchFamily="34" charset="0"/>
              </a:rPr>
              <a:t>. GPT-4 judges contact from the camera frame to gate constraints that apply only while touching the object. A closed loop validates the code and the guided trajectory, regenerating faulty code and raising the guidance frequency until the context is satisfied</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LDuS adapts zero-shot to user constraints on how a task is done (speed, force, energy use, spatial bounds) never seen in training, with no policy update. Success rate / context reward vs. </a:t>
            </a:r>
            <a:r>
              <a:rPr lang="en-US" altLang="ko-KR" sz="1100" dirty="0" err="1">
                <a:latin typeface="Arial" panose="020B0604020202020204" pitchFamily="34" charset="0"/>
                <a:ea typeface="Arial" panose="020B0604020202020204" pitchFamily="34" charset="0"/>
                <a:cs typeface="Arial" panose="020B0604020202020204" pitchFamily="34" charset="0"/>
              </a:rPr>
              <a:t>Diffuser+Guidance</a:t>
            </a:r>
            <a:r>
              <a:rPr lang="en-US" altLang="ko-KR" sz="1100" dirty="0">
                <a:latin typeface="Arial" panose="020B0604020202020204" pitchFamily="34" charset="0"/>
                <a:ea typeface="Arial" panose="020B0604020202020204" pitchFamily="34" charset="0"/>
                <a:cs typeface="Arial" panose="020B0604020202020204" pitchFamily="34" charset="0"/>
              </a:rPr>
              <a:t> (same gradient guidance, hand-written loss): Meta-World speed constraints (10 goals) 94.6% / 87.4 vs. 76.4% / 69.8; multi-stage Meta-World (3 long-horizon goals) 84.0% / 82.0 vs. 36.7% / 45.9; a force constraint active only while touching the object, contact judged from the camera frame (2 goals, right figure) 93.1% / 63.5 vs. 1.4% / 33.0</a:t>
            </a:r>
          </a:p>
          <a:p>
            <a:pPr marL="285750" indent="-285750" algn="just">
              <a:lnSpc>
                <a:spcPct val="110000"/>
              </a:lnSpc>
              <a:spcBef>
                <a:spcPts val="400"/>
              </a:spcBef>
              <a:buFont typeface="Arial" panose="020B0604020202020204" pitchFamily="34" charset="0"/>
              <a:buChar char="○"/>
            </a:pPr>
            <a:endParaRPr lang="en-US" altLang="ko-KR" sz="1100" dirty="0">
              <a:latin typeface="Arial" panose="020B0604020202020204" pitchFamily="34" charset="0"/>
              <a:ea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693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8634" fill="hold"/>
                                        <p:tgtEl>
                                          <p:spTgt spid="11"/>
                                        </p:tgtEl>
                                      </p:cBhvr>
                                    </p:cmd>
                                  </p:childTnLst>
                                </p:cTn>
                              </p:par>
                              <p:par>
                                <p:cTn id="7" presetID="1" presetClass="mediacall" presetSubtype="0" fill="hold" nodeType="withEffect">
                                  <p:stCondLst>
                                    <p:cond delay="0"/>
                                  </p:stCondLst>
                                  <p:childTnLst>
                                    <p:cmd type="call" cmd="playFrom(0.0)">
                                      <p:cBhvr>
                                        <p:cTn id="8" dur="31733"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fill="hold" display="0">
                  <p:stCondLst>
                    <p:cond delay="indefinite"/>
                  </p:stCondLst>
                </p:cTn>
                <p:tgtEl>
                  <p:spTgt spid="11"/>
                </p:tgtEl>
              </p:cMediaNode>
            </p:video>
            <p:seq concurrent="1" nextAc="seek">
              <p:cTn id="10" restart="whenNotActive" fill="hold" evtFilter="cancelBubble" nodeType="interactiveSeq">
                <p:stCondLst>
                  <p:cond evt="onClick" delay="0">
                    <p:tgtEl>
                      <p:spTgt spid="11"/>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withEffect">
                                  <p:stCondLst>
                                    <p:cond delay="0"/>
                                  </p:stCondLst>
                                  <p:childTnLst>
                                    <p:cmd type="call" cmd="togglePause">
                                      <p:cBhvr>
                                        <p:cTn id="14" dur="1" fill="hold"/>
                                        <p:tgtEl>
                                          <p:spTgt spid="11"/>
                                        </p:tgtEl>
                                      </p:cBhvr>
                                    </p:cmd>
                                  </p:childTnLst>
                                </p:cTn>
                              </p:par>
                            </p:childTnLst>
                          </p:cTn>
                        </p:par>
                      </p:childTnLst>
                    </p:cTn>
                  </p:par>
                </p:childTnLst>
              </p:cTn>
              <p:nextCondLst>
                <p:cond evt="onClick" delay="0">
                  <p:tgtEl>
                    <p:spTgt spid="11"/>
                  </p:tgtEl>
                </p:cond>
              </p:nextCondLst>
            </p:seq>
            <p:video>
              <p:cMediaNode vol="80000">
                <p:cTn id="15" fill="hold" display="0">
                  <p:stCondLst>
                    <p:cond delay="indefinite"/>
                  </p:stCondLst>
                </p:cTn>
                <p:tgtEl>
                  <p:spTgt spid="10"/>
                </p:tgtEl>
              </p:cMediaNode>
            </p:video>
            <p:seq concurrent="1" nextAc="seek">
              <p:cTn id="16" restart="whenNotActive" fill="hold" evtFilter="cancelBubble" nodeType="interactiveSeq">
                <p:stCondLst>
                  <p:cond evt="onClick" delay="0">
                    <p:tgtEl>
                      <p:spTgt spid="10"/>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withEffect">
                                  <p:stCondLst>
                                    <p:cond delay="0"/>
                                  </p:stCondLst>
                                  <p:childTnLst>
                                    <p:cmd type="call" cmd="togglePause">
                                      <p:cBhvr>
                                        <p:cTn id="20" dur="1" fill="hold"/>
                                        <p:tgtEl>
                                          <p:spTgt spid="10"/>
                                        </p:tgtEl>
                                      </p:cBhvr>
                                    </p:cmd>
                                  </p:childTnLst>
                                </p:cTn>
                              </p:par>
                            </p:childTnLst>
                          </p:cTn>
                        </p:par>
                      </p:childTnLst>
                    </p:cTn>
                  </p:par>
                </p:childTnLst>
              </p:cTn>
              <p:nextCondLst>
                <p:cond evt="onClick" delay="0">
                  <p:tgtEl>
                    <p:spTgt spid="10"/>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CB41E-5474-9A6E-32A0-2DC4E7364FBC}"/>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61649D3-E8A0-19E2-C9D4-0089387E0784}"/>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B227EBC5-73DF-7986-BD80-C0A491567594}"/>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5A64F300-701D-1A67-C351-762A448CA8E5}"/>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12DF1CA8-4BF3-7180-E81D-90EAF309D052}"/>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3F4D7806-96AB-15DC-904E-B4EE61D28C7B}"/>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DBEBC16-C709-6788-660C-9833208FAA3A}"/>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F1F2537B-ED49-2D7D-EBFD-11A3B98A8335}"/>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11</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178" name="TextBox 177">
            <a:extLst>
              <a:ext uri="{FF2B5EF4-FFF2-40B4-BE49-F238E27FC236}">
                <a16:creationId xmlns:a16="http://schemas.microsoft.com/office/drawing/2014/main" id="{F2749F74-C695-56D0-76A4-A6306883C03C}"/>
              </a:ext>
            </a:extLst>
          </p:cNvPr>
          <p:cNvSpPr txBox="1"/>
          <p:nvPr/>
        </p:nvSpPr>
        <p:spPr>
          <a:xfrm>
            <a:off x="4992624" y="6583680"/>
            <a:ext cx="4782312"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AgentV2G architecture: three role agents on a fixed graph</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9707E6A9-7304-0A59-240D-1C9A3F9066DD}"/>
              </a:ext>
            </a:extLst>
          </p:cNvPr>
          <p:cNvSpPr txBox="1"/>
          <p:nvPr/>
        </p:nvSpPr>
        <p:spPr>
          <a:xfrm>
            <a:off x="488504" y="6583680"/>
            <a:ext cx="4526280" cy="22860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Task stream and operating-day episode structure</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5" name="TextBox 4">
            <a:extLst>
              <a:ext uri="{FF2B5EF4-FFF2-40B4-BE49-F238E27FC236}">
                <a16:creationId xmlns:a16="http://schemas.microsoft.com/office/drawing/2014/main" id="{FB7E75EE-E5DD-ABB0-89AE-ECC99FC136A6}"/>
              </a:ext>
            </a:extLst>
          </p:cNvPr>
          <p:cNvSpPr txBox="1"/>
          <p:nvPr/>
        </p:nvSpPr>
        <p:spPr>
          <a:xfrm>
            <a:off x="173754" y="531615"/>
            <a:ext cx="8414420"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[RL Solver, LLM]</a:t>
            </a:r>
            <a:r>
              <a:rPr lang="en-US" altLang="ko-KR" b="1" dirty="0">
                <a:latin typeface="Arial" panose="020B0604020202020204" pitchFamily="34" charset="0"/>
                <a:ea typeface="Arial" panose="020B0604020202020204" pitchFamily="34" charset="0"/>
                <a:cs typeface="Arial" panose="020B0604020202020204" pitchFamily="34" charset="0"/>
              </a:rPr>
              <a:t> AgentV2G — Agentic V2G Fleet Scheduling Under Drift</a:t>
            </a:r>
            <a:endParaRPr lang="en-US" altLang="ko-KR" dirty="0">
              <a:latin typeface="Arial" pitchFamily="34" charset="0"/>
              <a:ea typeface="Arial Unicode MS" pitchFamily="50" charset="-127"/>
              <a:cs typeface="Arial" pitchFamily="34" charset="0"/>
            </a:endParaRPr>
          </a:p>
        </p:txBody>
      </p:sp>
      <p:sp>
        <p:nvSpPr>
          <p:cNvPr id="8" name="TextBox 7">
            <a:extLst>
              <a:ext uri="{FF2B5EF4-FFF2-40B4-BE49-F238E27FC236}">
                <a16:creationId xmlns:a16="http://schemas.microsoft.com/office/drawing/2014/main" id="{4E3FB9F1-992E-46D6-5159-A0A6465047E5}"/>
              </a:ext>
            </a:extLst>
          </p:cNvPr>
          <p:cNvSpPr txBox="1"/>
          <p:nvPr/>
        </p:nvSpPr>
        <p:spPr>
          <a:xfrm>
            <a:off x="173754" y="1020951"/>
            <a:ext cx="9603782" cy="3634778"/>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2026 – present · Hyundai Motor · Kia V2X (vehicle-to-everything) project (Mar. 2026 – Mar. 2027)</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(full cover) problem definition, algorithm design, implementation, experiments; construction of the V2G fleet-operation environment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Problem</a:t>
            </a:r>
            <a:r>
              <a:rPr lang="en-US" altLang="ko-KR" sz="1100" dirty="0">
                <a:latin typeface="Arial" panose="020B0604020202020204" pitchFamily="34" charset="0"/>
                <a:ea typeface="Arial" panose="020B0604020202020204" pitchFamily="34" charset="0"/>
                <a:cs typeface="Arial" panose="020B0604020202020204" pitchFamily="34" charset="0"/>
              </a:rPr>
              <a:t> — A V2G (vehicle-to-grid) charging-hub operator commits irreversible market bids before prices, cleared fractions, and vehicle behavior are known, all drifting over weeks of operation. </a:t>
            </a:r>
            <a:r>
              <a:rPr lang="en-US" altLang="ko-KR" sz="1100" u="sng" dirty="0">
                <a:latin typeface="Arial" panose="020B0604020202020204" pitchFamily="34" charset="0"/>
                <a:ea typeface="Arial" panose="020B0604020202020204" pitchFamily="34" charset="0"/>
                <a:cs typeface="Arial" panose="020B0604020202020204" pitchFamily="34" charset="0"/>
              </a:rPr>
              <a:t>An agent free to re-plan cannot be trusted to commit, while a fixed pipeline cannot follow the drift</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Method</a:t>
            </a:r>
            <a:r>
              <a:rPr lang="en-US" altLang="ko-KR" sz="1100" dirty="0">
                <a:latin typeface="Arial" panose="020B0604020202020204" pitchFamily="34" charset="0"/>
                <a:ea typeface="Arial" panose="020B0604020202020204" pitchFamily="34" charset="0"/>
                <a:cs typeface="Arial" panose="020B0604020202020204" pitchFamily="34" charset="0"/>
              </a:rPr>
              <a:t> — </a:t>
            </a:r>
            <a:r>
              <a:rPr lang="en-US" altLang="ko-KR" sz="1100" u="sng" dirty="0">
                <a:latin typeface="Arial" panose="020B0604020202020204" pitchFamily="34" charset="0"/>
                <a:ea typeface="Arial" panose="020B0604020202020204" pitchFamily="34" charset="0"/>
                <a:cs typeface="Arial" panose="020B0604020202020204" pitchFamily="34" charset="0"/>
              </a:rPr>
              <a:t>A static orchestration graph with dynamic tool selection</a:t>
            </a:r>
            <a:r>
              <a:rPr lang="en-US" altLang="ko-KR" sz="1100" dirty="0">
                <a:latin typeface="Arial" panose="020B0604020202020204" pitchFamily="34" charset="0"/>
                <a:ea typeface="Arial" panose="020B0604020202020204" pitchFamily="34" charset="0"/>
                <a:cs typeface="Arial" panose="020B0604020202020204" pitchFamily="34" charset="0"/>
              </a:rPr>
              <a:t> (right figure): every operating day follows the same bid → clear → dispatch sequence, so the graph is fixed once, and each agent adapts only by re-selecting among verified tools where drift affects the estimates or rules</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Three role agents</a:t>
            </a:r>
            <a:r>
              <a:rPr lang="en-US" altLang="ko-KR" sz="1100" dirty="0">
                <a:latin typeface="Arial" panose="020B0604020202020204" pitchFamily="34" charset="0"/>
                <a:ea typeface="Arial" panose="020B0604020202020204" pitchFamily="34" charset="0"/>
                <a:cs typeface="Arial" panose="020B0604020202020204" pitchFamily="34" charset="0"/>
              </a:rPr>
              <a:t> — A formulation agent derives the objective and constraints from the market rules and re-derives them when the rules change. A world-model agent maintains a belief state over the unobserved inputs (prices, clearing, sessions) from an operational memory and selects the risk level of its belief corrections. A scheduler agent produces every bid and schedule through an optimization engine (MILP, mixed-integer linear programming)</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The orchestrator re-invokes an agent when a deterministic drift metric flags a change and validates every emitted artifact (formulation, belief, schedule) through membership, bounds, and scale checks and falls back to deterministic defaults when a check fails. The objective is immutable within an episode, so no agent can relax the objective it is evaluated against</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RL solver</a:t>
            </a:r>
            <a:r>
              <a:rPr lang="en-US" altLang="ko-KR" sz="1100" dirty="0">
                <a:latin typeface="Arial" panose="020B0604020202020204" pitchFamily="34" charset="0"/>
                <a:ea typeface="Arial" panose="020B0604020202020204" pitchFamily="34" charset="0"/>
                <a:cs typeface="Arial" panose="020B0604020202020204" pitchFamily="34" charset="0"/>
              </a:rPr>
              <a:t> — A SAC (soft actor–critic) policy over per-vehicle embeddings and their fleet mean, built to replace MILP in real-time dispatch</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Evaluation</a:t>
            </a:r>
            <a:r>
              <a:rPr lang="en-US" altLang="ko-KR" sz="1100" dirty="0">
                <a:latin typeface="Arial" panose="020B0604020202020204" pitchFamily="34" charset="0"/>
                <a:ea typeface="Arial" panose="020B0604020202020204" pitchFamily="34" charset="0"/>
                <a:cs typeface="Arial" panose="020B0604020202020204" pitchFamily="34" charset="0"/>
              </a:rPr>
              <a:t> — Day-ahead and real-time market scenarios on real SMP (system marginal price) and EV (electric vehicle) charging-session data, under Jeju pilot rules with EU and NEM (Australian National Electricity Market) presets; fleets of 1–1,000 EVs; a single open-weight LLM (Llama-3.1-8B-Instruct) without fine-tuning; the RL solver is benchmarked against MILP, rule-based, and oracle dispatch on 200-EV days. Metrics: episode-level operating quality and recovery under price, fleet-behavior, and market-rule drift, individually and combined (left figure)</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Scalability</a:t>
            </a:r>
            <a:r>
              <a:rPr lang="en-US" altLang="ko-KR" sz="1100" dirty="0">
                <a:latin typeface="Arial" panose="020B0604020202020204" pitchFamily="34" charset="0"/>
                <a:ea typeface="Arial" panose="020B0604020202020204" pitchFamily="34" charset="0"/>
                <a:cs typeface="Arial" panose="020B0604020202020204" pitchFamily="34" charset="0"/>
              </a:rPr>
              <a:t> — A 10,000-EV day is scheduled in ≈54 s, within Hyundai Motor's 90 s limit (feedback loop disabled)</a:t>
            </a:r>
          </a:p>
        </p:txBody>
      </p:sp>
      <p:sp>
        <p:nvSpPr>
          <p:cNvPr id="6" name="TextBox 5">
            <a:extLst>
              <a:ext uri="{FF2B5EF4-FFF2-40B4-BE49-F238E27FC236}">
                <a16:creationId xmlns:a16="http://schemas.microsoft.com/office/drawing/2014/main" id="{A5B12F80-3922-7A60-1110-BCC873DB4C63}"/>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② Agentic AI — LLM</a:t>
            </a:r>
            <a:r>
              <a:rPr lang="ko-KR" altLang="en-US" sz="1400" b="1" dirty="0">
                <a:latin typeface="Arial" pitchFamily="34" charset="0"/>
                <a:ea typeface="Arial Unicode MS" pitchFamily="50" charset="-127"/>
                <a:cs typeface="Arial" pitchFamily="34" charset="0"/>
              </a:rPr>
              <a:t> </a:t>
            </a:r>
            <a:r>
              <a:rPr lang="en-US" altLang="ko-KR" sz="1400" b="1" dirty="0">
                <a:latin typeface="Arial" pitchFamily="34" charset="0"/>
                <a:ea typeface="Arial Unicode MS" pitchFamily="50" charset="-127"/>
                <a:cs typeface="Arial" pitchFamily="34" charset="0"/>
              </a:rPr>
              <a:t>Agents for System Operation (Robotics &amp; V2G)</a:t>
            </a:r>
            <a:endParaRPr lang="en-US" altLang="ko-KR" sz="1400" dirty="0">
              <a:latin typeface="Arial" pitchFamily="34" charset="0"/>
              <a:ea typeface="Arial Unicode MS" pitchFamily="50" charset="-127"/>
              <a:cs typeface="Arial" pitchFamily="34" charset="0"/>
            </a:endParaRPr>
          </a:p>
        </p:txBody>
      </p:sp>
      <p:pic>
        <p:nvPicPr>
          <p:cNvPr id="10" name="그림 9">
            <a:extLst>
              <a:ext uri="{FF2B5EF4-FFF2-40B4-BE49-F238E27FC236}">
                <a16:creationId xmlns:a16="http://schemas.microsoft.com/office/drawing/2014/main" id="{B083C5C9-AA21-EDB7-7BC3-6C89E06334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18516" y="4917160"/>
            <a:ext cx="3986784" cy="1682496"/>
          </a:xfrm>
          <a:prstGeom prst="rect">
            <a:avLst/>
          </a:prstGeom>
        </p:spPr>
      </p:pic>
      <p:pic>
        <p:nvPicPr>
          <p:cNvPr id="13" name="그림 12">
            <a:extLst>
              <a:ext uri="{FF2B5EF4-FFF2-40B4-BE49-F238E27FC236}">
                <a16:creationId xmlns:a16="http://schemas.microsoft.com/office/drawing/2014/main" id="{DBBEDD7E-4916-2732-AC05-8894120020BE}"/>
              </a:ext>
            </a:extLst>
          </p:cNvPr>
          <p:cNvPicPr>
            <a:picLocks noChangeAspect="1"/>
          </p:cNvPicPr>
          <p:nvPr/>
        </p:nvPicPr>
        <p:blipFill>
          <a:blip r:embed="rId4" cstate="print">
            <a:extLst>
              <a:ext uri="{28A0092B-C50C-407E-A947-70E740481C1C}">
                <a14:useLocalDpi xmlns:a14="http://schemas.microsoft.com/office/drawing/2010/main" val="0"/>
              </a:ext>
            </a:extLst>
          </a:blip>
          <a:srcRect t="9014"/>
          <a:stretch>
            <a:fillRect/>
          </a:stretch>
        </p:blipFill>
        <p:spPr>
          <a:xfrm>
            <a:off x="770334" y="4953736"/>
            <a:ext cx="3776472" cy="1645920"/>
          </a:xfrm>
          <a:prstGeom prst="rect">
            <a:avLst/>
          </a:prstGeom>
        </p:spPr>
      </p:pic>
    </p:spTree>
    <p:extLst>
      <p:ext uri="{BB962C8B-B14F-4D97-AF65-F5344CB8AC3E}">
        <p14:creationId xmlns:p14="http://schemas.microsoft.com/office/powerpoint/2010/main" val="21639859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6FE84-53FE-0C41-1E39-7CFADCB598C2}"/>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6134CFCF-3534-C32C-2957-7331AB60D295}"/>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28EDACC5-3E45-F129-F00D-612C183C863D}"/>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4C0E34DB-2F6A-D79E-765B-72078889CB69}"/>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24A24B01-4F1A-EFAC-18A0-800FB7089D90}"/>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5B88DC9C-EE95-F656-67E7-FAA873910558}"/>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D725B2E-F331-48FD-A7E3-429DDF828C94}"/>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156ED1B7-D921-8221-A5BB-467DA7610014}"/>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12</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39C755BB-78F7-CCDA-94D4-53E9F8FDEB14}"/>
              </a:ext>
            </a:extLst>
          </p:cNvPr>
          <p:cNvSpPr txBox="1"/>
          <p:nvPr/>
        </p:nvSpPr>
        <p:spPr>
          <a:xfrm>
            <a:off x="848545" y="142880"/>
            <a:ext cx="8924544" cy="338554"/>
          </a:xfrm>
          <a:prstGeom prst="rect">
            <a:avLst/>
          </a:prstGeom>
          <a:noFill/>
        </p:spPr>
        <p:txBody>
          <a:bodyPr wrap="square" rtlCol="0">
            <a:spAutoFit/>
          </a:bodyPr>
          <a:lstStyle/>
          <a:p>
            <a:pPr algn="r"/>
            <a:r>
              <a:rPr lang="en-US" altLang="ko-KR" sz="1400" b="1" dirty="0">
                <a:latin typeface="Arial" panose="020B0604020202020204" pitchFamily="34" charset="0"/>
                <a:ea typeface="Arial Unicode MS" pitchFamily="50" charset="-127"/>
                <a:cs typeface="Arial" pitchFamily="34" charset="0"/>
              </a:rPr>
              <a:t>③ Systems Engineering — Federated Learning &amp; Edge Deployment</a:t>
            </a:r>
            <a:endParaRPr lang="en-US" altLang="ko-KR" sz="1400" dirty="0">
              <a:latin typeface="Arial" panose="020B0604020202020204" pitchFamily="34" charset="0"/>
              <a:ea typeface="Arial Unicode MS" pitchFamily="50" charset="-127"/>
              <a:cs typeface="Arial" pitchFamily="34" charset="0"/>
            </a:endParaRPr>
          </a:p>
        </p:txBody>
      </p:sp>
      <p:sp>
        <p:nvSpPr>
          <p:cNvPr id="199" name="TextBox 198">
            <a:extLst>
              <a:ext uri="{FF2B5EF4-FFF2-40B4-BE49-F238E27FC236}">
                <a16:creationId xmlns:a16="http://schemas.microsoft.com/office/drawing/2014/main" id="{B66C161B-B24A-ED6A-3BD0-52190A1E912F}"/>
              </a:ext>
            </a:extLst>
          </p:cNvPr>
          <p:cNvSpPr txBox="1"/>
          <p:nvPr/>
        </p:nvSpPr>
        <p:spPr>
          <a:xfrm>
            <a:off x="560512" y="6295049"/>
            <a:ext cx="3703320" cy="261610"/>
          </a:xfrm>
          <a:prstGeom prst="rect">
            <a:avLst/>
          </a:prstGeom>
          <a:noFill/>
        </p:spPr>
        <p:txBody>
          <a:bodyPr wrap="square" rtlCol="0">
            <a:spAutoFit/>
          </a:bodyPr>
          <a:lstStyle/>
          <a:p>
            <a:pPr lvl="0" algn="ctr">
              <a:defRPr/>
            </a:pPr>
            <a:r>
              <a:rPr lang="en-US" altLang="ko-KR" sz="1100" b="1" dirty="0">
                <a:latin typeface="Arial" panose="020B0604020202020204" pitchFamily="34" charset="0"/>
                <a:ea typeface="Arial" panose="020B0604020202020204" pitchFamily="34" charset="0"/>
                <a:cs typeface="Arial" panose="020B0604020202020204" pitchFamily="34" charset="0"/>
              </a:rPr>
              <a:t>Cooperative Federated Learning with YOLO Models</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5" name="TextBox 4">
            <a:extLst>
              <a:ext uri="{FF2B5EF4-FFF2-40B4-BE49-F238E27FC236}">
                <a16:creationId xmlns:a16="http://schemas.microsoft.com/office/drawing/2014/main" id="{25BA8180-DE6B-E186-96C5-8CF45C6E2E59}"/>
              </a:ext>
            </a:extLst>
          </p:cNvPr>
          <p:cNvSpPr txBox="1"/>
          <p:nvPr/>
        </p:nvSpPr>
        <p:spPr>
          <a:xfrm>
            <a:off x="173754" y="581565"/>
            <a:ext cx="9701766"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[Federated Learning, Knowledge Distillation]</a:t>
            </a:r>
            <a:r>
              <a:rPr lang="en-US" altLang="ko-KR" b="1" dirty="0">
                <a:latin typeface="Arial" panose="020B0604020202020204" pitchFamily="34" charset="0"/>
                <a:ea typeface="Arial" panose="020B0604020202020204" pitchFamily="34" charset="0"/>
                <a:cs typeface="Arial" panose="020B0604020202020204" pitchFamily="34" charset="0"/>
              </a:rPr>
              <a:t> Federated Edge Inference</a:t>
            </a:r>
            <a:endParaRPr lang="en-US" altLang="ko-KR"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1519C87A-DA9E-F726-4529-CE170879C4AA}"/>
              </a:ext>
            </a:extLst>
          </p:cNvPr>
          <p:cNvSpPr txBox="1"/>
          <p:nvPr/>
        </p:nvSpPr>
        <p:spPr>
          <a:xfrm>
            <a:off x="71323" y="1021146"/>
            <a:ext cx="9701766" cy="2686270"/>
          </a:xfrm>
          <a:prstGeom prst="rect">
            <a:avLst/>
          </a:prstGeom>
          <a:noFill/>
        </p:spPr>
        <p:txBody>
          <a:bodyPr wrap="square">
            <a:sp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Federated inference/learning framework across data-center and edge NPUs (neural processing units) · MSIT / IITP (Institute for Information &amp; Communications Technology Planning &amp; Evaluation), SW Computing Industry R&amp;D (Apr. 2021 – Jun. 2025) · Delivered to Acryl Inc. (the consortium's industry partner) · Code released on GitHub at IITP's request</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implementation, experiments, testbed</a:t>
            </a:r>
            <a:endParaRPr lang="en-US" altLang="ko-KR" sz="1100" b="1" dirty="0">
              <a:latin typeface="Arial" panose="020B0604020202020204" pitchFamily="34" charset="0"/>
              <a:ea typeface="Arial" panose="020B0604020202020204" pitchFamily="34" charset="0"/>
              <a:cs typeface="Arial" panose="020B0604020202020204" pitchFamily="34" charset="0"/>
            </a:endParaRP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FL (federated learning) testbed built on the open-source Flower framework</a:t>
            </a:r>
            <a:r>
              <a:rPr lang="en-US" altLang="ko-KR" sz="1100" dirty="0">
                <a:latin typeface="Arial" panose="020B0604020202020204" pitchFamily="34" charset="0"/>
                <a:ea typeface="Arial" panose="020B0604020202020204" pitchFamily="34" charset="0"/>
                <a:cs typeface="Arial" panose="020B0604020202020204" pitchFamily="34" charset="0"/>
              </a:rPr>
              <a:t> (right figure (a)) — The client side was extended with federated RL and per-client non-IID (non-independent, non-identically distributed) data composition; the learning-rate schedule, which Flower adjusts only per epoch, was made adjustable per round and set to cosine annealing; image-transform augmentation was added</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The framework reproduces Google's FedAvg accuracy on CIFAR-10; the schedule and augmentation raise accuracy from 82% to 84%, and auxiliary open data (STL-10) to 86.1%; federated RL was verified on a 2D-navigation task</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Cooperative federated learning with knowledge distillation</a:t>
            </a:r>
            <a:r>
              <a:rPr lang="en-US" altLang="ko-KR" sz="1100" dirty="0">
                <a:latin typeface="Arial" panose="020B0604020202020204" pitchFamily="34" charset="0"/>
                <a:ea typeface="Arial" panose="020B0604020202020204" pitchFamily="34" charset="0"/>
                <a:cs typeface="Arial" panose="020B0604020202020204" pitchFamily="34" charset="0"/>
              </a:rPr>
              <a:t> (left figure) — </a:t>
            </a:r>
            <a:r>
              <a:rPr lang="en-US" altLang="ko-KR" sz="1100" u="sng" dirty="0">
                <a:latin typeface="Arial" panose="020B0604020202020204" pitchFamily="34" charset="0"/>
                <a:ea typeface="Arial" panose="020B0604020202020204" pitchFamily="34" charset="0"/>
                <a:cs typeface="Arial" panose="020B0604020202020204" pitchFamily="34" charset="0"/>
              </a:rPr>
              <a:t>A global YOLOv8n federated from the devices' daytime traffic-sign data generalizes poorly to night, and night data is assumed scarce on the devices. After each FedAvg aggregation, the server distills a cooperative large model (a YOLOv8l pretrained on night traffic-sign data) into the global YOLOv8n through a distillation layer on the backbone's P5-level features with a dimension-matching projection</a:t>
            </a:r>
            <a:r>
              <a:rPr lang="en-US" altLang="ko-KR" sz="1100" dirty="0">
                <a:latin typeface="Arial" panose="020B0604020202020204" pitchFamily="34" charset="0"/>
                <a:ea typeface="Arial" panose="020B0604020202020204" pitchFamily="34" charset="0"/>
                <a:cs typeface="Arial" panose="020B0604020202020204" pitchFamily="34" charset="0"/>
              </a:rPr>
              <a:t>. Night images were synthesized with OpenCV in easy and hard modes from the daytime set</a:t>
            </a:r>
          </a:p>
          <a:p>
            <a:pPr marL="742950" lvl="1"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Result</a:t>
            </a:r>
            <a:r>
              <a:rPr lang="en-US" altLang="ko-KR" sz="1100" dirty="0">
                <a:latin typeface="Arial" panose="020B0604020202020204" pitchFamily="34" charset="0"/>
                <a:ea typeface="Arial" panose="020B0604020202020204" pitchFamily="34" charset="0"/>
                <a:cs typeface="Arial" panose="020B0604020202020204" pitchFamily="34" charset="0"/>
              </a:rPr>
              <a:t> — Night-image accuracy reaches 80.1% (easy) and 36.6% (hard), 20 and 16 points above federated learning alone</a:t>
            </a:r>
          </a:p>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Edge–server collaborative inference pipeline for real-time traffic sign recognition</a:t>
            </a:r>
            <a:r>
              <a:rPr lang="en-US" altLang="ko-KR" sz="1100" dirty="0">
                <a:latin typeface="Arial" panose="020B0604020202020204" pitchFamily="34" charset="0"/>
                <a:ea typeface="Arial" panose="020B0604020202020204" pitchFamily="34" charset="0"/>
                <a:cs typeface="Arial" panose="020B0604020202020204" pitchFamily="34" charset="0"/>
              </a:rPr>
              <a:t> (2025; right figure (b): the partners' in-vehicle field test at Hwaseong, Gyeonggi) — The YOLO models and the inference system were deployed on Acryl's Jonathan server and an NPU server</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The distilled YOLOv8n on the FPGA-based NPU (FPGA: field-programmable gate array) processes routine frames in real time. When a frame's confidence falls below 0.3 (e.g., at night or in rain), the next frame is forwarded to the server's YOLOv8l for federated inference, improving the detection of damaged or occluded signs on difficult frames</a:t>
            </a:r>
          </a:p>
        </p:txBody>
      </p:sp>
      <p:sp>
        <p:nvSpPr>
          <p:cNvPr id="8" name="TextBox 7">
            <a:extLst>
              <a:ext uri="{FF2B5EF4-FFF2-40B4-BE49-F238E27FC236}">
                <a16:creationId xmlns:a16="http://schemas.microsoft.com/office/drawing/2014/main" id="{42B38985-D692-6108-8A4A-907643A6F578}"/>
              </a:ext>
            </a:extLst>
          </p:cNvPr>
          <p:cNvSpPr txBox="1"/>
          <p:nvPr/>
        </p:nvSpPr>
        <p:spPr>
          <a:xfrm>
            <a:off x="4492432" y="6295049"/>
            <a:ext cx="5038366"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1100" b="1" i="0" u="none" strike="noStrike" kern="1200" cap="none" spc="0" normalizeH="0" baseline="0" noProof="0" dirty="0">
                <a:ln>
                  <a:noFill/>
                </a:ln>
                <a:effectLst/>
                <a:uLnTx/>
                <a:uFillTx/>
                <a:latin typeface="Arial" panose="020B0604020202020204" pitchFamily="34" charset="0"/>
                <a:ea typeface="Arial" panose="020B0604020202020204" pitchFamily="34" charset="0"/>
                <a:cs typeface="Arial" panose="020B0604020202020204" pitchFamily="34" charset="0"/>
              </a:rPr>
              <a:t>NPU project: (a) embedded FL testbed · (b) in-vehicle field test</a:t>
            </a:r>
            <a:endParaRPr kumimoji="0" lang="ko-KR" altLang="en-US" sz="14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12" name="그림 11">
            <a:extLst>
              <a:ext uri="{FF2B5EF4-FFF2-40B4-BE49-F238E27FC236}">
                <a16:creationId xmlns:a16="http://schemas.microsoft.com/office/drawing/2014/main" id="{35CF1AE9-1227-A295-C6DA-97050E8583EA}"/>
              </a:ext>
            </a:extLst>
          </p:cNvPr>
          <p:cNvPicPr>
            <a:picLocks noChangeAspect="1"/>
          </p:cNvPicPr>
          <p:nvPr/>
        </p:nvPicPr>
        <p:blipFill>
          <a:blip r:embed="rId3"/>
          <a:srcRect r="44405"/>
          <a:stretch>
            <a:fillRect/>
          </a:stretch>
        </p:blipFill>
        <p:spPr>
          <a:xfrm>
            <a:off x="7491379" y="4828467"/>
            <a:ext cx="2162135" cy="1439150"/>
          </a:xfrm>
          <a:prstGeom prst="rect">
            <a:avLst/>
          </a:prstGeom>
        </p:spPr>
      </p:pic>
      <p:grpSp>
        <p:nvGrpSpPr>
          <p:cNvPr id="32" name="그룹 31">
            <a:extLst>
              <a:ext uri="{FF2B5EF4-FFF2-40B4-BE49-F238E27FC236}">
                <a16:creationId xmlns:a16="http://schemas.microsoft.com/office/drawing/2014/main" id="{BC3694F2-B409-2B1A-B590-BF2BA9F43C2D}"/>
              </a:ext>
            </a:extLst>
          </p:cNvPr>
          <p:cNvGrpSpPr/>
          <p:nvPr/>
        </p:nvGrpSpPr>
        <p:grpSpPr>
          <a:xfrm>
            <a:off x="4376936" y="4684451"/>
            <a:ext cx="2840124" cy="1583166"/>
            <a:chOff x="4975645" y="2405907"/>
            <a:chExt cx="4930355" cy="2009593"/>
          </a:xfrm>
        </p:grpSpPr>
        <p:pic>
          <p:nvPicPr>
            <p:cNvPr id="29" name="Picture 2">
              <a:extLst>
                <a:ext uri="{FF2B5EF4-FFF2-40B4-BE49-F238E27FC236}">
                  <a16:creationId xmlns:a16="http://schemas.microsoft.com/office/drawing/2014/main" id="{DDCA12FD-C3EA-EEEC-4DE0-2F74CA4857F5}"/>
                </a:ext>
              </a:extLst>
            </p:cNvPr>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4975645" y="2405907"/>
              <a:ext cx="4409463" cy="2009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1" name="Picture 3" descr="figure">
              <a:extLst>
                <a:ext uri="{FF2B5EF4-FFF2-40B4-BE49-F238E27FC236}">
                  <a16:creationId xmlns:a16="http://schemas.microsoft.com/office/drawing/2014/main" id="{73B0BC66-54EA-BC13-6101-05D58429D13C}"/>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183342" y="3366518"/>
              <a:ext cx="722658" cy="600779"/>
            </a:xfrm>
            <a:prstGeom prst="rect">
              <a:avLst/>
            </a:prstGeom>
            <a:noFill/>
            <a:extLst>
              <a:ext uri="{909E8E84-426E-40DD-AFC4-6F175D3DCCD1}">
                <a14:hiddenFill xmlns:a14="http://schemas.microsoft.com/office/drawing/2010/main">
                  <a:solidFill>
                    <a:srgbClr val="FFFFFF"/>
                  </a:solidFill>
                </a14:hiddenFill>
              </a:ext>
            </a:extLst>
          </p:spPr>
        </p:pic>
      </p:grpSp>
      <p:pic>
        <p:nvPicPr>
          <p:cNvPr id="292" name="그림 291">
            <a:extLst>
              <a:ext uri="{FF2B5EF4-FFF2-40B4-BE49-F238E27FC236}">
                <a16:creationId xmlns:a16="http://schemas.microsoft.com/office/drawing/2014/main" id="{91CB6BAD-E9F0-4FFD-6E37-5E12BE0AA7B8}"/>
              </a:ext>
            </a:extLst>
          </p:cNvPr>
          <p:cNvPicPr>
            <a:picLocks noChangeAspect="1"/>
          </p:cNvPicPr>
          <p:nvPr/>
        </p:nvPicPr>
        <p:blipFill>
          <a:blip r:embed="rId6"/>
          <a:stretch>
            <a:fillRect/>
          </a:stretch>
        </p:blipFill>
        <p:spPr>
          <a:xfrm>
            <a:off x="655662" y="4684451"/>
            <a:ext cx="3482965" cy="1583166"/>
          </a:xfrm>
          <a:prstGeom prst="rect">
            <a:avLst/>
          </a:prstGeom>
        </p:spPr>
      </p:pic>
    </p:spTree>
    <p:extLst>
      <p:ext uri="{BB962C8B-B14F-4D97-AF65-F5344CB8AC3E}">
        <p14:creationId xmlns:p14="http://schemas.microsoft.com/office/powerpoint/2010/main" val="3204687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650495-7B61-7C00-C9D3-2BA2E82B95A7}"/>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A3D37A4B-1D6F-2377-7D50-209D32C34C39}"/>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C885C2B7-58B3-3DF3-842E-2A72BB7B86CE}"/>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72B4A6B1-BBAC-48A8-254A-80D8E21E47F7}"/>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17BEB557-FA4C-03CC-11C1-A344FE8AD3D4}"/>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E7511EE5-2BDA-42BB-67CC-E19CABE19088}"/>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F680F252-EFCA-0BB8-DCEF-F26E98742F6C}"/>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C0E226B0-9103-276C-C0EB-2180D6CAE13C}"/>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13</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7" name="TextBox 6">
            <a:extLst>
              <a:ext uri="{FF2B5EF4-FFF2-40B4-BE49-F238E27FC236}">
                <a16:creationId xmlns:a16="http://schemas.microsoft.com/office/drawing/2014/main" id="{DE3A5B2E-6EAB-3E58-CCE0-A215D10D4B06}"/>
              </a:ext>
            </a:extLst>
          </p:cNvPr>
          <p:cNvSpPr txBox="1"/>
          <p:nvPr/>
        </p:nvSpPr>
        <p:spPr>
          <a:xfrm>
            <a:off x="848545" y="142880"/>
            <a:ext cx="8924544" cy="307777"/>
          </a:xfrm>
          <a:prstGeom prst="rect">
            <a:avLst/>
          </a:prstGeom>
          <a:noFill/>
        </p:spPr>
        <p:txBody>
          <a:bodyPr wrap="square" rtlCol="0">
            <a:spAutoFit/>
          </a:bodyPr>
          <a:lstStyle/>
          <a:p>
            <a:pPr algn="r"/>
            <a:r>
              <a:rPr lang="en-US" altLang="ko-KR" sz="1400" b="1" dirty="0">
                <a:latin typeface="Arial" pitchFamily="34" charset="0"/>
                <a:ea typeface="Arial Unicode MS" pitchFamily="50" charset="-127"/>
                <a:cs typeface="Arial" pitchFamily="34" charset="0"/>
              </a:rPr>
              <a:t>③ Systems Engineering — Pretraining Simulators &amp; Surrogates</a:t>
            </a:r>
          </a:p>
        </p:txBody>
      </p:sp>
      <p:sp>
        <p:nvSpPr>
          <p:cNvPr id="178" name="TextBox 177">
            <a:extLst>
              <a:ext uri="{FF2B5EF4-FFF2-40B4-BE49-F238E27FC236}">
                <a16:creationId xmlns:a16="http://schemas.microsoft.com/office/drawing/2014/main" id="{9F264029-DF10-7124-BF57-36EEB963DB03}"/>
              </a:ext>
            </a:extLst>
          </p:cNvPr>
          <p:cNvSpPr txBox="1"/>
          <p:nvPr/>
        </p:nvSpPr>
        <p:spPr>
          <a:xfrm>
            <a:off x="5058544" y="6257439"/>
            <a:ext cx="4464497" cy="261610"/>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b="1" dirty="0">
                <a:latin typeface="Arial" panose="020B0604020202020204" pitchFamily="34" charset="0"/>
                <a:ea typeface="맑은 고딕" panose="020B0503020000020004" pitchFamily="50" charset="-127"/>
                <a:cs typeface="Arial" panose="020B0604020202020204" pitchFamily="34" charset="0"/>
              </a:rPr>
              <a:t>A surrogate model example for NVMe-oF storage</a:t>
            </a:r>
            <a:endParaRPr kumimoji="0" lang="ko-KR" altLang="en-US" sz="11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199" name="TextBox 198">
            <a:extLst>
              <a:ext uri="{FF2B5EF4-FFF2-40B4-BE49-F238E27FC236}">
                <a16:creationId xmlns:a16="http://schemas.microsoft.com/office/drawing/2014/main" id="{F23951A0-67BB-D261-D3A9-A477A273CB7A}"/>
              </a:ext>
            </a:extLst>
          </p:cNvPr>
          <p:cNvSpPr txBox="1"/>
          <p:nvPr/>
        </p:nvSpPr>
        <p:spPr>
          <a:xfrm>
            <a:off x="279597" y="6313234"/>
            <a:ext cx="4464497" cy="261610"/>
          </a:xfrm>
          <a:prstGeom prst="rect">
            <a:avLst/>
          </a:prstGeom>
          <a:noFill/>
        </p:spPr>
        <p:txBody>
          <a:bodyPr wrap="square" rtlCol="0">
            <a:spAutoFit/>
          </a:bodyPr>
          <a:lstStyle/>
          <a:p>
            <a:pPr lvl="0" algn="ctr">
              <a:defRPr/>
            </a:pPr>
            <a:r>
              <a:rPr lang="en-US" altLang="ko-KR" sz="1100" b="1" dirty="0" err="1">
                <a:latin typeface="Arial" panose="020B0604020202020204" pitchFamily="34" charset="0"/>
                <a:cs typeface="Arial" panose="020B0604020202020204" pitchFamily="34" charset="0"/>
              </a:rPr>
              <a:t>NVMe-oF disaggregated storage systems</a:t>
            </a:r>
            <a:endParaRPr kumimoji="0" lang="ko-KR" altLang="en-US" sz="1100" b="1"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pic>
        <p:nvPicPr>
          <p:cNvPr id="6" name="그림 5">
            <a:extLst>
              <a:ext uri="{FF2B5EF4-FFF2-40B4-BE49-F238E27FC236}">
                <a16:creationId xmlns:a16="http://schemas.microsoft.com/office/drawing/2014/main" id="{6E6E4144-5940-4BB5-0E40-21A02BD5425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0896" y="3928804"/>
            <a:ext cx="4133088" cy="2286000"/>
          </a:xfrm>
          <a:prstGeom prst="rect">
            <a:avLst/>
          </a:prstGeom>
        </p:spPr>
      </p:pic>
      <p:pic>
        <p:nvPicPr>
          <p:cNvPr id="11" name="그림 10">
            <a:extLst>
              <a:ext uri="{FF2B5EF4-FFF2-40B4-BE49-F238E27FC236}">
                <a16:creationId xmlns:a16="http://schemas.microsoft.com/office/drawing/2014/main" id="{A32EEB8F-C5DE-2205-E85D-1E616D42E5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90793" y="3943652"/>
            <a:ext cx="2443174" cy="1814284"/>
          </a:xfrm>
          <a:prstGeom prst="rect">
            <a:avLst/>
          </a:prstGeom>
        </p:spPr>
      </p:pic>
      <p:pic>
        <p:nvPicPr>
          <p:cNvPr id="14" name="그림 13">
            <a:extLst>
              <a:ext uri="{FF2B5EF4-FFF2-40B4-BE49-F238E27FC236}">
                <a16:creationId xmlns:a16="http://schemas.microsoft.com/office/drawing/2014/main" id="{3EDF4A87-61B2-AD52-154E-45AE1F563E3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64968" y="3947522"/>
            <a:ext cx="2497777" cy="1837551"/>
          </a:xfrm>
          <a:prstGeom prst="rect">
            <a:avLst/>
          </a:prstGeom>
        </p:spPr>
      </p:pic>
      <p:sp>
        <p:nvSpPr>
          <p:cNvPr id="24" name="TextBox 23">
            <a:extLst>
              <a:ext uri="{FF2B5EF4-FFF2-40B4-BE49-F238E27FC236}">
                <a16:creationId xmlns:a16="http://schemas.microsoft.com/office/drawing/2014/main" id="{404E4C66-FC03-CED4-5D95-99E88A990C51}"/>
              </a:ext>
            </a:extLst>
          </p:cNvPr>
          <p:cNvSpPr txBox="1"/>
          <p:nvPr/>
        </p:nvSpPr>
        <p:spPr>
          <a:xfrm>
            <a:off x="4991387" y="5759406"/>
            <a:ext cx="1869754" cy="43088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(a) Measured performance pattern</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26" name="TextBox 25">
            <a:extLst>
              <a:ext uri="{FF2B5EF4-FFF2-40B4-BE49-F238E27FC236}">
                <a16:creationId xmlns:a16="http://schemas.microsoft.com/office/drawing/2014/main" id="{ACC6651D-15AB-F902-58ED-BADC59F1296B}"/>
              </a:ext>
            </a:extLst>
          </p:cNvPr>
          <p:cNvSpPr txBox="1"/>
          <p:nvPr/>
        </p:nvSpPr>
        <p:spPr>
          <a:xfrm>
            <a:off x="7418840" y="5747996"/>
            <a:ext cx="2187079" cy="430887"/>
          </a:xfrm>
          <a:prstGeom prst="rect">
            <a:avLst/>
          </a:prstGeom>
          <a:noFill/>
        </p:spPr>
        <p:txBody>
          <a:bodyPr wrap="square" rtlCol="0">
            <a:spAutoFit/>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latin typeface="Arial" panose="020B0604020202020204" pitchFamily="34" charset="0"/>
                <a:ea typeface="맑은 고딕" panose="020B0503020000020004" pitchFamily="50" charset="-127"/>
                <a:cs typeface="Arial" panose="020B0604020202020204" pitchFamily="34" charset="0"/>
              </a:rPr>
              <a:t>(b) Estimated performance pattern</a:t>
            </a:r>
            <a:endParaRPr kumimoji="0" lang="ko-KR" altLang="en-US" sz="1100" i="0" u="none" strike="noStrike" kern="1200" cap="none" spc="0" normalizeH="0" baseline="0" noProof="0" dirty="0">
              <a:ln>
                <a:noFill/>
              </a:ln>
              <a:effectLst/>
              <a:uLnTx/>
              <a:uFillTx/>
              <a:latin typeface="Arial" panose="020B0604020202020204" pitchFamily="34" charset="0"/>
              <a:ea typeface="맑은 고딕" panose="020B0503020000020004" pitchFamily="50" charset="-127"/>
              <a:cs typeface="Arial" panose="020B0604020202020204" pitchFamily="34" charset="0"/>
            </a:endParaRPr>
          </a:p>
        </p:txBody>
      </p:sp>
      <p:sp>
        <p:nvSpPr>
          <p:cNvPr id="3" name="TextBox 2">
            <a:extLst>
              <a:ext uri="{FF2B5EF4-FFF2-40B4-BE49-F238E27FC236}">
                <a16:creationId xmlns:a16="http://schemas.microsoft.com/office/drawing/2014/main" id="{2C6FBD92-4C46-708C-99D7-0D0CA5E5298B}"/>
              </a:ext>
            </a:extLst>
          </p:cNvPr>
          <p:cNvSpPr txBox="1"/>
          <p:nvPr/>
        </p:nvSpPr>
        <p:spPr>
          <a:xfrm>
            <a:off x="173753" y="575719"/>
            <a:ext cx="9599335" cy="369332"/>
          </a:xfrm>
          <a:prstGeom prst="rect">
            <a:avLst/>
          </a:prstGeom>
          <a:noFill/>
        </p:spPr>
        <p:txBody>
          <a:bodyPr wrap="square" rtlCol="0">
            <a:spAutoFit/>
          </a:bodyPr>
          <a:lstStyle/>
          <a:p>
            <a:r>
              <a:rPr lang="en-US" altLang="ko-KR" b="1" dirty="0">
                <a:solidFill>
                  <a:srgbClr val="0070C0"/>
                </a:solidFill>
                <a:latin typeface="Arial" panose="020B0604020202020204" pitchFamily="34" charset="0"/>
                <a:ea typeface="Arial" panose="020B0604020202020204" pitchFamily="34" charset="0"/>
                <a:cs typeface="Arial" panose="020B0604020202020204" pitchFamily="34" charset="0"/>
              </a:rPr>
              <a:t>[Supervised Learning, Regression]</a:t>
            </a:r>
            <a:r>
              <a:rPr lang="en-US" altLang="ko-KR" b="1" dirty="0">
                <a:latin typeface="Arial" panose="020B0604020202020204" pitchFamily="34" charset="0"/>
                <a:ea typeface="Arial" panose="020B0604020202020204" pitchFamily="34" charset="0"/>
                <a:cs typeface="Arial" panose="020B0604020202020204" pitchFamily="34" charset="0"/>
              </a:rPr>
              <a:t> </a:t>
            </a:r>
            <a:r>
              <a:rPr lang="en-US" altLang="ko-KR" b="1" dirty="0" err="1">
                <a:latin typeface="Arial" panose="020B0604020202020204" pitchFamily="34" charset="0"/>
                <a:ea typeface="Arial" panose="020B0604020202020204" pitchFamily="34" charset="0"/>
                <a:cs typeface="Arial" panose="020B0604020202020204" pitchFamily="34" charset="0"/>
              </a:rPr>
              <a:t>NVMe-oF</a:t>
            </a:r>
            <a:r>
              <a:rPr lang="en-US" altLang="ko-KR" b="1" dirty="0">
                <a:latin typeface="Arial" panose="020B0604020202020204" pitchFamily="34" charset="0"/>
                <a:ea typeface="Arial" panose="020B0604020202020204" pitchFamily="34" charset="0"/>
                <a:cs typeface="Arial" panose="020B0604020202020204" pitchFamily="34" charset="0"/>
              </a:rPr>
              <a:t> Storage Simulator with a DNN Surrogate</a:t>
            </a:r>
            <a:endParaRPr lang="en-US" altLang="ko-KR" dirty="0">
              <a:latin typeface="Arial" pitchFamily="34" charset="0"/>
              <a:ea typeface="Arial Unicode MS" pitchFamily="50" charset="-127"/>
              <a:cs typeface="Arial" pitchFamily="34" charset="0"/>
            </a:endParaRPr>
          </a:p>
        </p:txBody>
      </p:sp>
      <p:sp>
        <p:nvSpPr>
          <p:cNvPr id="8" name="TextBox 7">
            <a:extLst>
              <a:ext uri="{FF2B5EF4-FFF2-40B4-BE49-F238E27FC236}">
                <a16:creationId xmlns:a16="http://schemas.microsoft.com/office/drawing/2014/main" id="{59EAC2B1-9C10-773A-F0F7-49A8C7228417}"/>
              </a:ext>
            </a:extLst>
          </p:cNvPr>
          <p:cNvSpPr txBox="1"/>
          <p:nvPr/>
        </p:nvSpPr>
        <p:spPr>
          <a:xfrm>
            <a:off x="173754" y="1097394"/>
            <a:ext cx="9603782" cy="2519231"/>
          </a:xfrm>
          <a:prstGeom prst="rect">
            <a:avLst/>
          </a:prstGeom>
          <a:noFill/>
        </p:spPr>
        <p:txBody>
          <a:bodyPr wrap="square">
            <a:noAutofit/>
          </a:bodyPr>
          <a:lstStyle/>
          <a:p>
            <a:pPr marL="285750" indent="-285750" algn="just">
              <a:lnSpc>
                <a:spcPct val="110000"/>
              </a:lnSpc>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Overview</a:t>
            </a:r>
            <a:r>
              <a:rPr lang="en-US" altLang="ko-KR" sz="1100" dirty="0">
                <a:latin typeface="Arial" panose="020B0604020202020204" pitchFamily="34" charset="0"/>
                <a:ea typeface="Arial" panose="020B0604020202020204" pitchFamily="34" charset="0"/>
                <a:cs typeface="Arial" panose="020B0604020202020204" pitchFamily="34" charset="0"/>
              </a:rPr>
              <a:t> — 2019–2021 · Samsung Electronics project (Aug. 2019 – Jul. 2022) · patents with Samsung: US 12,650,769 B2 (simulation), US 12,210,760 B2 (migration)</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Role: Leader</a:t>
            </a:r>
            <a:r>
              <a:rPr lang="en-US" altLang="ko-KR" sz="1100" dirty="0">
                <a:latin typeface="Arial" panose="020B0604020202020204" pitchFamily="34" charset="0"/>
                <a:ea typeface="Arial" panose="020B0604020202020204" pitchFamily="34" charset="0"/>
                <a:cs typeface="Arial" panose="020B0604020202020204" pitchFamily="34" charset="0"/>
              </a:rPr>
              <a:t> — problem definition, algorithm design, experiments</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Purpose</a:t>
            </a:r>
            <a:r>
              <a:rPr lang="en-US" altLang="ko-KR" sz="1100" dirty="0">
                <a:latin typeface="Arial" panose="020B0604020202020204" pitchFamily="34" charset="0"/>
                <a:ea typeface="Arial" panose="020B0604020202020204" pitchFamily="34" charset="0"/>
                <a:cs typeface="Arial" panose="020B0604020202020204" pitchFamily="34" charset="0"/>
              </a:rPr>
              <a:t> — To reproduce a disaggregated NVMe-oF (NVMe over Fabrics; here NVMe/TCP) cluster in software (NS-3-based) so that storage-management policies (RL policies included) can be tuned for mixed configurations of heterogeneous devices in a data center</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Surrogate</a:t>
            </a:r>
            <a:r>
              <a:rPr lang="en-US" altLang="ko-KR" sz="1100" dirty="0">
                <a:latin typeface="Arial" panose="020B0604020202020204" pitchFamily="34" charset="0"/>
                <a:ea typeface="Arial" panose="020B0604020202020204" pitchFamily="34" charset="0"/>
                <a:cs typeface="Arial" panose="020B0604020202020204" pitchFamily="34" charset="0"/>
              </a:rPr>
              <a:t> — FIO (flexible I/O tester) measures per-node serviced IOPS (I/O operations per second) and latency against required IOPS. A single DNN (deep neural network) surrogate spanning device specifications </a:t>
            </a:r>
            <a:r>
              <a:rPr lang="en-US" altLang="ko-KR" sz="1100" u="sng" dirty="0">
                <a:latin typeface="Arial" panose="020B0604020202020204" pitchFamily="34" charset="0"/>
                <a:ea typeface="Arial" panose="020B0604020202020204" pitchFamily="34" charset="0"/>
                <a:cs typeface="Arial" panose="020B0604020202020204" pitchFamily="34" charset="0"/>
              </a:rPr>
              <a:t>reproduces both responses</a:t>
            </a:r>
            <a:r>
              <a:rPr lang="en-US" altLang="ko-KR" sz="1100" dirty="0">
                <a:latin typeface="Arial" panose="020B0604020202020204" pitchFamily="34" charset="0"/>
                <a:ea typeface="Arial" panose="020B0604020202020204" pitchFamily="34" charset="0"/>
                <a:cs typeface="Arial" panose="020B0604020202020204" pitchFamily="34" charset="0"/>
              </a:rPr>
              <a:t> (right figure: (a) measured vs. (b) estimated)</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Four configurations were profiled, from an RC500 SSD on 10 GbE to a Samsung PM1725a SSD on 40 GbE. The surrogate takes a 15-bin histogram of the objects' required IOPS and is trained with an L-infinity loss on serviced IOPS and an L1 loss on latency</a:t>
            </a:r>
          </a:p>
          <a:p>
            <a:pPr marL="285750" indent="-285750" algn="just">
              <a:lnSpc>
                <a:spcPct val="110000"/>
              </a:lnSpc>
              <a:spcBef>
                <a:spcPts val="400"/>
              </a:spcBef>
              <a:buFont typeface="Arial" panose="020B0604020202020204" pitchFamily="34" charset="0"/>
              <a:buChar char="○"/>
            </a:pPr>
            <a:r>
              <a:rPr lang="en-US" altLang="ko-KR" sz="1100" b="1" dirty="0">
                <a:latin typeface="Arial" panose="020B0604020202020204" pitchFamily="34" charset="0"/>
                <a:ea typeface="Arial" panose="020B0604020202020204" pitchFamily="34" charset="0"/>
                <a:cs typeface="Arial" panose="020B0604020202020204" pitchFamily="34" charset="0"/>
              </a:rPr>
              <a:t>Configurable environment</a:t>
            </a:r>
            <a:r>
              <a:rPr lang="en-US" altLang="ko-KR" sz="1100" dirty="0">
                <a:latin typeface="Arial" panose="020B0604020202020204" pitchFamily="34" charset="0"/>
                <a:ea typeface="Arial" panose="020B0604020202020204" pitchFamily="34" charset="0"/>
                <a:cs typeface="Arial" panose="020B0604020202020204" pitchFamily="34" charset="0"/>
              </a:rPr>
              <a:t> — Devices are organized under a storage platform that aggregates them in a two-level hierarchy, so that the environment is </a:t>
            </a:r>
            <a:r>
              <a:rPr lang="en-US" altLang="ko-KR" sz="1100" u="sng" dirty="0">
                <a:latin typeface="Arial" panose="020B0604020202020204" pitchFamily="34" charset="0"/>
                <a:ea typeface="Arial" panose="020B0604020202020204" pitchFamily="34" charset="0"/>
                <a:cs typeface="Arial" panose="020B0604020202020204" pitchFamily="34" charset="0"/>
              </a:rPr>
              <a:t>reconfigured from a system specification rather than rebuilt</a:t>
            </a:r>
            <a:r>
              <a:rPr lang="en-US" altLang="ko-KR" sz="1100" dirty="0">
                <a:latin typeface="Arial" panose="020B0604020202020204" pitchFamily="34" charset="0"/>
                <a:ea typeface="Arial" panose="020B0604020202020204" pitchFamily="34" charset="0"/>
                <a:cs typeface="Arial" panose="020B0604020202020204" pitchFamily="34" charset="0"/>
              </a:rPr>
              <a:t> (left figure)</a:t>
            </a:r>
          </a:p>
          <a:p>
            <a:pPr marL="742950" lvl="1" indent="-285750" algn="just">
              <a:lnSpc>
                <a:spcPct val="110000"/>
              </a:lnSpc>
              <a:buFont typeface="Arial" panose="020B0604020202020204" pitchFamily="34" charset="0"/>
              <a:buChar char="●"/>
            </a:pPr>
            <a:r>
              <a:rPr lang="en-US" altLang="ko-KR" sz="1100" dirty="0">
                <a:latin typeface="Arial" panose="020B0604020202020204" pitchFamily="34" charset="0"/>
                <a:ea typeface="Arial" panose="020B0604020202020204" pitchFamily="34" charset="0"/>
                <a:cs typeface="Arial" panose="020B0604020202020204" pitchFamily="34" charset="0"/>
              </a:rPr>
              <a:t>A tier-level object-migration policy is evaluated across homogeneous and heterogeneous compositions of the measured devices under FIO-generated workloads (the scope covered by the migration-control patent)</a:t>
            </a:r>
          </a:p>
        </p:txBody>
      </p:sp>
    </p:spTree>
    <p:extLst>
      <p:ext uri="{BB962C8B-B14F-4D97-AF65-F5344CB8AC3E}">
        <p14:creationId xmlns:p14="http://schemas.microsoft.com/office/powerpoint/2010/main" val="14211557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6BC2CE-DC7E-7FF3-1EE3-7A6171F5980A}"/>
            </a:ext>
          </a:extLst>
        </p:cNvPr>
        <p:cNvGrpSpPr/>
        <p:nvPr/>
      </p:nvGrpSpPr>
      <p:grpSpPr>
        <a:xfrm>
          <a:off x="0" y="0"/>
          <a:ext cx="0" cy="0"/>
          <a:chOff x="0" y="0"/>
          <a:chExt cx="0" cy="0"/>
        </a:xfrm>
      </p:grpSpPr>
      <p:cxnSp>
        <p:nvCxnSpPr>
          <p:cNvPr id="4" name="직선 연결선 3">
            <a:extLst>
              <a:ext uri="{FF2B5EF4-FFF2-40B4-BE49-F238E27FC236}">
                <a16:creationId xmlns:a16="http://schemas.microsoft.com/office/drawing/2014/main" id="{A5471B6A-B948-FC11-6F20-D814BC1742BF}"/>
              </a:ext>
            </a:extLst>
          </p:cNvPr>
          <p:cNvCxnSpPr>
            <a:cxnSpLocks/>
          </p:cNvCxnSpPr>
          <p:nvPr/>
        </p:nvCxnSpPr>
        <p:spPr>
          <a:xfrm>
            <a:off x="791507" y="123629"/>
            <a:ext cx="9114493" cy="0"/>
          </a:xfrm>
          <a:prstGeom prst="line">
            <a:avLst/>
          </a:prstGeom>
          <a:ln w="50800">
            <a:solidFill>
              <a:schemeClr val="accent5"/>
            </a:solidFill>
          </a:ln>
        </p:spPr>
        <p:style>
          <a:lnRef idx="1">
            <a:schemeClr val="accent1"/>
          </a:lnRef>
          <a:fillRef idx="0">
            <a:schemeClr val="accent1"/>
          </a:fillRef>
          <a:effectRef idx="0">
            <a:schemeClr val="accent1"/>
          </a:effectRef>
          <a:fontRef idx="minor">
            <a:schemeClr val="tx1"/>
          </a:fontRef>
        </p:style>
      </p:cxnSp>
      <p:grpSp>
        <p:nvGrpSpPr>
          <p:cNvPr id="16" name="Group 12">
            <a:extLst>
              <a:ext uri="{FF2B5EF4-FFF2-40B4-BE49-F238E27FC236}">
                <a16:creationId xmlns:a16="http://schemas.microsoft.com/office/drawing/2014/main" id="{6BBBCFC6-38EE-2783-EBFB-53593D66AD4E}"/>
              </a:ext>
            </a:extLst>
          </p:cNvPr>
          <p:cNvGrpSpPr/>
          <p:nvPr/>
        </p:nvGrpSpPr>
        <p:grpSpPr>
          <a:xfrm flipH="1">
            <a:off x="325263" y="78980"/>
            <a:ext cx="523281" cy="185738"/>
            <a:chOff x="2097881" y="6281738"/>
            <a:chExt cx="697704" cy="247649"/>
          </a:xfrm>
        </p:grpSpPr>
        <p:sp>
          <p:nvSpPr>
            <p:cNvPr id="17" name="Oval 4">
              <a:extLst>
                <a:ext uri="{FF2B5EF4-FFF2-40B4-BE49-F238E27FC236}">
                  <a16:creationId xmlns:a16="http://schemas.microsoft.com/office/drawing/2014/main" id="{2ECD611F-C51A-0C5B-DCA9-1A9CDBEC58F6}"/>
                </a:ext>
              </a:extLst>
            </p:cNvPr>
            <p:cNvSpPr/>
            <p:nvPr/>
          </p:nvSpPr>
          <p:spPr>
            <a:xfrm>
              <a:off x="2097881" y="6281738"/>
              <a:ext cx="119062" cy="119062"/>
            </a:xfrm>
            <a:prstGeom prst="ellipse">
              <a:avLst/>
            </a:prstGeom>
            <a:solidFill>
              <a:schemeClr val="accent5"/>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8" name="Oval 5">
              <a:extLst>
                <a:ext uri="{FF2B5EF4-FFF2-40B4-BE49-F238E27FC236}">
                  <a16:creationId xmlns:a16="http://schemas.microsoft.com/office/drawing/2014/main" id="{2753591D-F659-8E9A-D742-71A8434A3AFE}"/>
                </a:ext>
              </a:extLst>
            </p:cNvPr>
            <p:cNvSpPr/>
            <p:nvPr/>
          </p:nvSpPr>
          <p:spPr>
            <a:xfrm>
              <a:off x="2295524" y="6410325"/>
              <a:ext cx="119062" cy="119062"/>
            </a:xfrm>
            <a:prstGeom prst="ellipse">
              <a:avLst/>
            </a:prstGeom>
            <a:solidFill>
              <a:srgbClr val="92D05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19" name="Oval 10">
              <a:extLst>
                <a:ext uri="{FF2B5EF4-FFF2-40B4-BE49-F238E27FC236}">
                  <a16:creationId xmlns:a16="http://schemas.microsoft.com/office/drawing/2014/main" id="{A251ABFC-EFD4-3856-9675-19F61594AB35}"/>
                </a:ext>
              </a:extLst>
            </p:cNvPr>
            <p:cNvSpPr/>
            <p:nvPr/>
          </p:nvSpPr>
          <p:spPr>
            <a:xfrm>
              <a:off x="2478880" y="6281738"/>
              <a:ext cx="119062" cy="119062"/>
            </a:xfrm>
            <a:prstGeom prst="ellipse">
              <a:avLst/>
            </a:prstGeom>
            <a:solidFill>
              <a:srgbClr val="41B176"/>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sp>
          <p:nvSpPr>
            <p:cNvPr id="20" name="Oval 11">
              <a:extLst>
                <a:ext uri="{FF2B5EF4-FFF2-40B4-BE49-F238E27FC236}">
                  <a16:creationId xmlns:a16="http://schemas.microsoft.com/office/drawing/2014/main" id="{550EDC5B-4990-B3E5-8625-E324018DB618}"/>
                </a:ext>
              </a:extLst>
            </p:cNvPr>
            <p:cNvSpPr/>
            <p:nvPr/>
          </p:nvSpPr>
          <p:spPr>
            <a:xfrm>
              <a:off x="2676523" y="6410325"/>
              <a:ext cx="119062" cy="119062"/>
            </a:xfrm>
            <a:prstGeom prst="ellipse">
              <a:avLst/>
            </a:prstGeom>
            <a:solidFill>
              <a:srgbClr val="F7C370"/>
            </a:solidFill>
            <a:ln w="12700" cap="flat" cmpd="sng" algn="ctr">
              <a:noFill/>
              <a:prstDash val="solid"/>
              <a:miter lim="800000"/>
            </a:ln>
            <a:effectLst/>
          </p:spPr>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defRPr/>
              </a:pPr>
              <a:endParaRPr lang="en-US" sz="1350">
                <a:solidFill>
                  <a:sysClr val="window" lastClr="FFFFFF"/>
                </a:solidFill>
                <a:latin typeface="Muli"/>
              </a:endParaRPr>
            </a:p>
          </p:txBody>
        </p:sp>
      </p:grpSp>
      <p:sp>
        <p:nvSpPr>
          <p:cNvPr id="21" name="TextBox 20">
            <a:extLst>
              <a:ext uri="{FF2B5EF4-FFF2-40B4-BE49-F238E27FC236}">
                <a16:creationId xmlns:a16="http://schemas.microsoft.com/office/drawing/2014/main" id="{AC0C523B-FAA3-4931-FAA5-A3684E65916E}"/>
              </a:ext>
            </a:extLst>
          </p:cNvPr>
          <p:cNvSpPr txBox="1"/>
          <p:nvPr/>
        </p:nvSpPr>
        <p:spPr>
          <a:xfrm>
            <a:off x="-9520" y="15922"/>
            <a:ext cx="366548" cy="253916"/>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defRPr/>
            </a:pPr>
            <a:fld id="{691AF18D-0852-4468-85C6-A271F63CD70E}" type="slidenum">
              <a:rPr lang="en-US" sz="1050" b="1">
                <a:solidFill>
                  <a:schemeClr val="tx2"/>
                </a:solidFill>
                <a:latin typeface="Montserrat"/>
              </a:rPr>
              <a:pPr algn="ctr">
                <a:defRPr/>
              </a:pPr>
              <a:t>14</a:t>
            </a:fld>
            <a:endParaRPr lang="en-US" sz="1050" b="1" dirty="0">
              <a:solidFill>
                <a:schemeClr val="tx2"/>
              </a:solidFill>
              <a:latin typeface="Montserrat"/>
              <a:ea typeface="Open Sans Light" panose="020B0306030504020204" pitchFamily="34" charset="0"/>
              <a:cs typeface="Open Sans Light" panose="020B0306030504020204" pitchFamily="34" charset="0"/>
            </a:endParaRPr>
          </a:p>
        </p:txBody>
      </p:sp>
      <p:sp>
        <p:nvSpPr>
          <p:cNvPr id="5" name="TextBox 4">
            <a:extLst>
              <a:ext uri="{FF2B5EF4-FFF2-40B4-BE49-F238E27FC236}">
                <a16:creationId xmlns:a16="http://schemas.microsoft.com/office/drawing/2014/main" id="{6E926540-3C05-F7FF-95CC-840359D4579C}"/>
              </a:ext>
            </a:extLst>
          </p:cNvPr>
          <p:cNvSpPr txBox="1"/>
          <p:nvPr/>
        </p:nvSpPr>
        <p:spPr>
          <a:xfrm>
            <a:off x="173736" y="406716"/>
            <a:ext cx="8414420" cy="430887"/>
          </a:xfrm>
          <a:prstGeom prst="rect">
            <a:avLst/>
          </a:prstGeom>
          <a:noFill/>
        </p:spPr>
        <p:txBody>
          <a:bodyPr wrap="square" rtlCol="0">
            <a:spAutoFit/>
          </a:bodyPr>
          <a:lstStyle/>
          <a:p>
            <a:r>
              <a:rPr lang="en-US" altLang="ko-KR" sz="2200" b="1" dirty="0">
                <a:latin typeface="Arial" panose="020B0604020202020204" pitchFamily="34" charset="0"/>
                <a:ea typeface="Arial" panose="020B0604020202020204" pitchFamily="34" charset="0"/>
                <a:cs typeface="Arial" panose="020B0604020202020204" pitchFamily="34" charset="0"/>
              </a:rPr>
              <a:t>Summary and Contact</a:t>
            </a:r>
            <a:endParaRPr lang="en-US" altLang="ko-KR" sz="2200" dirty="0">
              <a:latin typeface="Arial" pitchFamily="34" charset="0"/>
              <a:ea typeface="Arial Unicode MS" pitchFamily="50" charset="-127"/>
              <a:cs typeface="Arial" pitchFamily="34" charset="0"/>
            </a:endParaRPr>
          </a:p>
        </p:txBody>
      </p:sp>
      <p:sp>
        <p:nvSpPr>
          <p:cNvPr id="10" name="TextBox 9">
            <a:extLst>
              <a:ext uri="{FF2B5EF4-FFF2-40B4-BE49-F238E27FC236}">
                <a16:creationId xmlns:a16="http://schemas.microsoft.com/office/drawing/2014/main" id="{FB7447F0-0347-1437-7EEF-24081CCBAFBD}"/>
              </a:ext>
            </a:extLst>
          </p:cNvPr>
          <p:cNvSpPr txBox="1"/>
          <p:nvPr/>
        </p:nvSpPr>
        <p:spPr>
          <a:xfrm>
            <a:off x="173736" y="849135"/>
            <a:ext cx="9603782" cy="1738617"/>
          </a:xfrm>
          <a:prstGeom prst="rect">
            <a:avLst/>
          </a:prstGeom>
          <a:noFill/>
        </p:spPr>
        <p:txBody>
          <a:bodyPr wrap="square">
            <a:spAutoFit/>
          </a:bodyPr>
          <a:lstStyle/>
          <a:p>
            <a:pPr marL="285750" marR="0" lvl="0" indent="-285750" algn="just" defTabSz="914400" rtl="0" eaLnBrk="1" fontAlgn="auto" latinLnBrk="1" hangingPunct="1">
              <a:lnSpc>
                <a:spcPct val="110000"/>
              </a:lnSpc>
              <a:spcBef>
                <a:spcPts val="200"/>
              </a:spcBef>
              <a:spcAft>
                <a:spcPts val="500"/>
              </a:spcAft>
              <a:buClrTx/>
              <a:buSzTx/>
              <a:buFont typeface="Arial" panose="020B0604020202020204" pitchFamily="34" charset="0"/>
              <a:buChar char="○"/>
              <a:tabLst/>
              <a:defRPr/>
            </a:pPr>
            <a:r>
              <a:rPr kumimoji="0" lang="en-US" altLang="ko-KR" sz="1100" b="1"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Contact</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 </a:t>
            </a:r>
            <a:r>
              <a:rPr kumimoji="0" lang="en-US" altLang="ko-KR" sz="1100" b="0" i="0" u="none" strike="noStrike" kern="1200" cap="none" spc="0" normalizeH="0" baseline="0" noProof="0" dirty="0" err="1">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Youngseok</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Lee · </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hlinkClick r:id="rId3"/>
              </a:rPr>
              <a:t>yslee.gs@gmail.com</a:t>
            </a:r>
            <a:r>
              <a:rPr kumimoji="0" lang="en-US" altLang="ko-KR" sz="1100" b="0" i="0" u="none" strike="noStrike" kern="1200" cap="none" spc="0" normalizeH="0" baseline="0" noProof="0" dirty="0">
                <a:ln>
                  <a:noFill/>
                </a:ln>
                <a:solidFill>
                  <a:prstClr val="black"/>
                </a:solidFill>
                <a:effectLst/>
                <a:uLnTx/>
                <a:uFillTx/>
                <a:latin typeface="Arial" panose="020B0604020202020204" pitchFamily="34" charset="0"/>
                <a:ea typeface="Arial" panose="020B0604020202020204" pitchFamily="34" charset="0"/>
                <a:cs typeface="Arial" panose="020B0604020202020204" pitchFamily="34" charset="0"/>
              </a:rPr>
              <a:t> · +82-10-7368-6845 · scholar.google.com/citations?user=GhwtxtgAAAAJ</a:t>
            </a:r>
            <a:endParaRPr lang="en-US" altLang="ko-KR" sz="1100" b="1" dirty="0">
              <a:latin typeface="Arial" panose="020B0604020202020204" pitchFamily="34" charset="0"/>
              <a:ea typeface="Arial" panose="020B0604020202020204" pitchFamily="34" charset="0"/>
              <a:cs typeface="Arial" panose="020B0604020202020204" pitchFamily="34" charset="0"/>
            </a:endParaRPr>
          </a:p>
          <a:p>
            <a:pPr marL="228600" indent="-228600" algn="just">
              <a:lnSpc>
                <a:spcPct val="110000"/>
              </a:lnSpc>
              <a:spcBef>
                <a:spcPts val="400"/>
              </a:spcBef>
              <a:buNone/>
              <a:tabLst>
                <a:tab pos="228600" algn="l"/>
              </a:tabLst>
            </a:pPr>
            <a:r>
              <a:rPr lang="en-US" altLang="ko-KR" sz="1100" b="1" dirty="0">
                <a:latin typeface="Arial" panose="020B0604020202020204" pitchFamily="34" charset="0"/>
                <a:ea typeface="Arial Unicode MS" pitchFamily="50" charset="-127"/>
                <a:cs typeface="Arial" panose="020B0604020202020204" pitchFamily="34" charset="0"/>
              </a:rPr>
              <a:t>①	</a:t>
            </a:r>
            <a:r>
              <a:rPr lang="en-US" altLang="ko-KR" sz="1100" b="1" dirty="0">
                <a:latin typeface="Arial" panose="020B0604020202020204" pitchFamily="34" charset="0"/>
                <a:ea typeface="Arial" panose="020B0604020202020204" pitchFamily="34" charset="0"/>
                <a:cs typeface="Arial" panose="020B0604020202020204" pitchFamily="34" charset="0"/>
              </a:rPr>
              <a:t>Reinforcement Learning</a:t>
            </a:r>
            <a:r>
              <a:rPr lang="en-US" altLang="ko-KR" sz="1100" dirty="0">
                <a:latin typeface="Arial" panose="020B0604020202020204" pitchFamily="34" charset="0"/>
                <a:ea typeface="Arial" panose="020B0604020202020204" pitchFamily="34" charset="0"/>
                <a:cs typeface="Arial" panose="020B0604020202020204" pitchFamily="34" charset="0"/>
              </a:rPr>
              <a:t> — RL policies for resource management and cloud robotics: a meta-RL rate controller and a bandwidth-allocation policy that transfer to new objectives and environments with little or no retraining (XferQoE · Repot), and a SAC dispatch policy for V2G fleets (AgentV2G)</a:t>
            </a:r>
          </a:p>
          <a:p>
            <a:pPr marL="228600" indent="-228600" algn="just">
              <a:lnSpc>
                <a:spcPct val="110000"/>
              </a:lnSpc>
              <a:spcBef>
                <a:spcPts val="400"/>
              </a:spcBef>
              <a:buNone/>
              <a:tabLst>
                <a:tab pos="228600" algn="l"/>
              </a:tabLst>
            </a:pPr>
            <a:r>
              <a:rPr lang="en-US" altLang="ko-KR" sz="1100" b="1" dirty="0">
                <a:latin typeface="Arial" panose="020B0604020202020204" pitchFamily="34" charset="0"/>
                <a:ea typeface="Arial Unicode MS" pitchFamily="50" charset="-127"/>
                <a:cs typeface="Arial" panose="020B0604020202020204" pitchFamily="34" charset="0"/>
              </a:rPr>
              <a:t>②	</a:t>
            </a:r>
            <a:r>
              <a:rPr lang="en-US" altLang="ko-KR" sz="1100" b="1" dirty="0">
                <a:latin typeface="Arial" panose="020B0604020202020204" pitchFamily="34" charset="0"/>
                <a:ea typeface="Arial" panose="020B0604020202020204" pitchFamily="34" charset="0"/>
                <a:cs typeface="Arial" panose="020B0604020202020204" pitchFamily="34" charset="0"/>
              </a:rPr>
              <a:t>Agentic AI</a:t>
            </a:r>
            <a:r>
              <a:rPr lang="en-US" altLang="ko-KR" sz="1100" dirty="0">
                <a:latin typeface="Arial" panose="020B0604020202020204" pitchFamily="34" charset="0"/>
                <a:ea typeface="Arial" panose="020B0604020202020204" pitchFamily="34" charset="0"/>
                <a:cs typeface="Arial" panose="020B0604020202020204" pitchFamily="34" charset="0"/>
              </a:rPr>
              <a:t> — AgentV2G uses LLM agents to turn market rules into solver-ready objectives and constraints for V2G operation, with a SAC policy for real-time dispatch; LDuS uses an LLM to turn user requirements into executable loss-function code and validate code and trajectories in a feedback loop for skill adaptation</a:t>
            </a:r>
          </a:p>
          <a:p>
            <a:pPr marL="228600" indent="-228600" algn="just">
              <a:lnSpc>
                <a:spcPct val="110000"/>
              </a:lnSpc>
              <a:spcBef>
                <a:spcPts val="400"/>
              </a:spcBef>
              <a:buNone/>
              <a:tabLst>
                <a:tab pos="228600" algn="l"/>
              </a:tabLst>
            </a:pPr>
            <a:r>
              <a:rPr lang="en-US" altLang="ko-KR" sz="1100" b="1" dirty="0">
                <a:latin typeface="Arial" panose="020B0604020202020204" pitchFamily="34" charset="0"/>
                <a:ea typeface="Arial Unicode MS" pitchFamily="50" charset="-127"/>
                <a:cs typeface="Arial" panose="020B0604020202020204" pitchFamily="34" charset="0"/>
              </a:rPr>
              <a:t>③	</a:t>
            </a:r>
            <a:r>
              <a:rPr lang="en-US" altLang="ko-KR" sz="1100" b="1" dirty="0">
                <a:latin typeface="Arial" panose="020B0604020202020204" pitchFamily="34" charset="0"/>
                <a:ea typeface="Arial" panose="020B0604020202020204" pitchFamily="34" charset="0"/>
                <a:cs typeface="Arial" panose="020B0604020202020204" pitchFamily="34" charset="0"/>
              </a:rPr>
              <a:t>Systems Engineering</a:t>
            </a:r>
            <a:r>
              <a:rPr lang="en-US" altLang="ko-KR" sz="1100" dirty="0">
                <a:latin typeface="Arial" panose="020B0604020202020204" pitchFamily="34" charset="0"/>
                <a:ea typeface="Arial" panose="020B0604020202020204" pitchFamily="34" charset="0"/>
                <a:cs typeface="Arial" panose="020B0604020202020204" pitchFamily="34" charset="0"/>
              </a:rPr>
              <a:t> — Both approaches are implemented and validated on purpose-built simulators, surrogate models, and testbeds; five systems built with the same engineering were delivered to Samsung Electronics ×2, Polaris AI, Acryl, and ADD</a:t>
            </a:r>
          </a:p>
        </p:txBody>
      </p:sp>
      <p:sp>
        <p:nvSpPr>
          <p:cNvPr id="22" name="TableTitle"/>
          <p:cNvSpPr txBox="1"/>
          <p:nvPr/>
        </p:nvSpPr>
        <p:spPr>
          <a:xfrm>
            <a:off x="173736" y="2624328"/>
            <a:ext cx="5486400" cy="320040"/>
          </a:xfrm>
          <a:prstGeom prst="rect">
            <a:avLst/>
          </a:prstGeom>
          <a:noFill/>
        </p:spPr>
        <p:txBody>
          <a:bodyPr wrap="square" lIns="0" tIns="18288" rIns="0" bIns="0" rtlCol="0">
            <a:spAutoFit/>
          </a:bodyPr>
          <a:lstStyle/>
          <a:p>
            <a:pPr algn="l"/>
            <a:r>
              <a:rPr lang="en-US" altLang="ko-KR" sz="1100" b="1" dirty="0">
                <a:latin typeface="Arial" panose="020B0604020202020204" pitchFamily="34" charset="0"/>
                <a:ea typeface="Arial" panose="020B0604020202020204" pitchFamily="34" charset="0"/>
                <a:cs typeface="Arial" panose="020B0604020202020204" pitchFamily="34" charset="0"/>
              </a:rPr>
              <a:t>Selected publications and patents (links)</a:t>
            </a:r>
            <a:endParaRPr lang="en-US" altLang="ko-KR" sz="1100" dirty="0">
              <a:latin typeface="Arial" panose="020B0604020202020204" pitchFamily="34" charset="0"/>
              <a:ea typeface="Arial" panose="020B0604020202020204" pitchFamily="34" charset="0"/>
              <a:cs typeface="Arial" panose="020B0604020202020204" pitchFamily="34" charset="0"/>
            </a:endParaRPr>
          </a:p>
        </p:txBody>
      </p:sp>
      <p:graphicFrame>
        <p:nvGraphicFramePr>
          <p:cNvPr id="23" name="SummaryTable"/>
          <p:cNvGraphicFramePr>
            <a:graphicFrameLocks noGrp="1"/>
          </p:cNvGraphicFramePr>
          <p:nvPr/>
        </p:nvGraphicFramePr>
        <p:xfrm>
          <a:off x="173736" y="2944368"/>
          <a:ext cx="9601200" cy="3908888"/>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tblGrid>
              <a:tr h="246888">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Type</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Title</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l">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Venue · Registration</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tc>
                  <a:txBody>
                    <a:bodyPr/>
                    <a:lstStyle/>
                    <a:p>
                      <a:pPr algn="ctr">
                        <a:spcBef>
                          <a:spcPts val="60"/>
                        </a:spcBef>
                        <a:spcAft>
                          <a:spcPts val="60"/>
                        </a:spcAft>
                        <a:buNone/>
                      </a:pPr>
                      <a:r>
                        <a:rPr lang="en-US" altLang="ko-KR" sz="1050" b="1" dirty="0">
                          <a:solidFill>
                            <a:srgbClr val="1F3864"/>
                          </a:solidFill>
                          <a:latin typeface="Arial" panose="020B0604020202020204" pitchFamily="34" charset="0"/>
                          <a:ea typeface="Arial" panose="020B0604020202020204" pitchFamily="34" charset="0"/>
                          <a:cs typeface="Arial" panose="020B0604020202020204" pitchFamily="34" charset="0"/>
                        </a:rPr>
                        <a:t>Link</a:t>
                      </a:r>
                      <a:endParaRPr lang="en-US" altLang="ko-KR" sz="1050" dirty="0">
                        <a:solidFill>
                          <a:srgbClr val="1F3864"/>
                        </a:solidFill>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solidFill>
                      <a:srgbClr val="EEF1F6"/>
                    </a:solidFill>
                  </a:tcPr>
                </a:tc>
                <a:extLst>
                  <a:ext uri="{0D108BD9-81ED-4DB2-BD59-A6C34878D82A}">
                    <a16:rowId xmlns:a16="http://schemas.microsoft.com/office/drawing/2014/main" val="10000"/>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XferQoE: QoS-to-QoE transfer for adaptive rate control</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IEEE IoT Journal · first author</a:t>
                      </a:r>
                    </a:p>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under review</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1"/>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top-tier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LLM-based skill diffusion for zero-shot policy adaptation (LDuS)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NeurIPS 2024 Main Conference Track · second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4"/>
                        </a:rPr>
                        <a:t>NeurIPS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2"/>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Repot: Transferable reinforcement learning for quality-centric networked monitoring in various environments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IEEE Access, vol. 9, 2021 · first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5"/>
                        </a:rPr>
                        <a:t>DOI</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3"/>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Gemma: Reinforcement learning-based graph embedding and mapping for virtual network applications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IEEE Access, vol. 9, 2021 · second author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6"/>
                        </a:rPr>
                        <a:t>DOI</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4"/>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Paper · SCIE</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Continual prediction of bug-fix time using deep learning-based activity stream embedding (DASENet)</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IEEE Access, vol. 8, 2020 · first author</a:t>
                      </a:r>
                    </a:p>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33 citations</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7"/>
                        </a:rPr>
                        <a:t>DOI</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5"/>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first inventor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Graph Embedding-Based Virtual Network Mapping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KR 10-2629731 (2024)</a:t>
                      </a:r>
                    </a:p>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12,047,250 B2 (2024)</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8"/>
                        </a:rPr>
                        <a:t>KR</a:t>
                      </a:r>
                      <a:r>
                        <a:rPr lang="en-US" altLang="ko-KR" sz="1050" dirty="0">
                          <a:latin typeface="Arial" panose="020B0604020202020204" pitchFamily="34" charset="0"/>
                          <a:ea typeface="Arial" panose="020B0604020202020204" pitchFamily="34" charset="0"/>
                          <a:cs typeface="Arial" panose="020B0604020202020204" pitchFamily="34" charset="0"/>
                        </a:rPr>
                        <a:t> · </a:t>
                      </a:r>
                      <a:r>
                        <a:rPr lang="en-US" altLang="ko-KR" sz="1050" dirty="0">
                          <a:latin typeface="Arial" panose="020B0604020202020204" pitchFamily="34" charset="0"/>
                          <a:ea typeface="Arial" panose="020B0604020202020204" pitchFamily="34" charset="0"/>
                          <a:cs typeface="Arial" panose="020B0604020202020204" pitchFamily="34" charset="0"/>
                          <a:hlinkClick r:id="rId9"/>
                        </a:rPr>
                        <a:t>US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6"/>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first inventor</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Network Monitoring System</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KR 10-2574070 (2023)</a:t>
                      </a:r>
                    </a:p>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12,556,492 B2 (2026)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10"/>
                        </a:rPr>
                        <a:t>KR</a:t>
                      </a:r>
                      <a:r>
                        <a:rPr lang="en-US" altLang="ko-KR" sz="1050" dirty="0">
                          <a:latin typeface="Arial" panose="020B0604020202020204" pitchFamily="34" charset="0"/>
                          <a:ea typeface="Arial" panose="020B0604020202020204" pitchFamily="34" charset="0"/>
                          <a:cs typeface="Arial" panose="020B0604020202020204" pitchFamily="34" charset="0"/>
                        </a:rPr>
                        <a:t> · </a:t>
                      </a:r>
                      <a:r>
                        <a:rPr lang="en-US" altLang="ko-KR" sz="1050" dirty="0">
                          <a:latin typeface="Arial" panose="020B0604020202020204" pitchFamily="34" charset="0"/>
                          <a:ea typeface="Arial" panose="020B0604020202020204" pitchFamily="34" charset="0"/>
                          <a:cs typeface="Arial" panose="020B0604020202020204" pitchFamily="34" charset="0"/>
                          <a:hlinkClick r:id="rId11"/>
                        </a:rPr>
                        <a:t>US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7"/>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Object Storage System, Migration Control Device, and Migration Control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12,210,760 B2 (2025)</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12"/>
                        </a:rPr>
                        <a:t>US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8"/>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Simulation Method and Modeling Method</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12,650,769 B2 (2026)</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13"/>
                        </a:rPr>
                        <a:t>USPTO</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09"/>
                  </a:ext>
                </a:extLst>
              </a:tr>
              <a:tr h="246888">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Patent · with Samsung</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Electronic Apparatus, System for Internet-of-Things Environment and Control Method Thereof</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l">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rPr>
                        <a:t>US 10,742,742 B2 (2020)</a:t>
                      </a: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tc>
                  <a:txBody>
                    <a:bodyPr/>
                    <a:lstStyle/>
                    <a:p>
                      <a:pPr algn="ctr">
                        <a:spcBef>
                          <a:spcPts val="60"/>
                        </a:spcBef>
                        <a:spcAft>
                          <a:spcPts val="60"/>
                        </a:spcAft>
                        <a:buNone/>
                      </a:pPr>
                      <a:r>
                        <a:rPr lang="en-US" altLang="ko-KR" sz="1050" dirty="0">
                          <a:latin typeface="Arial" panose="020B0604020202020204" pitchFamily="34" charset="0"/>
                          <a:ea typeface="Arial" panose="020B0604020202020204" pitchFamily="34" charset="0"/>
                          <a:cs typeface="Arial" panose="020B0604020202020204" pitchFamily="34" charset="0"/>
                          <a:hlinkClick r:id="rId14"/>
                        </a:rPr>
                        <a:t>US</a:t>
                      </a:r>
                      <a:endParaRPr lang="en-US" altLang="ko-KR" sz="1050" dirty="0">
                        <a:latin typeface="Arial" panose="020B0604020202020204" pitchFamily="34" charset="0"/>
                        <a:ea typeface="Arial" panose="020B0604020202020204" pitchFamily="34" charset="0"/>
                        <a:cs typeface="Arial" panose="020B0604020202020204" pitchFamily="34" charset="0"/>
                      </a:endParaRPr>
                    </a:p>
                  </a:txBody>
                  <a:tcPr marL="50800" marR="50800" marT="18000" marB="18000" anchor="ctr">
                    <a:lnL>
                      <a:noFill/>
                    </a:lnL>
                    <a:lnR>
                      <a:noFill/>
                    </a:lnR>
                    <a:lnT w="12700" cap="flat" cmpd="sng" algn="ctr">
                      <a:solidFill>
                        <a:srgbClr val="BFBFBF"/>
                      </a:solidFill>
                      <a:prstDash val="solid"/>
                    </a:lnT>
                    <a:lnB w="12700" cap="flat" cmpd="sng" algn="ctr">
                      <a:solidFill>
                        <a:srgbClr val="BFBFBF"/>
                      </a:solidFill>
                      <a:prstDash val="solid"/>
                    </a:lnB>
                    <a:no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48413838"/>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11882</TotalTime>
  <Words>6276</Words>
  <Application>Microsoft Office PowerPoint</Application>
  <PresentationFormat>A4 용지(210x297mm)</PresentationFormat>
  <Paragraphs>338</Paragraphs>
  <Slides>14</Slides>
  <Notes>10</Notes>
  <HiddenSlides>0</HiddenSlides>
  <MMClips>7</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14</vt:i4>
      </vt:variant>
    </vt:vector>
  </HeadingPairs>
  <TitlesOfParts>
    <vt:vector size="19" baseType="lpstr">
      <vt:lpstr>Muli</vt:lpstr>
      <vt:lpstr>맑은 고딕</vt:lpstr>
      <vt:lpstr>Arial</vt:lpstr>
      <vt:lpstr>Montserrat</vt:lpstr>
      <vt:lpstr>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Closed-Loop Control Systems Robust to Objective and Environment Shift</dc:title>
  <dc:creator>Youngseok Lee</dc:creator>
  <cp:lastModifiedBy>YOUNGSEOK LEE</cp:lastModifiedBy>
  <cp:revision>795</cp:revision>
  <cp:lastPrinted>2026-09-28T08:20:52Z</cp:lastPrinted>
  <dcterms:created xsi:type="dcterms:W3CDTF">2020-06-29T22:42:46Z</dcterms:created>
  <dcterms:modified xsi:type="dcterms:W3CDTF">2026-10-11T13:38:50Z</dcterms:modified>
</cp:coreProperties>
</file>