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3.avi" ContentType="video/x-msvideo"/>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406" r:id="rId3"/>
    <p:sldId id="420" r:id="rId25"/>
    <p:sldId id="421" r:id="rId26"/>
    <p:sldId id="404" r:id="rId4"/>
    <p:sldId id="413" r:id="rId6"/>
    <p:sldId id="414" r:id="rId7"/>
    <p:sldId id="416" r:id="rId8"/>
    <p:sldId id="402" r:id="rId9"/>
    <p:sldId id="403" r:id="rId10"/>
    <p:sldId id="407" r:id="rId5"/>
    <p:sldId id="418" r:id="rId23"/>
    <p:sldId id="409" r:id="rId11"/>
    <p:sldId id="410" r:id="rId12"/>
    <p:sldId id="405" r:id="rId13"/>
    <p:sldId id="412" r:id="rId14"/>
    <p:sldId id="411" r:id="rId16"/>
  </p:sldIdLst>
  <p:sldSz cx="9906000" cy="6858000" type="A4"/>
  <p:notesSz cx="10234613" cy="710406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F1F6"/>
    <a:srgbClr val="90C221"/>
    <a:srgbClr val="0680C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40" autoAdjust="0"/>
    <p:restoredTop sz="89312" autoAdjust="0"/>
  </p:normalViewPr>
  <p:slideViewPr>
    <p:cSldViewPr>
      <p:cViewPr varScale="1">
        <p:scale>
          <a:sx n="109" d="100"/>
          <a:sy n="109" d="100"/>
        </p:scale>
        <p:origin x="936" y="102"/>
      </p:cViewPr>
      <p:guideLst>
        <p:guide orient="horz" pos="2160"/>
        <p:guide pos="31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9.xml"/><Relationship Id="rId6"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3" Type="http://schemas.openxmlformats.org/officeDocument/2006/relationships/slide" Target="slides/slide8.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4434999" cy="355203"/>
          </a:xfrm>
          <a:prstGeom prst="rect">
            <a:avLst/>
          </a:prstGeom>
        </p:spPr>
        <p:txBody>
          <a:bodyPr vert="horz" lIns="99075" tIns="49538" rIns="99075" bIns="49538" rtlCol="0"/>
          <a:lstStyle>
            <a:lvl1pPr algn="l">
              <a:defRPr sz="1300"/>
            </a:lvl1pPr>
          </a:lstStyle>
          <a:p>
            <a:endParaRPr lang="ko-KR" altLang="en-US"/>
          </a:p>
        </p:txBody>
      </p:sp>
      <p:sp>
        <p:nvSpPr>
          <p:cNvPr id="3" name="날짜 개체 틀 2"/>
          <p:cNvSpPr>
            <a:spLocks noGrp="1"/>
          </p:cNvSpPr>
          <p:nvPr>
            <p:ph type="dt" idx="1"/>
          </p:nvPr>
        </p:nvSpPr>
        <p:spPr>
          <a:xfrm>
            <a:off x="5797246" y="0"/>
            <a:ext cx="4434999" cy="355203"/>
          </a:xfrm>
          <a:prstGeom prst="rect">
            <a:avLst/>
          </a:prstGeom>
        </p:spPr>
        <p:txBody>
          <a:bodyPr vert="horz" lIns="99075" tIns="49538" rIns="99075" bIns="49538" rtlCol="0"/>
          <a:lstStyle>
            <a:lvl1pPr algn="r">
              <a:defRPr sz="1300"/>
            </a:lvl1pPr>
          </a:lstStyle>
          <a:p>
            <a:fld id="{29D768EB-444E-4D81-A708-0D21A7707A4B}" type="datetimeFigureOut">
              <a:rPr lang="ko-KR" altLang="en-US" smtClean="0"/>
              <a:t>2026-10-11</a:t>
            </a:fld>
            <a:endParaRPr lang="ko-KR" altLang="en-US"/>
          </a:p>
        </p:txBody>
      </p:sp>
      <p:sp>
        <p:nvSpPr>
          <p:cNvPr id="4" name="슬라이드 이미지 개체 틀 3"/>
          <p:cNvSpPr>
            <a:spLocks noGrp="1" noRot="1" noChangeAspect="1"/>
          </p:cNvSpPr>
          <p:nvPr>
            <p:ph type="sldImg" idx="2"/>
          </p:nvPr>
        </p:nvSpPr>
        <p:spPr>
          <a:xfrm>
            <a:off x="3194050" y="533400"/>
            <a:ext cx="3846513" cy="2663825"/>
          </a:xfrm>
          <a:prstGeom prst="rect">
            <a:avLst/>
          </a:prstGeom>
          <a:noFill/>
          <a:ln w="12700">
            <a:solidFill>
              <a:prstClr val="black"/>
            </a:solidFill>
          </a:ln>
        </p:spPr>
        <p:txBody>
          <a:bodyPr vert="horz" lIns="99075" tIns="49538" rIns="99075" bIns="49538" rtlCol="0" anchor="ctr"/>
          <a:lstStyle/>
          <a:p>
            <a:endParaRPr lang="ko-KR" altLang="en-US"/>
          </a:p>
        </p:txBody>
      </p:sp>
      <p:sp>
        <p:nvSpPr>
          <p:cNvPr id="5" name="슬라이드 노트 개체 틀 4"/>
          <p:cNvSpPr>
            <a:spLocks noGrp="1"/>
          </p:cNvSpPr>
          <p:nvPr>
            <p:ph type="body" sz="quarter" idx="3"/>
          </p:nvPr>
        </p:nvSpPr>
        <p:spPr>
          <a:xfrm>
            <a:off x="1023462" y="3374430"/>
            <a:ext cx="8187690" cy="3196828"/>
          </a:xfrm>
          <a:prstGeom prst="rect">
            <a:avLst/>
          </a:prstGeom>
        </p:spPr>
        <p:txBody>
          <a:bodyPr vert="horz" lIns="99075" tIns="49538" rIns="99075" bIns="49538"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6747627"/>
            <a:ext cx="4434999" cy="355203"/>
          </a:xfrm>
          <a:prstGeom prst="rect">
            <a:avLst/>
          </a:prstGeom>
        </p:spPr>
        <p:txBody>
          <a:bodyPr vert="horz" lIns="99075" tIns="49538" rIns="99075" bIns="49538" rtlCol="0" anchor="b"/>
          <a:lstStyle>
            <a:lvl1pPr algn="l">
              <a:defRPr sz="1300"/>
            </a:lvl1pPr>
          </a:lstStyle>
          <a:p>
            <a:endParaRPr lang="ko-KR" altLang="en-US"/>
          </a:p>
        </p:txBody>
      </p:sp>
      <p:sp>
        <p:nvSpPr>
          <p:cNvPr id="7" name="슬라이드 번호 개체 틀 6"/>
          <p:cNvSpPr>
            <a:spLocks noGrp="1"/>
          </p:cNvSpPr>
          <p:nvPr>
            <p:ph type="sldNum" sz="quarter" idx="5"/>
          </p:nvPr>
        </p:nvSpPr>
        <p:spPr>
          <a:xfrm>
            <a:off x="5797246" y="6747627"/>
            <a:ext cx="4434999" cy="355203"/>
          </a:xfrm>
          <a:prstGeom prst="rect">
            <a:avLst/>
          </a:prstGeom>
        </p:spPr>
        <p:txBody>
          <a:bodyPr vert="horz" lIns="99075" tIns="49538" rIns="99075" bIns="49538" rtlCol="0" anchor="b"/>
          <a:lstStyle>
            <a:lvl1pPr algn="r">
              <a:defRPr sz="1300"/>
            </a:lvl1pPr>
          </a:lstStyle>
          <a:p>
            <a:fld id="{9D558E6B-DCEC-4D25-8F20-EC2A837435CB}" type="slidenum">
              <a:rPr lang="ko-KR" altLang="en-US" smtClean="0"/>
              <a:t>‹#›</a:t>
            </a:fld>
            <a:endParaRPr lang="ko-KR" altLang="en-US"/>
          </a:p>
        </p:txBody>
      </p:sp>
    </p:spTree>
    <p:extLst>
      <p:ext uri="{BB962C8B-B14F-4D97-AF65-F5344CB8AC3E}">
        <p14:creationId xmlns:p14="http://schemas.microsoft.com/office/powerpoint/2010/main" val="147718834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9D558E6B-DCEC-4D25-8F20-EC2A837435CB}" type="slidenum">
              <a:rPr lang="ko-KR" altLang="en-US" smtClean="0"/>
              <a:t>1</a:t>
            </a:fld>
            <a:endParaRPr lang="ko-KR" altLang="en-US"/>
          </a:p>
        </p:txBody>
      </p:sp>
    </p:spTree>
    <p:extLst>
      <p:ext uri="{BB962C8B-B14F-4D97-AF65-F5344CB8AC3E}">
        <p14:creationId xmlns:p14="http://schemas.microsoft.com/office/powerpoint/2010/main" val="33484569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2A70E-04FF-2091-2C78-0C9DC9247619}"/>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5D9DE26-8B14-87AC-EE28-2D2D60021782}"/>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B415E1B3-B2F3-3C95-B803-D70786BE73B2}"/>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44E5DCD2-43A7-E5F5-5347-69BEE3F66CE1}"/>
              </a:ext>
            </a:extLst>
          </p:cNvPr>
          <p:cNvSpPr>
            <a:spLocks noGrp="1"/>
          </p:cNvSpPr>
          <p:nvPr>
            <p:ph type="sldNum" sz="quarter" idx="10"/>
          </p:nvPr>
        </p:nvSpPr>
        <p:spPr/>
        <p:txBody>
          <a:bodyPr/>
          <a:lstStyle/>
          <a:p>
            <a:fld id="{9D558E6B-DCEC-4D25-8F20-EC2A837435CB}" type="slidenum">
              <a:rPr lang="ko-KR" altLang="en-US" smtClean="0"/>
              <a:t>2</a:t>
            </a:fld>
            <a:endParaRPr lang="ko-KR" altLang="en-US"/>
          </a:p>
        </p:txBody>
      </p:sp>
    </p:spTree>
    <p:extLst>
      <p:ext uri="{BB962C8B-B14F-4D97-AF65-F5344CB8AC3E}">
        <p14:creationId xmlns:p14="http://schemas.microsoft.com/office/powerpoint/2010/main" val="12925600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39867-5F5A-1898-3782-003CFBCC48DA}"/>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5066C5D-9BEF-80D1-B9C2-C74AAD033E6F}"/>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43F68C8B-3498-AE4D-4DD8-70CE83BC577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E55D1D44-1ADB-4429-7E94-0ACC3547CFC7}"/>
              </a:ext>
            </a:extLst>
          </p:cNvPr>
          <p:cNvSpPr>
            <a:spLocks noGrp="1"/>
          </p:cNvSpPr>
          <p:nvPr>
            <p:ph type="sldNum" sz="quarter" idx="10"/>
          </p:nvPr>
        </p:nvSpPr>
        <p:spPr/>
        <p:txBody>
          <a:bodyPr/>
          <a:lstStyle/>
          <a:p>
            <a:fld id="{9D558E6B-DCEC-4D25-8F20-EC2A837435CB}" type="slidenum">
              <a:rPr lang="ko-KR" altLang="en-US" smtClean="0"/>
              <a:t>3</a:t>
            </a:fld>
            <a:endParaRPr lang="ko-KR" altLang="en-US"/>
          </a:p>
        </p:txBody>
      </p:sp>
    </p:spTree>
    <p:extLst>
      <p:ext uri="{BB962C8B-B14F-4D97-AF65-F5344CB8AC3E}">
        <p14:creationId xmlns:p14="http://schemas.microsoft.com/office/powerpoint/2010/main" val="1339237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5B0DB-45E5-628E-6337-9E1BE1AF7FA8}"/>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9E74023-96C8-3DBA-3A9D-19950073AB7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3B396F3F-9E8D-B868-47B1-34753A19440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707342D2-62D9-533E-3084-9564028B2447}"/>
              </a:ext>
            </a:extLst>
          </p:cNvPr>
          <p:cNvSpPr>
            <a:spLocks noGrp="1"/>
          </p:cNvSpPr>
          <p:nvPr>
            <p:ph type="sldNum" sz="quarter" idx="10"/>
          </p:nvPr>
        </p:nvSpPr>
        <p:spPr/>
        <p:txBody>
          <a:bodyPr/>
          <a:lstStyle/>
          <a:p>
            <a:fld id="{9D558E6B-DCEC-4D25-8F20-EC2A837435CB}" type="slidenum">
              <a:rPr lang="ko-KR" altLang="en-US" smtClean="0"/>
              <a:t>4</a:t>
            </a:fld>
            <a:endParaRPr lang="ko-KR" altLang="en-US"/>
          </a:p>
        </p:txBody>
      </p:sp>
    </p:spTree>
    <p:extLst>
      <p:ext uri="{BB962C8B-B14F-4D97-AF65-F5344CB8AC3E}">
        <p14:creationId xmlns:p14="http://schemas.microsoft.com/office/powerpoint/2010/main" val="136345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9D558E6B-DCEC-4D25-8F20-EC2A837435CB}" type="slidenum">
              <a:rPr lang="ko-KR" altLang="en-US" smtClean="0"/>
              <a:t>7</a:t>
            </a:fld>
            <a:endParaRPr lang="ko-KR" altLang="en-US"/>
          </a:p>
        </p:txBody>
      </p:sp>
    </p:spTree>
    <p:extLst>
      <p:ext uri="{BB962C8B-B14F-4D97-AF65-F5344CB8AC3E}">
        <p14:creationId xmlns:p14="http://schemas.microsoft.com/office/powerpoint/2010/main" val="35063774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447D1-B022-E37D-ACDB-17F3ABE084C7}"/>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E2AF5B7-E869-29E0-A893-A6DFF9E1154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3C77CF41-F45F-80F0-126D-F196D0F40B1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B634FB1-437C-E92A-B94D-B3B9250A4DFF}"/>
              </a:ext>
            </a:extLst>
          </p:cNvPr>
          <p:cNvSpPr>
            <a:spLocks noGrp="1"/>
          </p:cNvSpPr>
          <p:nvPr>
            <p:ph type="sldNum" sz="quarter" idx="10"/>
          </p:nvPr>
        </p:nvSpPr>
        <p:spPr/>
        <p:txBody>
          <a:bodyPr/>
          <a:lstStyle/>
          <a:p>
            <a:fld id="{9D558E6B-DCEC-4D25-8F20-EC2A837435CB}" type="slidenum">
              <a:rPr lang="ko-KR" altLang="en-US" smtClean="0"/>
              <a:t>8</a:t>
            </a:fld>
            <a:endParaRPr lang="ko-KR" altLang="en-US"/>
          </a:p>
        </p:txBody>
      </p:sp>
    </p:spTree>
    <p:extLst>
      <p:ext uri="{BB962C8B-B14F-4D97-AF65-F5344CB8AC3E}">
        <p14:creationId xmlns:p14="http://schemas.microsoft.com/office/powerpoint/2010/main" val="3891290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467F9-25CA-64FD-AA1A-CEB165BB72E1}"/>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D62BAA5-7C11-9A2E-B4DD-AD30BD500E53}"/>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C2465B11-E031-D9F5-5045-8384A870D5E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C4FAC5E-8A59-B7C9-FBDE-D2D5ACCD3EF5}"/>
              </a:ext>
            </a:extLst>
          </p:cNvPr>
          <p:cNvSpPr>
            <a:spLocks noGrp="1"/>
          </p:cNvSpPr>
          <p:nvPr>
            <p:ph type="sldNum" sz="quarter" idx="10"/>
          </p:nvPr>
        </p:nvSpPr>
        <p:spPr/>
        <p:txBody>
          <a:bodyPr/>
          <a:lstStyle/>
          <a:p>
            <a:fld id="{9D558E6B-DCEC-4D25-8F20-EC2A837435CB}" type="slidenum">
              <a:rPr lang="ko-KR" altLang="en-US" smtClean="0"/>
              <a:t>9</a:t>
            </a:fld>
            <a:endParaRPr lang="ko-KR" altLang="en-US"/>
          </a:p>
        </p:txBody>
      </p:sp>
    </p:spTree>
    <p:extLst>
      <p:ext uri="{BB962C8B-B14F-4D97-AF65-F5344CB8AC3E}">
        <p14:creationId xmlns:p14="http://schemas.microsoft.com/office/powerpoint/2010/main" val="30287598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081F0-81F7-9C32-EE24-A4ABDA9BB0C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8DA8076-7C51-C700-8A9C-266F252BEFD1}"/>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A1B2CEC4-9DD6-0139-0F20-EC1E256BA561}"/>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DE239372-E7E8-524E-AB75-98630AC62260}"/>
              </a:ext>
            </a:extLst>
          </p:cNvPr>
          <p:cNvSpPr>
            <a:spLocks noGrp="1"/>
          </p:cNvSpPr>
          <p:nvPr>
            <p:ph type="sldNum" sz="quarter" idx="10"/>
          </p:nvPr>
        </p:nvSpPr>
        <p:spPr/>
        <p:txBody>
          <a:bodyPr/>
          <a:lstStyle/>
          <a:p>
            <a:fld id="{9D558E6B-DCEC-4D25-8F20-EC2A837435CB}" type="slidenum">
              <a:rPr lang="ko-KR" altLang="en-US" smtClean="0"/>
              <a:t>10</a:t>
            </a:fld>
            <a:endParaRPr lang="ko-KR" altLang="en-US"/>
          </a:p>
        </p:txBody>
      </p:sp>
    </p:spTree>
    <p:extLst>
      <p:ext uri="{BB962C8B-B14F-4D97-AF65-F5344CB8AC3E}">
        <p14:creationId xmlns:p14="http://schemas.microsoft.com/office/powerpoint/2010/main" val="26742972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C585-FCA8-00B3-F029-DB8B86EB49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20209935-A928-EF5A-7973-30C438FC7112}"/>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E7D56F56-60B5-62B9-D499-8F39B84414F6}"/>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3E9CB810-9667-FF21-F4BB-B78A7E00DC73}"/>
              </a:ext>
            </a:extLst>
          </p:cNvPr>
          <p:cNvSpPr>
            <a:spLocks noGrp="1"/>
          </p:cNvSpPr>
          <p:nvPr>
            <p:ph type="sldNum" sz="quarter" idx="10"/>
          </p:nvPr>
        </p:nvSpPr>
        <p:spPr/>
        <p:txBody>
          <a:bodyPr/>
          <a:lstStyle/>
          <a:p>
            <a:fld id="{9D558E6B-DCEC-4D25-8F20-EC2A837435CB}" type="slidenum">
              <a:rPr lang="ko-KR" altLang="en-US" smtClean="0"/>
              <a:t>11</a:t>
            </a:fld>
            <a:endParaRPr lang="ko-KR" altLang="en-US"/>
          </a:p>
        </p:txBody>
      </p:sp>
    </p:spTree>
    <p:extLst>
      <p:ext uri="{BB962C8B-B14F-4D97-AF65-F5344CB8AC3E}">
        <p14:creationId xmlns:p14="http://schemas.microsoft.com/office/powerpoint/2010/main" val="2088461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75310-7741-971A-C4F8-7AA05B467379}"/>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B3D09BE3-E597-06C9-AF91-BF9EB743CB9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C31A8CD3-000A-BF03-5A7E-E7C495E374E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DABDEA31-00B5-1CD9-3B0F-9F32ABA9FA27}"/>
              </a:ext>
            </a:extLst>
          </p:cNvPr>
          <p:cNvSpPr>
            <a:spLocks noGrp="1"/>
          </p:cNvSpPr>
          <p:nvPr>
            <p:ph type="sldNum" sz="quarter" idx="10"/>
          </p:nvPr>
        </p:nvSpPr>
        <p:spPr/>
        <p:txBody>
          <a:bodyPr/>
          <a:lstStyle/>
          <a:p>
            <a:fld id="{9D558E6B-DCEC-4D25-8F20-EC2A837435CB}" type="slidenum">
              <a:rPr lang="ko-KR" altLang="en-US" smtClean="0"/>
              <a:t>12</a:t>
            </a:fld>
            <a:endParaRPr lang="ko-KR" altLang="en-US"/>
          </a:p>
        </p:txBody>
      </p:sp>
    </p:spTree>
    <p:extLst>
      <p:ext uri="{BB962C8B-B14F-4D97-AF65-F5344CB8AC3E}">
        <p14:creationId xmlns:p14="http://schemas.microsoft.com/office/powerpoint/2010/main" val="30150756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F3D46-71A2-845E-476B-3F40180972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FFE697C-1CE9-04E8-3D1A-6C34C95F31B3}"/>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F239D4CB-A648-E37D-073D-CA65D8AC9683}"/>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6CA1014-9851-8997-12E3-FC66C408C8FF}"/>
              </a:ext>
            </a:extLst>
          </p:cNvPr>
          <p:cNvSpPr>
            <a:spLocks noGrp="1"/>
          </p:cNvSpPr>
          <p:nvPr>
            <p:ph type="sldNum" sz="quarter" idx="10"/>
          </p:nvPr>
        </p:nvSpPr>
        <p:spPr/>
        <p:txBody>
          <a:bodyPr/>
          <a:lstStyle/>
          <a:p>
            <a:fld id="{9D558E6B-DCEC-4D25-8F20-EC2A837435CB}" type="slidenum">
              <a:rPr lang="ko-KR" altLang="en-US" smtClean="0"/>
              <a:t>15</a:t>
            </a:fld>
            <a:endParaRPr lang="ko-KR" altLang="en-US"/>
          </a:p>
        </p:txBody>
      </p:sp>
    </p:spTree>
    <p:extLst>
      <p:ext uri="{BB962C8B-B14F-4D97-AF65-F5344CB8AC3E}">
        <p14:creationId xmlns:p14="http://schemas.microsoft.com/office/powerpoint/2010/main" val="9588727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6"/>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마스터 부제목 스타일 편집</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376345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588951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82506" y="4406901"/>
            <a:ext cx="8420100" cy="1362075"/>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편집합니다</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483405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3171194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3888473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073288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1978295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95300" y="273050"/>
            <a:ext cx="3259006" cy="1162050"/>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8150398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941645" y="4800600"/>
            <a:ext cx="5943600" cy="566738"/>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577974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230757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181850" y="274639"/>
            <a:ext cx="2228850" cy="5851525"/>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95300" y="274639"/>
            <a:ext cx="6521450" cy="5851525"/>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13827150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1328530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microsoft.com/office/2007/relationships/media" Target="../media/media11.mp4"/><Relationship Id="rId2" Type="http://schemas.openxmlformats.org/officeDocument/2006/relationships/video" Target="../media/media11.mp4"/><Relationship Id="rId3" Type="http://schemas.openxmlformats.org/officeDocument/2006/relationships/slideLayout" Target="../slideLayouts/slideLayout1.xml"/><Relationship Id="rId4" Type="http://schemas.openxmlformats.org/officeDocument/2006/relationships/image" Target="../media/image12.png"/><Relationship Id="rId5" Type="http://schemas.openxmlformats.org/officeDocument/2006/relationships/image" Target="../media/image39.png"/><Relationship Id="rId6" Type="http://schemas.openxmlformats.org/officeDocument/2006/relationships/hyperlink" Target="https://sonny0714.github.io/demo_video_robot/xferqoe-rfm-serving.html" TargetMode="External"/></Relationships>
</file>

<file path=ppt/slides/_rels/slide8.xml.rels><?xml version='1.0' encoding='UTF-8' standalone='yes'?>
<Relationships xmlns="http://schemas.openxmlformats.org/package/2006/relationships"><Relationship Id="rId1" Type="http://schemas.microsoft.com/office/2007/relationships/media" Target="../media/media9.mp4"/><Relationship Id="rId2" Type="http://schemas.openxmlformats.org/officeDocument/2006/relationships/video" Target="../media/media9.mp4"/><Relationship Id="rId3" Type="http://schemas.openxmlformats.org/officeDocument/2006/relationships/slideLayout" Target="../slideLayouts/slideLayout1.xml"/><Relationship Id="rId5" Type="http://schemas.openxmlformats.org/officeDocument/2006/relationships/image" Target="../media/image37.png"/><Relationship Id="rId6" Type="http://schemas.openxmlformats.org/officeDocument/2006/relationships/hyperlink" Target="https://sonny0714.github.io/demo_video_robot/xferqoe-monitoring.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jpe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14.png"/><Relationship Id="rId6"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microsoft.com/office/2007/relationships/media" Target="../media/media3.avi"/><Relationship Id="rId2" Type="http://schemas.openxmlformats.org/officeDocument/2006/relationships/video" Target="../media/media3.avi"/><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slideLayout" Target="../slideLayouts/slideLayout1.xml"/><Relationship Id="rId6" Type="http://schemas.openxmlformats.org/officeDocument/2006/relationships/notesSlide" Target="../notesSlides/notesSlide6.xml"/><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jpe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mailto:yslee.gs@gmail.com" TargetMode="External"/><Relationship Id="rId4" Type="http://schemas.openxmlformats.org/officeDocument/2006/relationships/hyperlink" Target="https://proceedings.neurips.cc/paper_files/paper/2024/hash/0ccd800d59e94679246ec79d4b19587e-Abstract-Conference.html" TargetMode="External"/><Relationship Id="rId5" Type="http://schemas.openxmlformats.org/officeDocument/2006/relationships/hyperlink" Target="https://doi.org/10.1109/ACCESS.2021.3125008" TargetMode="External"/><Relationship Id="rId6" Type="http://schemas.openxmlformats.org/officeDocument/2006/relationships/hyperlink" Target="https://doi.org/10.1109/ACCESS.2021.3100283" TargetMode="External"/><Relationship Id="rId7" Type="http://schemas.openxmlformats.org/officeDocument/2006/relationships/hyperlink" Target="https://doi.org/10.1109/ACCESS.2020.2965627" TargetMode="External"/><Relationship Id="rId8" Type="http://schemas.openxmlformats.org/officeDocument/2006/relationships/hyperlink" Target="https://patents.google.com/patent/KR102629731B1/ko" TargetMode="External"/><Relationship Id="rId9" Type="http://schemas.openxmlformats.org/officeDocument/2006/relationships/hyperlink" Target="https://patents.google.com/patent/US12047250B2/en" TargetMode="External"/><Relationship Id="rId10" Type="http://schemas.openxmlformats.org/officeDocument/2006/relationships/hyperlink" Target="https://patents.google.com/patent/KR102574070B1/ko" TargetMode="External"/><Relationship Id="rId11" Type="http://schemas.openxmlformats.org/officeDocument/2006/relationships/hyperlink" Target="https://patents.google.com/patent/US12556492B2/en" TargetMode="External"/><Relationship Id="rId12" Type="http://schemas.openxmlformats.org/officeDocument/2006/relationships/hyperlink" Target="https://patents.google.com/patent/US12210760B2/en" TargetMode="External"/><Relationship Id="rId13" Type="http://schemas.openxmlformats.org/officeDocument/2006/relationships/hyperlink" Target="https://image-ppubs.uspto.gov/dirsearch-public/print/downloadPdf/12650769" TargetMode="External"/><Relationship Id="rId14" Type="http://schemas.openxmlformats.org/officeDocument/2006/relationships/hyperlink" Target="https://patents.google.com/patent/US10742742B2/en" TargetMode="External"/><Relationship Id="rId15" Type="http://schemas.openxmlformats.org/officeDocument/2006/relationships/hyperlink" Target="https://sonny0714.github.io/demo_video_robot/xferqoe-pokecube.html" TargetMode="External"/><Relationship Id="rId17" Type="http://schemas.openxmlformats.org/officeDocument/2006/relationships/hyperlink" Target="https://sonny0714.github.io/demo_video_robot/xferqoe-rfm-serving.html" TargetMode="External"/><Relationship Id="rId18" Type="http://schemas.openxmlformats.org/officeDocument/2006/relationships/hyperlink" Target="https://sonny0714.github.io/demo_video_robot/xferqoe-monitoring.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02320206-11EE-27CD-11F6-B7FDBCD3E3D0}"/>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7721" t="12716" r="11004" b="78550"/>
          <a:stretch/>
        </p:blipFill>
        <p:spPr>
          <a:xfrm>
            <a:off x="200472" y="131475"/>
            <a:ext cx="1319435" cy="303290"/>
          </a:xfrm>
          <a:prstGeom prst="rect">
            <a:avLst/>
          </a:prstGeom>
        </p:spPr>
      </p:pic>
      <p:grpSp>
        <p:nvGrpSpPr>
          <p:cNvPr id="4" name="Group 12">
            <a:extLst>
              <a:ext uri="{FF2B5EF4-FFF2-40B4-BE49-F238E27FC236}">
                <a16:creationId xmlns:a16="http://schemas.microsoft.com/office/drawing/2014/main" id="{B27A76D4-42F2-83C4-FFAD-07D4C47D2607}"/>
              </a:ext>
            </a:extLst>
          </p:cNvPr>
          <p:cNvGrpSpPr/>
          <p:nvPr/>
        </p:nvGrpSpPr>
        <p:grpSpPr>
          <a:xfrm flipH="1">
            <a:off x="731520" y="1280160"/>
            <a:ext cx="1255874" cy="445771"/>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Label"/>
          <p:cNvSpPr txBox="1"/>
          <p:nvPr/>
        </p:nvSpPr>
        <p:spPr>
          <a:xfrm>
            <a:off x="2103120" y="1325880"/>
            <a:ext cx="5486400" cy="365760"/>
          </a:xfrm>
          <a:prstGeom prst="rect">
            <a:avLst/>
          </a:prstGeom>
          <a:noFill/>
        </p:spPr>
        <p:txBody>
          <a:bodyPr wrap="square" lIns="0" tIns="0" rIns="0" bIns="0" rtlCol="0">
            <a:spAutoFit/>
          </a:bodyPr>
          <a:lstStyle/>
          <a:p>
            <a:pPr algn="l"/>
            <a:r>
              <a:rPr lang="en-US" altLang="ko-KR" sz="1300" b="1" dirty="0">
                <a:solidFill>
                  <a:srgbClr val="4BACC6"/>
                </a:solidFill>
                <a:latin typeface="Arial" panose="020B0604020202020204" pitchFamily="34" charset="0"/>
                <a:ea typeface="Arial" panose="020B0604020202020204" pitchFamily="34" charset="0"/>
                <a:cs typeface="Arial" panose="020B0604020202020204" pitchFamily="34" charset="0"/>
              </a:rPr>
              <a:t>RESEARCH PORTFOLIO</a:t>
            </a:r>
            <a:endParaRPr lang="en-US" altLang="ko-KR" sz="1300" dirty="0">
              <a:solidFill>
                <a:srgbClr val="4BACC6"/>
              </a:solidFill>
              <a:latin typeface="Arial" panose="020B0604020202020204" pitchFamily="34" charset="0"/>
              <a:ea typeface="Arial" panose="020B0604020202020204" pitchFamily="34" charset="0"/>
              <a:cs typeface="Arial" panose="020B0604020202020204" pitchFamily="34" charset="0"/>
            </a:endParaRPr>
          </a:p>
        </p:txBody>
      </p:sp>
      <p:sp>
        <p:nvSpPr>
          <p:cNvPr id="22" name="Title"/>
          <p:cNvSpPr txBox="1"/>
          <p:nvPr/>
        </p:nvSpPr>
        <p:spPr>
          <a:xfrm>
            <a:off x="731520" y="1874519"/>
            <a:ext cx="8595360" cy="1463040"/>
          </a:xfrm>
          <a:prstGeom prst="rect">
            <a:avLst/>
          </a:prstGeom>
          <a:noFill/>
        </p:spPr>
        <p:txBody>
          <a:bodyPr wrap="square" lIns="0" tIns="0" rIns="0" bIns="0" rtlCol="0">
            <a:spAutoFit/>
          </a:bodyPr>
          <a:lstStyle/>
          <a:p>
            <a:pPr algn="l">
              <a:lnSpc>
                <a:spcPct val="105000"/>
              </a:lnSpc>
            </a:pPr>
            <a:r>
              <a:rPr lang="en-US" altLang="ko-KR" sz="3200" b="1" dirty="0">
                <a:solidFill>
                  <a:srgbClr val="1F497D"/>
                </a:solidFill>
                <a:latin typeface="Arial" panose="020B0604020202020204" pitchFamily="34" charset="0"/>
                <a:ea typeface="Arial" panose="020B0604020202020204" pitchFamily="34" charset="0"/>
                <a:cs typeface="Arial" panose="020B0604020202020204" pitchFamily="34" charset="0"/>
              </a:rPr>
              <a:t>QoE-Driven Control of Models</a:t>
            </a:r>
            <a:endParaRPr lang="en-US" altLang="ko-KR" sz="3200" dirty="0">
              <a:solidFill>
                <a:srgbClr val="1F497D"/>
              </a:solidFill>
              <a:latin typeface="Arial" panose="020B0604020202020204" pitchFamily="34" charset="0"/>
              <a:ea typeface="Arial" panose="020B0604020202020204" pitchFamily="34" charset="0"/>
              <a:cs typeface="Arial" panose="020B0604020202020204" pitchFamily="34" charset="0"/>
            </a:endParaRPr>
          </a:p>
          <a:p>
            <a:pPr algn="l">
              <a:lnSpc>
                <a:spcPct val="105000"/>
              </a:lnSpc>
            </a:pPr>
            <a:r>
              <a:rPr lang="en-US" altLang="ko-KR" sz="3200" b="1" dirty="0">
                <a:solidFill>
                  <a:srgbClr val="1F497D"/>
                </a:solidFill>
                <a:latin typeface="Arial" panose="020B0604020202020204" pitchFamily="34" charset="0"/>
                <a:ea typeface="Arial" panose="020B0604020202020204" pitchFamily="34" charset="0"/>
                <a:cs typeface="Arial" panose="020B0604020202020204" pitchFamily="34" charset="0"/>
              </a:rPr>
              <a:t>and Algorithms under Environment Shift</a:t>
            </a:r>
            <a:endParaRPr lang="en-US" altLang="ko-KR" sz="3200" dirty="0">
              <a:solidFill>
                <a:srgbClr val="1F497D"/>
              </a:solidFill>
              <a:latin typeface="Arial" panose="020B0604020202020204" pitchFamily="34" charset="0"/>
              <a:ea typeface="Arial" panose="020B0604020202020204" pitchFamily="34" charset="0"/>
              <a:cs typeface="Arial" panose="020B0604020202020204" pitchFamily="34" charset="0"/>
            </a:endParaRPr>
          </a:p>
        </p:txBody>
      </p:sp>
      <p:sp>
        <p:nvSpPr>
          <p:cNvPr id="23" name="Subtitle"/>
          <p:cNvSpPr txBox="1"/>
          <p:nvPr/>
        </p:nvSpPr>
        <p:spPr>
          <a:xfrm>
            <a:off x="731520" y="3035808"/>
            <a:ext cx="8595360" cy="457200"/>
          </a:xfrm>
          <a:prstGeom prst="rect">
            <a:avLst/>
          </a:prstGeom>
          <a:noFill/>
        </p:spPr>
        <p:txBody>
          <a:bodyPr wrap="square" lIns="0" tIns="0" rIns="0" bIns="0" rtlCol="0">
            <a:spAutoFit/>
          </a:bodyPr>
          <a:lstStyle/>
          <a:p>
            <a:pPr algn="l"/>
            <a:r>
              <a:rPr lang="en-US" altLang="ko-KR" sz="1500" dirty="0">
                <a:solidFill>
                  <a:srgbClr val="404040"/>
                </a:solidFill>
                <a:latin typeface="Arial" panose="020B0604020202020204" pitchFamily="34" charset="0"/>
                <a:ea typeface="Arial" panose="020B0604020202020204" pitchFamily="34" charset="0"/>
                <a:cs typeface="Arial" panose="020B0604020202020204" pitchFamily="34" charset="0"/>
              </a:rPr>
              <a:t>Two control targets for QoE (quality of experience): model input (transmission rate, frame quality) and model adaptation; under drift an operating agent selects the tool or scheduler</a:t>
            </a:r>
          </a:p>
        </p:txBody>
      </p:sp>
      <p:sp>
        <p:nvSpPr>
          <p:cNvPr id="24" name="AxesCard"/>
          <p:cNvSpPr/>
          <p:nvPr/>
        </p:nvSpPr>
        <p:spPr>
          <a:xfrm>
            <a:off x="731520" y="3611880"/>
            <a:ext cx="7863840" cy="1234440"/>
          </a:xfrm>
          <a:prstGeom prst="roundRect">
            <a:avLst>
              <a:gd name="adj" fmla="val 12000"/>
            </a:avLst>
          </a:prstGeom>
          <a:solidFill>
            <a:srgbClr val="EEF1F6"/>
          </a:solidFill>
          <a:ln>
            <a:noFill/>
          </a:ln>
        </p:spPr>
        <p:txBody>
          <a:bodyPr rtlCol="0" anchor="ctr"/>
          <a:lstStyle/>
          <a:p>
            <a:pPr algn="ctr"/>
            <a:endParaRPr lang="ko-KR" altLang="en-US" sz="1400"/>
          </a:p>
        </p:txBody>
      </p:sp>
      <p:sp>
        <p:nvSpPr>
          <p:cNvPr id="25" name="Axes"/>
          <p:cNvSpPr txBox="1"/>
          <p:nvPr/>
        </p:nvSpPr>
        <p:spPr>
          <a:xfrm>
            <a:off x="960120" y="3703320"/>
            <a:ext cx="7498079" cy="1097280"/>
          </a:xfrm>
          <a:prstGeom prst="rect">
            <a:avLst/>
          </a:prstGeom>
          <a:noFill/>
        </p:spPr>
        <p:txBody>
          <a:bodyPr wrap="square" lIns="0" tIns="0" rIns="0" bIns="0" rtlCol="0" anchor="ctr"/>
          <a:lstStyle/>
          <a:p>
            <a:pPr algn="l">
              <a:lnSpc>
                <a:spcPct val="110000"/>
              </a:lnSpc>
              <a:spcAft>
                <a:spcPts val="400"/>
              </a:spcAft>
            </a:pPr>
            <a:r>
              <a:rPr lang="en-US" altLang="ko-KR" sz="1400" b="1" dirty="0">
                <a:latin typeface="Arial" panose="020B0604020202020204" pitchFamily="34" charset="0"/>
                <a:ea typeface="Arial" panose="020B0604020202020204" pitchFamily="34" charset="0"/>
                <a:cs typeface="Arial" panose="020B0604020202020204" pitchFamily="34" charset="0"/>
              </a:rPr>
              <a:t>① Reinforcement Learning</a:t>
            </a:r>
            <a:r>
              <a:rPr lang="en-US" altLang="ko-KR" sz="1400" dirty="0">
                <a:latin typeface="Arial" panose="020B0604020202020204" pitchFamily="34" charset="0"/>
                <a:ea typeface="Arial" panose="020B0604020202020204" pitchFamily="34" charset="0"/>
                <a:cs typeface="Arial" panose="020B0604020202020204" pitchFamily="34" charset="0"/>
              </a:rPr>
              <a:t> — Resource Management &amp; Remote Model Serving</a:t>
            </a:r>
          </a:p>
          <a:p>
            <a:pPr algn="l">
              <a:lnSpc>
                <a:spcPct val="110000"/>
              </a:lnSpc>
              <a:spcAft>
                <a:spcPts val="400"/>
              </a:spcAft>
            </a:pPr>
            <a:r>
              <a:rPr lang="en-US" altLang="ko-KR" sz="1400" b="1" dirty="0">
                <a:latin typeface="Arial" panose="020B0604020202020204" pitchFamily="34" charset="0"/>
                <a:ea typeface="Arial" panose="020B0604020202020204" pitchFamily="34" charset="0"/>
                <a:cs typeface="Arial" panose="020B0604020202020204" pitchFamily="34" charset="0"/>
              </a:rPr>
              <a:t>② Agentic AI</a:t>
            </a:r>
            <a:r>
              <a:rPr lang="en-US" altLang="ko-KR" sz="1400" dirty="0">
                <a:latin typeface="Arial" panose="020B0604020202020204" pitchFamily="34" charset="0"/>
                <a:ea typeface="Arial" panose="020B0604020202020204" pitchFamily="34" charset="0"/>
                <a:cs typeface="Arial" panose="020B0604020202020204" pitchFamily="34" charset="0"/>
              </a:rPr>
              <a:t> — LLM Agents for System Operation (Robotics &amp; V2G)</a:t>
            </a:r>
          </a:p>
          <a:p>
            <a:pPr algn="l">
              <a:lnSpc>
                <a:spcPct val="110000"/>
              </a:lnSpc>
            </a:pPr>
            <a:r>
              <a:rPr lang="en-US" altLang="ko-KR" sz="1400" b="1" dirty="0">
                <a:latin typeface="Arial" panose="020B0604020202020204" pitchFamily="34" charset="0"/>
                <a:ea typeface="Arial" panose="020B0604020202020204" pitchFamily="34" charset="0"/>
                <a:cs typeface="Arial" panose="020B0604020202020204" pitchFamily="34" charset="0"/>
              </a:rPr>
              <a:t>③ Systems Engineering</a:t>
            </a:r>
            <a:r>
              <a:rPr lang="en-US" altLang="ko-KR" sz="1400" dirty="0">
                <a:latin typeface="Arial" panose="020B0604020202020204" pitchFamily="34" charset="0"/>
                <a:ea typeface="Arial" panose="020B0604020202020204" pitchFamily="34" charset="0"/>
                <a:cs typeface="Arial" panose="020B0604020202020204" pitchFamily="34" charset="0"/>
              </a:rPr>
              <a:t> — Simulators, Testbeds, Protocols &amp; Deployment</a:t>
            </a:r>
          </a:p>
        </p:txBody>
      </p:sp>
      <p:sp>
        <p:nvSpPr>
          <p:cNvPr id="26" name="Name"/>
          <p:cNvSpPr txBox="1"/>
          <p:nvPr/>
        </p:nvSpPr>
        <p:spPr>
          <a:xfrm>
            <a:off x="731520" y="5257800"/>
            <a:ext cx="8595360" cy="1280160"/>
          </a:xfrm>
          <a:prstGeom prst="rect">
            <a:avLst/>
          </a:prstGeom>
          <a:noFill/>
        </p:spPr>
        <p:txBody>
          <a:bodyPr wrap="square" lIns="0" tIns="0" rIns="0" bIns="0" rtlCol="0">
            <a:spAutoFit/>
          </a:bodyPr>
          <a:lstStyle/>
          <a:p>
            <a:pPr algn="l">
              <a:spcAft>
                <a:spcPts val="400"/>
              </a:spcAft>
            </a:pPr>
            <a:r>
              <a:rPr lang="en-US" altLang="ko-KR" sz="1800" b="1" dirty="0">
                <a:latin typeface="Arial" panose="020B0604020202020204" pitchFamily="34" charset="0"/>
                <a:ea typeface="Arial" panose="020B0604020202020204" pitchFamily="34" charset="0"/>
                <a:cs typeface="Arial" panose="020B0604020202020204" pitchFamily="34" charset="0"/>
              </a:rPr>
              <a:t>Youngseok Lee</a:t>
            </a:r>
            <a:endParaRPr lang="en-US" altLang="ko-KR" sz="1800" dirty="0">
              <a:latin typeface="Arial" panose="020B0604020202020204" pitchFamily="34" charset="0"/>
              <a:ea typeface="Arial" panose="020B0604020202020204" pitchFamily="34" charset="0"/>
              <a:cs typeface="Arial" panose="020B0604020202020204" pitchFamily="34" charset="0"/>
            </a:endParaRP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Ph.D. Candidate, Dept. of Electrical &amp; Computer Engineering, Sungkyunkwan University</a:t>
            </a: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Advisor: Prof. Honguk Woo (CSI-Agent Group) · Expected graduation Feb. 2027</a:t>
            </a: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yslee.gs@gmail.com · +82-10-7368-6845 · Google Scholar: scholar.google.com/citations?user=GhwtxtgAAAAJ</a:t>
            </a:r>
          </a:p>
        </p:txBody>
      </p:sp>
    </p:spTree>
    <p:extLst>
      <p:ext uri="{BB962C8B-B14F-4D97-AF65-F5344CB8AC3E}">
        <p14:creationId xmlns:p14="http://schemas.microsoft.com/office/powerpoint/2010/main" val="461734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0EB24-510B-00B5-09E0-0CB1D5113C89}"/>
            </a:ext>
          </a:extLst>
        </p:cNvPr>
        <p:cNvGrpSpPr/>
        <p:nvPr/>
      </p:nvGrpSpPr>
      <p:grpSpPr>
        <a:xfrm>
          <a:off x="0" y="0"/>
          <a:ext cx="0" cy="0"/>
          <a:chOff x="0" y="0"/>
          <a:chExt cx="0" cy="0"/>
        </a:xfrm>
      </p:grpSpPr>
      <p:sp>
        <p:nvSpPr>
          <p:cNvPr id="39" name="TextBox 38">
            <a:extLst>
              <a:ext uri="{FF2B5EF4-FFF2-40B4-BE49-F238E27FC236}">
                <a16:creationId xmlns:a16="http://schemas.microsoft.com/office/drawing/2014/main" id="{185C7BA9-9CDD-6FA4-B173-77F84587A4A3}"/>
              </a:ext>
            </a:extLst>
          </p:cNvPr>
          <p:cNvSpPr txBox="1"/>
          <p:nvPr/>
        </p:nvSpPr>
        <p:spPr>
          <a:xfrm>
            <a:off x="173455" y="379336"/>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Youngseok Lee — Ph.D. Candidate, Sungkyunkwan Univ.</a:t>
            </a:r>
            <a:endParaRPr lang="en-US" altLang="ko-KR" dirty="0">
              <a:latin typeface="Arial" pitchFamily="34" charset="0"/>
              <a:ea typeface="Arial Unicode MS" pitchFamily="50" charset="-127"/>
              <a:cs typeface="Arial" pitchFamily="34" charset="0"/>
            </a:endParaRPr>
          </a:p>
        </p:txBody>
      </p:sp>
      <p:sp>
        <p:nvSpPr>
          <p:cNvPr id="12" name="TextBox 11">
            <a:extLst>
              <a:ext uri="{FF2B5EF4-FFF2-40B4-BE49-F238E27FC236}">
                <a16:creationId xmlns:a16="http://schemas.microsoft.com/office/drawing/2014/main" id="{AB5934C9-4EC8-9BFB-4E3B-C51573549FE1}"/>
              </a:ext>
            </a:extLst>
          </p:cNvPr>
          <p:cNvSpPr txBox="1"/>
          <p:nvPr/>
        </p:nvSpPr>
        <p:spPr>
          <a:xfrm>
            <a:off x="173455" y="791998"/>
            <a:ext cx="9603782" cy="198424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Education</a:t>
            </a:r>
            <a:r>
              <a:rPr lang="en-US" altLang="ko-KR" sz="1100" dirty="0">
                <a:latin typeface="Arial" panose="020B0604020202020204" pitchFamily="34" charset="0"/>
                <a:ea typeface="Arial" panose="020B0604020202020204" pitchFamily="34" charset="0"/>
                <a:cs typeface="Arial" panose="020B0604020202020204" pitchFamily="34" charset="0"/>
              </a:rPr>
              <a:t> — Integrated M.S.–Ph.D., Electrical &amp; Computer Engineering, Sungkyunkwan University (Mar. 2013 – Feb. 2027, expected) · Advisor: Prof. Honguk Woo (CSI-Agent Group) · Dissertation: Reinforcement Learning for Quality-Driven Network Control</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Global Ph.D. Fellowship, 5-year term (2013–2018, Ministry of Education / NRF Korea) · Expert Research Personnel service (Mar. 2017 – Mar. 2020) · 2018: moved to Prof. Honguk Woo's group and defined the dissertation topic · 35 earlier publications (2012–2018, two other groups: Prof. Ikjun Yeom's and Prof. Seokho Yoon's)</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dirty="0" u="sng">
                <a:latin typeface="Arial" panose="020B0604020202020204" pitchFamily="34" charset="0"/>
                <a:ea typeface="Arial" panose="020B0604020202020204" pitchFamily="34" charset="0"/>
                <a:cs typeface="Arial" panose="020B0604020202020204" pitchFamily="34" charset="0"/>
              </a:rPr>
              <a:t>5 systems delivered</a:t>
            </a:r>
            <a:r>
              <a:rPr lang="en-US" altLang="ko-KR" sz="1100" dirty="0">
                <a:latin typeface="Arial" panose="020B0604020202020204" pitchFamily="34" charset="0"/>
                <a:ea typeface="Arial" panose="020B0604020202020204" pitchFamily="34" charset="0"/>
                <a:cs typeface="Arial" panose="020B0604020202020204" pitchFamily="34" charset="0"/>
              </a:rPr>
              <a:t> to Samsung Electronics ×2, Polaris AI, Acryl, and ADD (Agency for Defense Development), each as technical leader · since 2018: NeurIPS 2024 (second author), 3 SCIE journal papers (first author 2 / second author 1), IEEE IoT Journal (first author, under review) · </a:t>
            </a:r>
            <a:r>
              <a:rPr lang="en-US" altLang="ko-KR" sz="1100" dirty="0" u="sng">
                <a:latin typeface="Arial" panose="020B0604020202020204" pitchFamily="34" charset="0"/>
                <a:ea typeface="Arial" panose="020B0604020202020204" pitchFamily="34" charset="0"/>
                <a:cs typeface="Arial" panose="020B0604020202020204" pitchFamily="34" charset="0"/>
              </a:rPr>
              <a:t>8 granted patents (US 5 / KR 3; six inventions, first inventor on two inventions, KR and US each)</a:t>
            </a:r>
            <a:r>
              <a:rPr lang="en-US" altLang="ko-KR" sz="1100" dirty="0">
                <a:latin typeface="Arial" panose="020B0604020202020204" pitchFamily="34" charset="0"/>
                <a:ea typeface="Arial" panose="020B0604020202020204" pitchFamily="34" charset="0"/>
                <a:cs typeface="Arial" panose="020B0604020202020204" pitchFamily="34" charset="0"/>
              </a:rPr>
              <a:t> · 20 funded projects (principal investigator 1 · technical leader 10 · researcher 9)</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(full cover) in a Role line marks an item whose every listed role the applicant carried</a:t>
            </a:r>
          </a:p>
        </p:txBody>
      </p:sp>
      <p:cxnSp>
        <p:nvCxnSpPr>
          <p:cNvPr id="4" name="직선 연결선 3">
            <a:extLst>
              <a:ext uri="{FF2B5EF4-FFF2-40B4-BE49-F238E27FC236}">
                <a16:creationId xmlns:a16="http://schemas.microsoft.com/office/drawing/2014/main" id="{DEAF566A-FC0D-3E49-62D0-0EC2CAAD00EE}"/>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7A76D4-42F2-83C4-FFAD-07D4C47D2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26FBC824-4158-2D7D-50EF-33F54FF50A7B}"/>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2</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40D4A926-2AF0-6AFA-4623-810F84CA9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anose="020B0604020202020204" pitchFamily="34" charset="0"/>
                <a:ea typeface="Arial" panose="020B0604020202020204" pitchFamily="34" charset="0"/>
                <a:cs typeface="Arial" panose="020B0604020202020204" pitchFamily="34" charset="0"/>
              </a:rPr>
              <a:t>Introduction</a:t>
            </a:r>
            <a:endParaRPr lang="en-US" altLang="ko-KR" sz="1400" dirty="0">
              <a:latin typeface="Arial" pitchFamily="34" charset="0"/>
              <a:ea typeface="Arial Unicode MS" pitchFamily="50" charset="-127"/>
              <a:cs typeface="Arial" pitchFamily="34" charset="0"/>
            </a:endParaRPr>
          </a:p>
        </p:txBody>
      </p:sp>
      <p:graphicFrame>
        <p:nvGraphicFramePr>
          <p:cNvPr id="3" name="표 2">
            <a:extLst>
              <a:ext uri="{FF2B5EF4-FFF2-40B4-BE49-F238E27FC236}">
                <a16:creationId xmlns:a16="http://schemas.microsoft.com/office/drawing/2014/main" id="{8CE62F0F-BA9F-BDDC-E621-C1EC291F55A0}"/>
              </a:ext>
            </a:extLst>
          </p:cNvPr>
          <p:cNvGraphicFramePr>
            <a:graphicFrameLocks noGrp="1"/>
          </p:cNvGraphicFramePr>
          <p:nvPr>
            <p:extLst>
              <p:ext uri="{D42A27DB-BD31-4B8C-83A1-F6EECF244321}">
                <p14:modId xmlns:p14="http://schemas.microsoft.com/office/powerpoint/2010/main" val="355942640"/>
              </p:ext>
            </p:extLst>
          </p:nvPr>
        </p:nvGraphicFramePr>
        <p:xfrm>
          <a:off x="151109" y="2907792"/>
          <a:ext cx="9621979" cy="3858768"/>
        </p:xfrm>
        <a:graphic>
          <a:graphicData uri="http://schemas.openxmlformats.org/drawingml/2006/table">
            <a:tbl>
              <a:tblPr firstRow="1" firstCol="1" bandRow="1"/>
              <a:tblGrid>
                <a:gridCol w="2137595">
                  <a:extLst>
                    <a:ext uri="{9D8B030D-6E8A-4147-A177-3AD203B41FA5}">
                      <a16:colId xmlns:a16="http://schemas.microsoft.com/office/drawing/2014/main" val="3255583868"/>
                    </a:ext>
                  </a:extLst>
                </a:gridCol>
                <a:gridCol w="4824536">
                  <a:extLst>
                    <a:ext uri="{9D8B030D-6E8A-4147-A177-3AD203B41FA5}">
                      <a16:colId xmlns:a16="http://schemas.microsoft.com/office/drawing/2014/main" val="4141129299"/>
                    </a:ext>
                  </a:extLst>
                </a:gridCol>
                <a:gridCol w="2659848">
                  <a:extLst>
                    <a:ext uri="{9D8B030D-6E8A-4147-A177-3AD203B41FA5}">
                      <a16:colId xmlns:a16="http://schemas.microsoft.com/office/drawing/2014/main" val="1825718788"/>
                    </a:ext>
                  </a:extLst>
                </a:gridCol>
              </a:tblGrid>
              <a:tr h="237620">
                <a:tc>
                  <a:txBody>
                    <a:bodyPr/>
                    <a:lstStyle/>
                    <a:p>
                      <a:pPr algn="just">
                        <a:spcBef>
                          <a:spcPts val="120"/>
                        </a:spcBef>
                        <a:spcAft>
                          <a:spcPts val="120"/>
                        </a:spcAft>
                        <a:buNone/>
                      </a:pPr>
                      <a:r>
                        <a:rPr lang="en-US" sz="1100" b="1">
                          <a:solidFill>
                            <a:srgbClr val="1F3864"/>
                          </a:solidFill>
                          <a:effectLst/>
                          <a:latin typeface="Arial" panose="020B0604020202020204" pitchFamily="34" charset="0"/>
                          <a:ea typeface="맑은 고딕" panose="020B0503020000020004" pitchFamily="50" charset="-127"/>
                          <a:cs typeface="Arial" panose="020B0604020202020204" pitchFamily="34" charset="0"/>
                        </a:rPr>
                        <a:t>Research area</a:t>
                      </a:r>
                      <a:endParaRPr lang="ko-KR" sz="110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tc>
                  <a:txBody>
                    <a:bodyPr/>
                    <a:lstStyle/>
                    <a:p>
                      <a:pPr algn="just">
                        <a:spcBef>
                          <a:spcPts val="120"/>
                        </a:spcBef>
                        <a:spcAft>
                          <a:spcPts val="120"/>
                        </a:spcAft>
                        <a:buNone/>
                      </a:pPr>
                      <a:r>
                        <a:rPr lang="en-US" sz="1100" b="1">
                          <a:solidFill>
                            <a:srgbClr val="1F3864"/>
                          </a:solidFill>
                          <a:effectLst/>
                          <a:latin typeface="Arial" panose="020B0604020202020204" pitchFamily="34" charset="0"/>
                          <a:ea typeface="맑은 고딕" panose="020B0503020000020004" pitchFamily="50" charset="-127"/>
                          <a:cs typeface="Arial" panose="020B0604020202020204" pitchFamily="34" charset="0"/>
                        </a:rPr>
                        <a:t>Representative work</a:t>
                      </a:r>
                      <a:endParaRPr lang="ko-KR" sz="110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tc>
                  <a:txBody>
                    <a:bodyPr/>
                    <a:lstStyle/>
                    <a:p>
                      <a:pPr algn="just">
                        <a:spcBef>
                          <a:spcPts val="120"/>
                        </a:spcBef>
                        <a:spcAft>
                          <a:spcPts val="120"/>
                        </a:spcAft>
                        <a:buNone/>
                      </a:pPr>
                      <a:r>
                        <a:rPr lang="en-US" sz="1100" b="1" dirty="0">
                          <a:solidFill>
                            <a:srgbClr val="1F3864"/>
                          </a:solidFill>
                          <a:effectLst/>
                          <a:latin typeface="Arial" panose="020B0604020202020204" pitchFamily="34" charset="0"/>
                          <a:ea typeface="맑은 고딕" panose="020B0503020000020004" pitchFamily="50" charset="-127"/>
                          <a:cs typeface="Arial" panose="020B0604020202020204" pitchFamily="34" charset="0"/>
                        </a:rPr>
                        <a:t>Outcomes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extLst>
                  <a:ext uri="{0D108BD9-81ED-4DB2-BD59-A6C34878D82A}">
                    <a16:rowId xmlns:a16="http://schemas.microsoft.com/office/drawing/2014/main" val="4083457156"/>
                  </a:ext>
                </a:extLst>
              </a:tr>
              <a:tr h="1168834">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①	</a:t>
                      </a:r>
                      <a:r>
                        <a:rPr lang="en-US" sz="1100" b="1" dirty="0">
                          <a:effectLst/>
                          <a:latin typeface="Arial" panose="020B0604020202020204" pitchFamily="34" charset="0"/>
                          <a:ea typeface="맑은 고딕" panose="020B0503020000020004" pitchFamily="50" charset="-127"/>
                          <a:cs typeface="Arial" panose="020B0604020202020204" pitchFamily="34" charset="0"/>
                        </a:rPr>
                        <a:t>Reinforcement Learning</a:t>
                      </a:r>
                      <a:r>
                        <a:rPr lang="en-US" sz="1100" dirty="0">
                          <a:effectLst/>
                          <a:latin typeface="Arial" panose="020B0604020202020204" pitchFamily="34" charset="0"/>
                          <a:ea typeface="맑은 고딕" panose="020B0503020000020004" pitchFamily="50" charset="-127"/>
                          <a:cs typeface="Arial" panose="020B0604020202020204" pitchFamily="34" charset="0"/>
                        </a:rPr>
                        <a:t> —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Resource Management &amp;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Remote Model Serving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XferQoE</a:t>
                      </a:r>
                      <a:r>
                        <a:rPr lang="en-US" sz="1100" dirty="0">
                          <a:effectLst/>
                          <a:latin typeface="Arial" panose="020B0604020202020204" pitchFamily="34" charset="0"/>
                          <a:ea typeface="맑은 고딕" panose="020B0503020000020004" pitchFamily="50" charset="-127"/>
                          <a:cs typeface="Arial" panose="020B0604020202020204" pitchFamily="34" charset="0"/>
                        </a:rPr>
                        <a:t> — A QoS-pretrained controller of a model's input data rate,</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adapted per application by objective-weight fitting from QoE feedback</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XferQoE with robot foundation models (π0.5, SmolVLA; NS-3 Wi-Fi, page 7)</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Physical-AI PoC — Code-as-Policies demo · robot foundation model (RFM) fine-tuning on a real arm (SO-101)</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Repot — Bandwidth allocation transferred across network environments by flow embedding and action shaping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IEEE IoT Journal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(first author, under review)</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IEEE Access 2021 (first author)</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1 first-inventor patent family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(KR 2023 · US 2026)</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751216"/>
                  </a:ext>
                </a:extLst>
              </a:tr>
              <a:tr h="616528">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②	</a:t>
                      </a:r>
                      <a:r>
                        <a:rPr lang="en-US" sz="1100" b="1" dirty="0">
                          <a:effectLst/>
                          <a:latin typeface="Arial" panose="020B0604020202020204" pitchFamily="34" charset="0"/>
                          <a:ea typeface="맑은 고딕" panose="020B0503020000020004" pitchFamily="50" charset="-127"/>
                          <a:cs typeface="Arial" panose="020B0604020202020204" pitchFamily="34" charset="0"/>
                        </a:rPr>
                        <a:t>Agentic AI</a:t>
                      </a:r>
                      <a:r>
                        <a:rPr lang="en-US" sz="1100" dirty="0">
                          <a:effectLst/>
                          <a:latin typeface="Arial" panose="020B0604020202020204" pitchFamily="34" charset="0"/>
                          <a:ea typeface="맑은 고딕" panose="020B0503020000020004" pitchFamily="50" charset="-127"/>
                          <a:cs typeface="Arial" panose="020B0604020202020204" pitchFamily="34" charset="0"/>
                        </a:rPr>
                        <a:t> — LLM Agents</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for System Operation</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(Robotics &amp; V2G)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LDuS</a:t>
                      </a:r>
                      <a:r>
                        <a:rPr lang="en-US" sz="1100" dirty="0">
                          <a:effectLst/>
                          <a:latin typeface="Arial" panose="020B0604020202020204" pitchFamily="34" charset="0"/>
                          <a:ea typeface="맑은 고딕" panose="020B0503020000020004" pitchFamily="50" charset="-127"/>
                          <a:cs typeface="Arial" panose="020B0604020202020204" pitchFamily="34" charset="0"/>
                        </a:rPr>
                        <a:t> — LLM-guided skill diffusion for zero-shot policy adaptation</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AgentV2G — An LLM agent that detects price and vehicle-use drift and selects the matching tool (price-forecast correction, condition-specific RL schedulers) for V2G (vehicle-to-grid) fleet bidding and dispatch; SAC EV dispatch policy</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NeurIPS</a:t>
                      </a:r>
                      <a:r>
                        <a:rPr lang="en-US" sz="1100" dirty="0">
                          <a:effectLst/>
                          <a:latin typeface="Arial" panose="020B0604020202020204" pitchFamily="34" charset="0"/>
                          <a:ea typeface="맑은 고딕" panose="020B0503020000020004" pitchFamily="50" charset="-127"/>
                          <a:cs typeface="Arial" panose="020B0604020202020204" pitchFamily="34" charset="0"/>
                        </a:rPr>
                        <a:t> 2024 (second author)</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172950608"/>
                  </a:ext>
                </a:extLst>
              </a:tr>
              <a:tr h="1444263">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③	</a:t>
                      </a:r>
                      <a:r>
                        <a:rPr lang="en-US" sz="1100" b="1" dirty="0">
                          <a:effectLst/>
                          <a:latin typeface="Arial" panose="020B0604020202020204" pitchFamily="34" charset="0"/>
                          <a:ea typeface="맑은 고딕" panose="020B0503020000020004" pitchFamily="50" charset="-127"/>
                          <a:cs typeface="Arial" panose="020B0604020202020204" pitchFamily="34" charset="0"/>
                        </a:rPr>
                        <a:t>Systems Engineering</a:t>
                      </a:r>
                      <a:r>
                        <a:rPr lang="en-US" sz="1100" dirty="0">
                          <a:effectLst/>
                          <a:latin typeface="Arial" panose="020B0604020202020204" pitchFamily="34" charset="0"/>
                          <a:ea typeface="맑은 고딕" panose="020B0503020000020004" pitchFamily="50" charset="-127"/>
                          <a:cs typeface="Arial" panose="020B0604020202020204" pitchFamily="34" charset="0"/>
                        </a:rPr>
                        <a:t> —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Simulators, Testbeds,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Protocols &amp; Deployment</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S-Sim packet simulator → NS-3, 16-node Raspberry Pi Wi-Fi testbed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Code-as-Policies demo pipeline · SO-101 real-arm fine-tuning setup</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V2G fleet-operation environment (market rules · SMP · EV sessions)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FL with knowledge distillation → edge-NPU YOLOv8n inference pipeline</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NVMe-oF storage simulator with a DNN surrogate of IOPS and latency</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LTE band-selection service · QLED wireless streaming testbed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IoT protocol specification; fixed-size identifier packets (patent)</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Systems delivered ×5</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(Samsung ×2, Polaris AI, Acryl, ADD)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3 US patents with Samsung (storage ×2 · IoT resource identification)</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90875656"/>
                  </a:ext>
                </a:extLst>
              </a:tr>
            </a:tbl>
          </a:graphicData>
        </a:graphic>
      </p:graphicFrame>
    </p:spTree>
    <p:extLst>
      <p:ext uri="{BB962C8B-B14F-4D97-AF65-F5344CB8AC3E}">
        <p14:creationId xmlns:p14="http://schemas.microsoft.com/office/powerpoint/2010/main" val="1201318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9ED5A-8FD6-7786-C93A-A29B1F975D5B}"/>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D344033F-86AF-2EE5-B64C-F635AE74E4CA}"/>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B3430BB-6FBE-2FE7-AED0-4A0BAAA032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62231B37-DC24-4315-186C-405E49698665}"/>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AC65597E-FE8A-6749-1609-108B99A2476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2B420A9-6FA4-5AE1-E54C-438D3D15AAAD}"/>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705C7160-390C-83A3-6001-53B1FB2106B8}"/>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A3DC6673-E704-AD20-949F-BA0E3266757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5</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7B16E8DF-BB36-07CA-4952-A34A6494A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Research</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Coverage</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3E895C00-597A-AAA4-DE90-49CB2C1DC7BD}"/>
              </a:ext>
            </a:extLst>
          </p:cNvPr>
          <p:cNvSpPr txBox="1"/>
          <p:nvPr/>
        </p:nvSpPr>
        <p:spPr>
          <a:xfrm>
            <a:off x="4342412" y="6100969"/>
            <a:ext cx="5340096"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Closed-loop QoE-driven adaptive rate control (XferQoE)</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1" name="그림 10">
            <a:extLst>
              <a:ext uri="{FF2B5EF4-FFF2-40B4-BE49-F238E27FC236}">
                <a16:creationId xmlns:a16="http://schemas.microsoft.com/office/drawing/2014/main" id="{869DD70A-F98F-DCB1-E056-CA208BCEF984}"/>
              </a:ext>
            </a:extLst>
          </p:cNvPr>
          <p:cNvPicPr>
            <a:picLocks noChangeAspect="1"/>
          </p:cNvPicPr>
          <p:nvPr/>
        </p:nvPicPr>
        <p:blipFill>
          <a:blip r:embed="rId3"/>
          <a:stretch>
            <a:fillRect/>
          </a:stretch>
        </p:blipFill>
        <p:spPr>
          <a:xfrm>
            <a:off x="4343400" y="4387840"/>
            <a:ext cx="5338186" cy="1598297"/>
          </a:xfrm>
          <a:prstGeom prst="rect">
            <a:avLst/>
          </a:prstGeom>
        </p:spPr>
      </p:pic>
      <p:sp>
        <p:nvSpPr>
          <p:cNvPr id="9" name="TextBox 8">
            <a:extLst>
              <a:ext uri="{FF2B5EF4-FFF2-40B4-BE49-F238E27FC236}">
                <a16:creationId xmlns:a16="http://schemas.microsoft.com/office/drawing/2014/main" id="{35D4346C-8C79-BEA3-6182-98AC2D3A952D}"/>
              </a:ext>
            </a:extLst>
          </p:cNvPr>
          <p:cNvSpPr txBox="1"/>
          <p:nvPr/>
        </p:nvSpPr>
        <p:spPr>
          <a:xfrm>
            <a:off x="173754" y="530061"/>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QoE-Driven Control of Models and Algorithms under Environment Shift</a:t>
            </a:r>
            <a:endParaRPr lang="en-US" altLang="ko-KR" dirty="0">
              <a:latin typeface="Arial" pitchFamily="34" charset="0"/>
              <a:ea typeface="Arial Unicode MS" pitchFamily="50" charset="-127"/>
              <a:cs typeface="Arial" pitchFamily="34" charset="0"/>
            </a:endParaRPr>
          </a:p>
        </p:txBody>
      </p:sp>
      <p:sp>
        <p:nvSpPr>
          <p:cNvPr id="13" name="TextBox 12">
            <a:extLst>
              <a:ext uri="{FF2B5EF4-FFF2-40B4-BE49-F238E27FC236}">
                <a16:creationId xmlns:a16="http://schemas.microsoft.com/office/drawing/2014/main" id="{6DCA7219-8CE4-279C-0139-2BF7709CAC56}"/>
              </a:ext>
            </a:extLst>
          </p:cNvPr>
          <p:cNvSpPr txBox="1"/>
          <p:nvPr/>
        </p:nvSpPr>
        <p:spPr>
          <a:xfrm>
            <a:off x="173754" y="1078920"/>
            <a:ext cx="9603782" cy="317176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learned controller matches a hand-crafted one under the conditions it was trained for. Yet </a:t>
            </a:r>
            <a:r>
              <a:rPr lang="en-US" altLang="ko-KR" sz="1100" u="sng" dirty="0">
                <a:latin typeface="Arial" panose="020B0604020202020204" pitchFamily="34" charset="0"/>
                <a:ea typeface="Arial" panose="020B0604020202020204" pitchFamily="34" charset="0"/>
                <a:cs typeface="Arial" panose="020B0604020202020204" pitchFamily="34" charset="0"/>
              </a:rPr>
              <a:t>when those conditions shift even slightly after deployment, it loses far more QoE (quality of experience)</a:t>
            </a:r>
            <a:r>
              <a:rPr lang="en-US" altLang="ko-KR" sz="1100" dirty="0">
                <a:latin typeface="Arial" panose="020B0604020202020204" pitchFamily="34" charset="0"/>
                <a:ea typeface="Arial" panose="020B0604020202020204" pitchFamily="34" charset="0"/>
                <a:cs typeface="Arial" panose="020B0604020202020204" pitchFamily="34" charset="0"/>
              </a:rPr>
              <a:t>, while the hand-crafted one degrades gracefully (left figure)</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Such shifts occur in the application's QoE definition or in the network condition, electricity price, or vehicle-use pattern. For each condition, the hand-crafted controller needs manual re-tuning. The learned one needs data collection and retraining</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Goal</a:t>
            </a:r>
            <a:r>
              <a:rPr lang="en-US" altLang="ko-KR" sz="1100" dirty="0">
                <a:latin typeface="Arial" panose="020B0604020202020204" pitchFamily="34" charset="0"/>
                <a:ea typeface="Arial" panose="020B0604020202020204" pitchFamily="34" charset="0"/>
                <a:cs typeface="Arial" panose="020B0604020202020204" pitchFamily="34" charset="0"/>
              </a:rPr>
              <a:t> — Maximize the QoE of models such as robot foundation models (RFMs) and of algorithms such as fleet schedulers under environment shift. Two control targets serve this goal: model input (transmission rate, frame quality) and model adaptation. Under drift, an operating agent also selects the tool or scheduler. Learned controllers should combine hand-crafted robustness with learned performance and </a:t>
            </a:r>
            <a:r>
              <a:rPr lang="en-US" altLang="ko-KR" sz="1100" u="sng" dirty="0">
                <a:latin typeface="Arial" panose="020B0604020202020204" pitchFamily="34" charset="0"/>
                <a:ea typeface="Arial" panose="020B0604020202020204" pitchFamily="34" charset="0"/>
                <a:cs typeface="Arial" panose="020B0604020202020204" pitchFamily="34" charset="0"/>
              </a:rPr>
              <a:t>adapt from a small amount of data without retraining the deployed policy</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①	</a:t>
            </a:r>
            <a:r>
              <a:rPr lang="en-US" altLang="ko-KR" sz="1100" b="1" dirty="0">
                <a:latin typeface="Arial" panose="020B0604020202020204" pitchFamily="34" charset="0"/>
                <a:ea typeface="Arial" panose="020B0604020202020204" pitchFamily="34" charset="0"/>
                <a:cs typeface="Arial" panose="020B0604020202020204" pitchFamily="34" charset="0"/>
              </a:rPr>
              <a:t>Reinforcement Learning</a:t>
            </a:r>
            <a:r>
              <a:rPr lang="en-US" altLang="ko-KR" sz="1100" dirty="0">
                <a:latin typeface="Arial" panose="020B0604020202020204" pitchFamily="34" charset="0"/>
                <a:ea typeface="Arial" panose="020B0604020202020204" pitchFamily="34" charset="0"/>
                <a:cs typeface="Arial" panose="020B0604020202020204" pitchFamily="34" charset="0"/>
              </a:rPr>
              <a:t> — A meta-RL rate controller of a model's input and a bandwidth-allocation policy for devices sharing one link, both transferring to new objectives and environments with little or no retraining, and an RL dispatch policy for an electric-vehicle fleet that is independent of the fleet size</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②	</a:t>
            </a:r>
            <a:r>
              <a:rPr lang="en-US" altLang="ko-KR" sz="1100" b="1" dirty="0">
                <a:latin typeface="Arial" panose="020B0604020202020204" pitchFamily="34" charset="0"/>
                <a:ea typeface="Arial" panose="020B0604020202020204" pitchFamily="34" charset="0"/>
                <a:cs typeface="Arial" panose="020B0604020202020204" pitchFamily="34" charset="0"/>
              </a:rPr>
              <a:t>Agentic AI</a:t>
            </a:r>
            <a:r>
              <a:rPr lang="en-US" altLang="ko-KR" sz="1100" dirty="0">
                <a:latin typeface="Arial" panose="020B0604020202020204" pitchFamily="34" charset="0"/>
                <a:ea typeface="Arial" panose="020B0604020202020204" pitchFamily="34" charset="0"/>
                <a:cs typeface="Arial" panose="020B0604020202020204" pitchFamily="34" charset="0"/>
              </a:rPr>
              <a:t> — An LLM agent that detects drift in a system's operation and selects or creates the tool or scheduler for the new condition. An LLM also writes loss-function code from a user's requirement to steer a pretrained robot policy without retraining</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③	</a:t>
            </a:r>
            <a:r>
              <a:rPr lang="en-US" altLang="ko-KR" sz="1100" b="1" dirty="0">
                <a:latin typeface="Arial" panose="020B0604020202020204" pitchFamily="34" charset="0"/>
                <a:ea typeface="Arial" panose="020B0604020202020204" pitchFamily="34" charset="0"/>
                <a:cs typeface="Arial" panose="020B0604020202020204" pitchFamily="34" charset="0"/>
              </a:rPr>
              <a:t>Systems Engineering</a:t>
            </a:r>
            <a:r>
              <a:rPr lang="en-US" altLang="ko-KR" sz="1100" dirty="0">
                <a:latin typeface="Arial" panose="020B0604020202020204" pitchFamily="34" charset="0"/>
                <a:ea typeface="Arial" panose="020B0604020202020204" pitchFamily="34" charset="0"/>
                <a:cs typeface="Arial" panose="020B0604020202020204" pitchFamily="34" charset="0"/>
              </a:rPr>
              <a:t> — Purpose-built simulators, surrogate models, and testbeds on which the two approaches are implemented and validated. Five systems built with the same engineering were delivered to four organizations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Representative system</a:t>
            </a:r>
            <a:r>
              <a:rPr lang="en-US" altLang="ko-KR" sz="1100" dirty="0">
                <a:latin typeface="Arial" panose="020B0604020202020204" pitchFamily="34" charset="0"/>
                <a:ea typeface="Arial" panose="020B0604020202020204" pitchFamily="34" charset="0"/>
                <a:cs typeface="Arial" panose="020B0604020202020204" pitchFamily="34" charset="0"/>
              </a:rPr>
              <a:t> — QoE-driven control loop (right figure): RL-based rate controller → network link → application QoE feedback</a:t>
            </a:r>
          </a:p>
        </p:txBody>
      </p:sp>
      <p:grpSp>
        <p:nvGrpSpPr>
          <p:cNvPr id="15" name="그룹 14">
            <a:extLst>
              <a:ext uri="{FF2B5EF4-FFF2-40B4-BE49-F238E27FC236}">
                <a16:creationId xmlns:a16="http://schemas.microsoft.com/office/drawing/2014/main" id="{5C492CE9-5DA0-0BAC-732E-962AEDA3455D}"/>
              </a:ext>
            </a:extLst>
          </p:cNvPr>
          <p:cNvGrpSpPr/>
          <p:nvPr/>
        </p:nvGrpSpPr>
        <p:grpSpPr>
          <a:xfrm>
            <a:off x="799551" y="4387840"/>
            <a:ext cx="2589855" cy="2036826"/>
            <a:chOff x="562793" y="3910513"/>
            <a:chExt cx="3096343" cy="2568791"/>
          </a:xfrm>
        </p:grpSpPr>
        <p:pic>
          <p:nvPicPr>
            <p:cNvPr id="3" name="Picture 4">
              <a:extLst>
                <a:ext uri="{FF2B5EF4-FFF2-40B4-BE49-F238E27FC236}">
                  <a16:creationId xmlns:a16="http://schemas.microsoft.com/office/drawing/2014/main" id="{3A6B67E8-0AFD-77B8-F234-5BB09EC354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793" y="3910513"/>
              <a:ext cx="3022055" cy="23533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a:extLst>
                <a:ext uri="{FF2B5EF4-FFF2-40B4-BE49-F238E27FC236}">
                  <a16:creationId xmlns:a16="http://schemas.microsoft.com/office/drawing/2014/main" id="{2C6AFB8F-C75D-6777-9F31-F61AD9201371}"/>
                </a:ext>
              </a:extLst>
            </p:cNvPr>
            <p:cNvSpPr txBox="1"/>
            <p:nvPr/>
          </p:nvSpPr>
          <p:spPr>
            <a:xfrm>
              <a:off x="2326739" y="6048417"/>
              <a:ext cx="1332397" cy="430887"/>
            </a:xfrm>
            <a:prstGeom prst="rect">
              <a:avLst/>
            </a:prstGeom>
            <a:solidFill>
              <a:schemeClr val="bg1"/>
            </a:solidFill>
          </p:spPr>
          <p:txBody>
            <a:bodyPr wrap="square" lIns="0" tIns="0" rIns="0" bIns="0"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Learning-based controller</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4" name="TextBox 13">
              <a:extLst>
                <a:ext uri="{FF2B5EF4-FFF2-40B4-BE49-F238E27FC236}">
                  <a16:creationId xmlns:a16="http://schemas.microsoft.com/office/drawing/2014/main" id="{7D716562-C1DF-AAEF-C60C-87DF63835EA9}"/>
                </a:ext>
              </a:extLst>
            </p:cNvPr>
            <p:cNvSpPr txBox="1"/>
            <p:nvPr/>
          </p:nvSpPr>
          <p:spPr>
            <a:xfrm>
              <a:off x="1012758" y="6048417"/>
              <a:ext cx="1194553" cy="419222"/>
            </a:xfrm>
            <a:prstGeom prst="rect">
              <a:avLst/>
            </a:prstGeom>
            <a:solidFill>
              <a:schemeClr val="bg1"/>
            </a:solidFill>
          </p:spPr>
          <p:txBody>
            <a:bodyPr wrap="square" lIns="0" tIns="0" rIns="0" bIns="0"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Hand-crafted controller</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grpSp>
      <p:sp>
        <p:nvSpPr>
          <p:cNvPr id="23" name="TextBox 22">
            <a:extLst>
              <a:ext uri="{FF2B5EF4-FFF2-40B4-BE49-F238E27FC236}">
                <a16:creationId xmlns:a16="http://schemas.microsoft.com/office/drawing/2014/main" id="{74DB80FC-C920-8765-B81F-CD343BDDBA8E}"/>
              </a:ext>
            </a:extLst>
          </p:cNvPr>
          <p:cNvSpPr txBox="1"/>
          <p:nvPr/>
        </p:nvSpPr>
        <p:spPr>
          <a:xfrm>
            <a:off x="733871" y="6424666"/>
            <a:ext cx="2973389"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Motivating measurement </a:t>
            </a:r>
            <a:r>
              <a:rPr lang="en-US" altLang="ko-KR" sz="1100" b="1" dirty="0">
                <a:latin typeface="Arial" panose="020B0604020202020204" pitchFamily="34" charset="0"/>
                <a:ea typeface="Arial" panose="020B0604020202020204" pitchFamily="34" charset="0"/>
                <a:cs typeface="Arial" panose="020B0604020202020204" pitchFamily="34" charset="0"/>
              </a:rPr>
              <a:t>(Repot)</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Tree>
    <p:extLst>
      <p:ext uri="{BB962C8B-B14F-4D97-AF65-F5344CB8AC3E}">
        <p14:creationId xmlns:p14="http://schemas.microsoft.com/office/powerpoint/2010/main" val="71081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6</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Remote Model Serving</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560269"/>
            <a:ext cx="9733346" cy="384721"/>
          </a:xfrm>
          <a:prstGeom prst="rect">
            <a:avLst/>
          </a:prstGeom>
          <a:noFill/>
        </p:spPr>
        <p:txBody>
          <a:bodyPr wrap="square" rtlCol="0">
            <a:spAutoFit/>
          </a:bodyPr>
          <a:lstStyle/>
          <a:p>
            <a:r>
              <a:rPr lang="en-US" altLang="ko-KR" sz="1900" b="1" dirty="0">
                <a:solidFill>
                  <a:srgbClr val="0070C0"/>
                </a:solidFill>
                <a:latin typeface="Arial" panose="020B0604020202020204" pitchFamily="34" charset="0"/>
                <a:ea typeface="Arial" panose="020B0604020202020204" pitchFamily="34" charset="0"/>
                <a:cs typeface="Arial" panose="020B0604020202020204" pitchFamily="34" charset="0"/>
              </a:rPr>
              <a:t>[Meta-RL, Transformer]</a:t>
            </a:r>
            <a:r>
              <a:rPr lang="en-US" altLang="ko-KR" sz="1900" b="1" dirty="0">
                <a:latin typeface="Arial" panose="020B0604020202020204" pitchFamily="34" charset="0"/>
                <a:ea typeface="Arial" panose="020B0604020202020204" pitchFamily="34" charset="0"/>
                <a:cs typeface="Arial" panose="020B0604020202020204" pitchFamily="34" charset="0"/>
              </a:rPr>
              <a:t> </a:t>
            </a:r>
            <a:r>
              <a:rPr lang="en-US" altLang="ko-KR" sz="1900" b="1" dirty="0" err="1">
                <a:latin typeface="Arial" panose="020B0604020202020204" pitchFamily="34" charset="0"/>
                <a:ea typeface="Arial" panose="020B0604020202020204" pitchFamily="34" charset="0"/>
                <a:cs typeface="Arial" panose="020B0604020202020204" pitchFamily="34" charset="0"/>
              </a:rPr>
              <a:t>XferQoE</a:t>
            </a:r>
            <a:r>
              <a:rPr lang="en-US" altLang="ko-KR" sz="1900" b="1" dirty="0">
                <a:latin typeface="Arial" panose="020B0604020202020204" pitchFamily="34" charset="0"/>
                <a:ea typeface="Arial" panose="020B0604020202020204" pitchFamily="34" charset="0"/>
                <a:cs typeface="Arial" panose="020B0604020202020204" pitchFamily="34" charset="0"/>
              </a:rPr>
              <a:t> — QoS-Pretrained Rate Control for Model Serving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87090" y="997980"/>
            <a:ext cx="9603782" cy="2704426"/>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IEEE IoT Journal (first author, under review)</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(full cover) problem definition, algorithm design, implementation, experiments, testbed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Remote model serving. A robot or a camera streams observation frames over a wireless link to a server-side model, which receives only the frames the link can carry</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controller trained per application repeats both the objective design and the full-stack QoE (quality of experience) collection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pretrained rate controller sets the sending rate of the served model's input, and with it the quality</a:t>
            </a:r>
            <a:r>
              <a:rPr lang="en-US" altLang="ko-KR" sz="1100" dirty="0">
                <a:latin typeface="Arial" panose="020B0604020202020204" pitchFamily="34" charset="0"/>
                <a:ea typeface="Arial" panose="020B0604020202020204" pitchFamily="34" charset="0"/>
                <a:cs typeface="Arial" panose="020B0604020202020204" pitchFamily="34" charset="0"/>
              </a:rPr>
              <a:t>. The model itself stays untouched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Algorithm</a:t>
            </a:r>
            <a:r>
              <a:rPr lang="en-US" altLang="ko-KR" sz="1100" dirty="0">
                <a:latin typeface="Arial" panose="020B0604020202020204" pitchFamily="34" charset="0"/>
                <a:ea typeface="Arial" panose="020B0604020202020204" pitchFamily="34" charset="0"/>
                <a:cs typeface="Arial" panose="020B0604020202020204" pitchFamily="34" charset="0"/>
              </a:rPr>
              <a:t> — Meta-RL (meta-reinforcement learning). Stage 1: the controller is meta-pretrained on QoS (quality of service) objectives alone in S-Sim (Simplified Simulator). Each episode samples the two meta-training axes, a bandwidth condition and an objective weight w, so the policy learns to infer the condition from recent history. Stage 2: the policy is frozen. Only w is fitted from a few adaptation episodes of QoE feedback on each application, with no gradient update (figure)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SAC (soft actor-critic) with one module per axis. A regime–context encoder (a bidirectional Transformer and a per-patch 1-D CNN) infers the condition as two latents. Factor critics (one Q-head per QoS factor) compose the value linearly under w. The actor reads the state, both latents, and w</a:t>
            </a:r>
          </a:p>
        </p:txBody>
      </p:sp>
      <p:pic>
        <p:nvPicPr>
          <p:cNvPr id="22" name="Picture 21" descr="image.png"/>
          <p:cNvPicPr>
            <a:picLocks noChangeAspect="1"/>
          </p:cNvPicPr>
          <p:nvPr/>
        </p:nvPicPr>
        <p:blipFill>
          <a:blip r:embed="rId2"/>
          <a:stretch>
            <a:fillRect/>
          </a:stretch>
        </p:blipFill>
        <p:spPr>
          <a:xfrm>
            <a:off x="2564892" y="3839566"/>
            <a:ext cx="4818888" cy="2770565"/>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3417209" y="6610131"/>
            <a:ext cx="3114254"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QoS pretraining → QoE adaptation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7</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Remote Model Serving</a:t>
            </a:r>
          </a:p>
        </p:txBody>
      </p:sp>
      <p:sp>
        <p:nvSpPr>
          <p:cNvPr id="5" name="TextBox 4">
            <a:extLst>
              <a:ext uri="{FF2B5EF4-FFF2-40B4-BE49-F238E27FC236}">
                <a16:creationId xmlns:a16="http://schemas.microsoft.com/office/drawing/2014/main" id="{4A60E6F1-D7C2-2868-3B84-5D7A0D899C08}"/>
              </a:ext>
            </a:extLst>
          </p:cNvPr>
          <p:cNvSpPr txBox="1"/>
          <p:nvPr/>
        </p:nvSpPr>
        <p:spPr>
          <a:xfrm>
            <a:off x="-9520" y="467380"/>
            <a:ext cx="991552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[Sim2Real, RFM]</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XferQoE</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a:latin typeface="Arial" panose="020B0604020202020204" pitchFamily="34" charset="0"/>
                <a:ea typeface="Arial" panose="020B0604020202020204" pitchFamily="34" charset="0"/>
                <a:cs typeface="Arial" panose="020B0604020202020204" pitchFamily="34" charset="0"/>
              </a:rPr>
              <a:t>— Real-Link Testbed and Off-Board RFM Serving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1865274"/>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The edge server runs the manipulation policy and the rate controller, and only observations cross the real wireless link. The robot runs in simulation (ManiSkill3, Meta-World), so the Sim2Real target is the network side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three network environments of increasing fidelity share one state-input, rate-output interface and replay the same bandwidth trace, packet-level C++ S-Sim (Simplified Simulator) → full-stack NS-3, the NiL (network-in-the-loop) testbed. </a:t>
            </a:r>
            <a:r>
              <a:rPr lang="en-US" altLang="ko-KR" sz="1100" u="sng" dirty="0">
                <a:latin typeface="Arial" panose="020B0604020202020204" pitchFamily="34" charset="0"/>
                <a:ea typeface="Arial" panose="020B0604020202020204" pitchFamily="34" charset="0"/>
                <a:cs typeface="Arial" panose="020B0604020202020204" pitchFamily="34" charset="0"/>
              </a:rPr>
              <a:t>The same frozen rate controller runs on all three with its parameters unchanged</a:t>
            </a:r>
            <a:r>
              <a:rPr lang="en-US" altLang="ko-KR" sz="1100" dirty="0">
                <a:latin typeface="Arial" panose="020B0604020202020204" pitchFamily="34" charset="0"/>
                <a:ea typeface="Arial" panose="020B0604020202020204" pitchFamily="34" charset="0"/>
                <a:cs typeface="Arial" panose="020B0604020202020204" pitchFamily="34" charset="0"/>
              </a:rPr>
              <a:t>. On NS-3 Wi-Fi, the policy can also be a robot foundation model (RFM), a vision-language-action (VLA) model that computes each action chunk from the newest frame arriving within its deadline. The same controller then sets the RFM's input rate and refits only its objective weights per task (lower-right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The NiL testbed</a:t>
            </a:r>
            <a:r>
              <a:rPr lang="en-US" altLang="ko-KR" sz="1100" dirty="0">
                <a:latin typeface="Arial" panose="020B0604020202020204" pitchFamily="34" charset="0"/>
                <a:ea typeface="Arial" panose="020B0604020202020204" pitchFamily="34" charset="0"/>
                <a:cs typeface="Arial" panose="020B0604020202020204" pitchFamily="34" charset="0"/>
              </a:rPr>
              <a:t>: one Raspberry Pi 4 sender for robot control (up to 16 for monitoring) on a real 802.11ac link via an access point to the edge server. C/C++ daemons implement episode-level clock synchronization and frame-deadline expiry accounting (upper-right figure)</a:t>
            </a:r>
          </a:p>
        </p:txBody>
      </p:sp>
      <p:pic>
        <p:nvPicPr>
          <p:cNvPr id="22" name="Picture 21" descr="image.png"/>
          <p:cNvPicPr>
            <a:picLocks noChangeAspect="1"/>
          </p:cNvPicPr>
          <p:nvPr/>
        </p:nvPicPr>
        <p:blipFill>
          <a:blip r:embed="rId4"/>
          <a:stretch>
            <a:fillRect/>
          </a:stretch>
        </p:blipFill>
        <p:spPr>
          <a:xfrm>
            <a:off x="4901184" y="2867193"/>
            <a:ext cx="4572000" cy="923544"/>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4901184" y="3830737"/>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NiL testbed: Raspberry Pi 4 senders, Wi-Fi AP, edge server</a:t>
            </a:r>
          </a:p>
        </p:txBody>
      </p:sp>
      <p:sp>
        <p:nvSpPr>
          <p:cNvPr id="226" name="TextBox 225">
            <a:extLst>
              <a:ext uri="{FF2B5EF4-FFF2-40B4-BE49-F238E27FC236}">
                <a16:creationId xmlns:a16="http://schemas.microsoft.com/office/drawing/2014/main" id="{51E0BBB3-652C-47D3-942E-B6861D277CD9}"/>
              </a:ext>
            </a:extLst>
          </p:cNvPr>
          <p:cNvSpPr txBox="1"/>
          <p:nvPr/>
        </p:nvSpPr>
        <p:spPr>
          <a:xfrm>
            <a:off x="4901184" y="5760446"/>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Off-board RFM serving with rate control at the server</a:t>
            </a:r>
          </a:p>
        </p:txBody>
      </p:sp>
      <p:sp>
        <p:nvSpPr>
          <p:cNvPr id="207" name="TextBox 37">
            <a:extLst>
              <a:ext uri="{FF2B5EF4-FFF2-40B4-BE49-F238E27FC236}">
                <a16:creationId xmlns:a16="http://schemas.microsoft.com/office/drawing/2014/main" id="{11906725-6016-9804-F9D6-E352B4CAE8CD}"/>
              </a:ext>
            </a:extLst>
          </p:cNvPr>
          <p:cNvSpPr txBox="1"/>
          <p:nvPr/>
        </p:nvSpPr>
        <p:spPr>
          <a:xfrm>
            <a:off x="182880" y="5065177"/>
            <a:ext cx="384048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Remote RFM serving: control loop and two RFM tasks</a:t>
            </a:r>
          </a:p>
        </p:txBody>
      </p:sp>
      <p:pic>
        <p:nvPicPr>
          <p:cNvPr id="41" name="rfm_serving.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82880" y="2867193"/>
            <a:ext cx="3840480" cy="2157984"/>
          </a:xfrm>
          <a:prstGeom prst="rect">
            <a:avLst/>
          </a:prstGeom>
        </p:spPr>
      </p:pic>
      <p:sp>
        <p:nvSpPr>
          <p:cNvPr id="208" name="VideoLink"/>
          <p:cNvSpPr/>
          <p:nvPr/>
        </p:nvSpPr>
        <p:spPr>
          <a:xfrm>
            <a:off x="575442" y="5254102"/>
            <a:ext cx="3055357"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6"/>
              </a:rPr>
              <a:t>sonny0714.github.io/</a:t>
            </a:r>
            <a:r>
              <a:rPr lang="en-US" altLang="ko-KR" sz="800" dirty="0" err="1">
                <a:ea typeface="맑은 고딕"/>
                <a:hlinkClick r:id="rId6"/>
              </a:rPr>
              <a:t>demo_video_robot</a:t>
            </a:r>
            <a:r>
              <a:rPr lang="en-US" altLang="ko-KR" sz="800" dirty="0">
                <a:ea typeface="맑은 고딕"/>
                <a:hlinkClick r:id="rId6"/>
              </a:rPr>
              <a:t>/xferqoe-rfm-serving.html</a:t>
            </a:r>
            <a:endParaRPr lang="en-US" altLang="ko-KR" sz="800" dirty="0">
              <a:latin typeface="맑은 고딕"/>
              <a:ea typeface="맑은 고딕"/>
              <a:hlinkClick r:id="rId6"/>
            </a:endParaRPr>
          </a:p>
        </p:txBody>
      </p:sp>
      <p:grpSp>
        <p:nvGrpSpPr>
          <p:cNvPr id="227" name="fig_xferqoe_rfm_serving"/>
          <p:cNvGrpSpPr/>
          <p:nvPr/>
        </p:nvGrpSpPr>
        <p:grpSpPr>
          <a:xfrm>
            <a:off x="4901184" y="4074526"/>
            <a:ext cx="4572000" cy="1645920"/>
            <a:chOff x="4901184" y="4864933"/>
            <a:chExt cx="4572000" cy="1645920"/>
          </a:xfrm>
        </p:grpSpPr>
        <p:sp>
          <p:nvSpPr>
            <p:cNvPr id="228" name="rob"/>
            <p:cNvSpPr/>
            <p:nvPr/>
          </p:nvSpPr>
          <p:spPr>
            <a:xfrm>
              <a:off x="4901184" y="5029525"/>
              <a:ext cx="512064" cy="1316736"/>
            </a:xfrm>
            <a:prstGeom prst="roundRect">
              <a:avLst>
                <a:gd name="adj" fmla="val 7143"/>
              </a:avLst>
            </a:prstGeom>
            <a:solidFill>
              <a:srgbClr val="EEF3FA"/>
            </a:solidFill>
            <a:ln w="6350">
              <a:solidFill>
                <a:srgbClr val="4D4D4D"/>
              </a:solidFill>
              <a:prstDash val="solid"/>
            </a:ln>
          </p:spPr>
          <p:txBody>
            <a:bodyPr wrap="square" lIns="18288" tIns="18288" rIns="18288" bIns="18288" anchor="ctr" rtlCol="0">
              <a:noAutofit/>
            </a:bodyPr>
            <a:lstStyle/>
            <a:p>
              <a:pPr algn="ctr"/>
              <a:r>
                <a:rPr lang="en-US" dirty="0" sz="1000" b="1">
                  <a:solidFill>
                    <a:srgbClr val="000000"/>
                  </a:solidFill>
                  <a:latin typeface="Arial"/>
                  <a:ea typeface="Arial"/>
                  <a:cs typeface="Arial"/>
                </a:rPr>
                <a:t>Robot</a:t>
              </a:r>
              <a:endParaRPr lang="en-US" dirty="0" sz="1000" b="1">
                <a:solidFill>
                  <a:srgbClr val="000000"/>
                </a:solidFill>
                <a:latin typeface="Arial"/>
                <a:ea typeface="Arial"/>
                <a:cs typeface="Arial"/>
              </a:endParaRPr>
            </a:p>
            <a:p>
              <a:pPr algn="ctr"/>
              <a:r>
                <a:rPr lang="en-US" dirty="0" sz="900">
                  <a:solidFill>
                    <a:srgbClr val="000000"/>
                  </a:solidFill>
                  <a:latin typeface="Arial"/>
                  <a:ea typeface="Arial"/>
                  <a:cs typeface="Arial"/>
                </a:rPr>
                <a:t>camera</a:t>
              </a:r>
              <a:endParaRPr lang="en-US" dirty="0" sz="900">
                <a:solidFill>
                  <a:srgbClr val="000000"/>
                </a:solidFill>
                <a:latin typeface="Arial"/>
                <a:ea typeface="Arial"/>
                <a:cs typeface="Arial"/>
              </a:endParaRPr>
            </a:p>
            <a:p>
              <a:pPr algn="ctr"/>
              <a:r>
                <a:rPr lang="en-US" dirty="0" sz="900">
                  <a:solidFill>
                    <a:srgbClr val="000000"/>
                  </a:solidFill>
                  <a:latin typeface="Arial"/>
                  <a:ea typeface="Arial"/>
                  <a:cs typeface="Arial"/>
                </a:rPr>
                <a:t>arm</a:t>
              </a:r>
              <a:endParaRPr lang="en-US" dirty="0" sz="900">
                <a:solidFill>
                  <a:srgbClr val="000000"/>
                </a:solidFill>
                <a:latin typeface="Arial"/>
                <a:ea typeface="Arial"/>
                <a:cs typeface="Arial"/>
              </a:endParaRPr>
            </a:p>
          </p:txBody>
        </p:sp>
        <p:sp>
          <p:nvSpPr>
            <p:cNvPr id="229" name="lnk"/>
            <p:cNvSpPr/>
            <p:nvPr/>
          </p:nvSpPr>
          <p:spPr>
            <a:xfrm>
              <a:off x="6382512" y="5276413"/>
              <a:ext cx="841248" cy="822960"/>
            </a:xfrm>
            <a:prstGeom prst="rect">
              <a:avLst/>
            </a:prstGeom>
            <a:solidFill>
              <a:srgbClr val="F2F2F2"/>
            </a:solidFill>
            <a:ln w="6350">
              <a:solidFill>
                <a:srgbClr val="7F7F7F"/>
              </a:solidFill>
              <a:prstDash val="solid"/>
            </a:ln>
          </p:spPr>
          <p:txBody>
            <a:bodyPr wrap="square" lIns="18288" tIns="18288" rIns="18288" bIns="18288" anchor="ctr" rtlCol="0">
              <a:noAutofit/>
            </a:bodyPr>
            <a:lstStyle/>
            <a:p>
              <a:pPr algn="ctr"/>
              <a:r>
                <a:rPr lang="en-US" dirty="0" sz="900" b="1">
                  <a:solidFill>
                    <a:srgbClr val="000000"/>
                  </a:solidFill>
                  <a:latin typeface="Arial"/>
                  <a:ea typeface="Arial"/>
                  <a:cs typeface="Arial"/>
                </a:rPr>
                <a:t>Wireless link</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shared,</a:t>
              </a:r>
              <a:endParaRPr lang="en-US" dirty="0" sz="900">
                <a:solidFill>
                  <a:srgbClr val="000000"/>
                </a:solidFill>
                <a:latin typeface="Arial"/>
                <a:ea typeface="Arial"/>
                <a:cs typeface="Arial"/>
              </a:endParaRPr>
            </a:p>
            <a:p>
              <a:pPr algn="ctr"/>
              <a:r>
                <a:rPr lang="en-US" dirty="0" sz="900">
                  <a:solidFill>
                    <a:srgbClr val="000000"/>
                  </a:solidFill>
                  <a:latin typeface="Arial"/>
                  <a:ea typeface="Arial"/>
                  <a:cs typeface="Arial"/>
                </a:rPr>
                <a:t>capacity varies</a:t>
              </a:r>
              <a:endParaRPr lang="en-US" dirty="0" sz="900">
                <a:solidFill>
                  <a:srgbClr val="000000"/>
                </a:solidFill>
                <a:latin typeface="Arial"/>
                <a:ea typeface="Arial"/>
                <a:cs typeface="Arial"/>
              </a:endParaRPr>
            </a:p>
          </p:txBody>
        </p:sp>
        <p:sp>
          <p:nvSpPr>
            <p:cNvPr id="230" name="srv"/>
            <p:cNvSpPr/>
            <p:nvPr/>
          </p:nvSpPr>
          <p:spPr>
            <a:xfrm>
              <a:off x="7516368" y="4864933"/>
              <a:ext cx="1956816" cy="1645920"/>
            </a:xfrm>
            <a:prstGeom prst="roundRect">
              <a:avLst>
                <a:gd name="adj" fmla="val 3333"/>
              </a:avLst>
            </a:prstGeom>
            <a:solidFill>
              <a:srgbClr val="F7F9FC"/>
            </a:solidFill>
            <a:ln w="6350">
              <a:solidFill>
                <a:srgbClr val="4D4D4D"/>
              </a:solidFill>
              <a:prstDash val="solid"/>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31" name="app"/>
            <p:cNvSpPr/>
            <p:nvPr/>
          </p:nvSpPr>
          <p:spPr>
            <a:xfrm>
              <a:off x="7589520" y="5066101"/>
              <a:ext cx="1810512" cy="457200"/>
            </a:xfrm>
            <a:prstGeom prst="roundRect">
              <a:avLst>
                <a:gd name="adj" fmla="val 8000"/>
              </a:avLst>
            </a:prstGeom>
            <a:solidFill>
              <a:srgbClr val="D6E8F6"/>
            </a:solidFill>
            <a:ln w="6350">
              <a:solidFill>
                <a:srgbClr val="4D4D4D"/>
              </a:solidFill>
              <a:prstDash val="solid"/>
            </a:ln>
          </p:spPr>
          <p:txBody>
            <a:bodyPr wrap="square" lIns="18288" tIns="18288" rIns="18288" bIns="18288" anchor="ctr" rtlCol="0">
              <a:noAutofit/>
            </a:bodyPr>
            <a:lstStyle/>
            <a:p>
              <a:pPr algn="ctr"/>
              <a:r>
                <a:rPr lang="en-US" dirty="0" sz="900" b="1">
                  <a:solidFill>
                    <a:srgbClr val="000000"/>
                  </a:solidFill>
                  <a:latin typeface="Arial"/>
                  <a:ea typeface="Arial"/>
                  <a:cs typeface="Arial"/>
                </a:rPr>
                <a:t>Application model</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an RFM: π0.5, SmolVLA</a:t>
              </a:r>
              <a:endParaRPr lang="en-US" dirty="0" sz="900">
                <a:solidFill>
                  <a:srgbClr val="000000"/>
                </a:solidFill>
                <a:latin typeface="Arial"/>
                <a:ea typeface="Arial"/>
                <a:cs typeface="Arial"/>
              </a:endParaRPr>
            </a:p>
          </p:txBody>
        </p:sp>
        <p:sp>
          <p:nvSpPr>
            <p:cNvPr id="232" name="ctl"/>
            <p:cNvSpPr/>
            <p:nvPr/>
          </p:nvSpPr>
          <p:spPr>
            <a:xfrm>
              <a:off x="7589520" y="5870773"/>
              <a:ext cx="1810512" cy="457200"/>
            </a:xfrm>
            <a:prstGeom prst="roundRect">
              <a:avLst>
                <a:gd name="adj" fmla="val 8000"/>
              </a:avLst>
            </a:prstGeom>
            <a:solidFill>
              <a:srgbClr val="D3EAD3"/>
            </a:solidFill>
            <a:ln w="6350">
              <a:solidFill>
                <a:srgbClr val="4D4D4D"/>
              </a:solidFill>
              <a:prstDash val="solid"/>
            </a:ln>
          </p:spPr>
          <p:txBody>
            <a:bodyPr wrap="square" lIns="18288" tIns="18288" rIns="18288" bIns="18288" anchor="ctr" rtlCol="0">
              <a:noAutofit/>
            </a:bodyPr>
            <a:lstStyle/>
            <a:p>
              <a:pPr algn="ctr"/>
              <a:r>
                <a:rPr lang="en-US" dirty="0" sz="900" b="1">
                  <a:solidFill>
                    <a:srgbClr val="000000"/>
                  </a:solidFill>
                  <a:latin typeface="Arial"/>
                  <a:ea typeface="Arial"/>
                  <a:cs typeface="Arial"/>
                </a:rPr>
                <a:t>Rate controller</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XferQoE</a:t>
              </a:r>
              <a:endParaRPr lang="en-US" dirty="0" sz="900">
                <a:solidFill>
                  <a:srgbClr val="000000"/>
                </a:solidFill>
                <a:latin typeface="Arial"/>
                <a:ea typeface="Arial"/>
                <a:cs typeface="Arial"/>
              </a:endParaRPr>
            </a:p>
          </p:txBody>
        </p:sp>
        <p:sp>
          <p:nvSpPr>
            <p:cNvPr id="233" name="lbl_srv"/>
            <p:cNvSpPr txBox="1"/>
            <p:nvPr/>
          </p:nvSpPr>
          <p:spPr>
            <a:xfrm>
              <a:off x="7516368" y="4883221"/>
              <a:ext cx="1956816" cy="164592"/>
            </a:xfrm>
            <a:prstGeom prst="rect">
              <a:avLst/>
            </a:prstGeom>
            <a:noFill/>
            <a:ln>
              <a:noFill/>
            </a:ln>
          </p:spPr>
          <p:txBody>
            <a:bodyPr wrap="square" lIns="0" tIns="0" rIns="0" bIns="0" anchor="ctr" rtlCol="0">
              <a:noAutofit/>
            </a:bodyPr>
            <a:lstStyle/>
            <a:p>
              <a:pPr algn="ctr"/>
              <a:r>
                <a:rPr lang="en-US" dirty="0" sz="950" b="1">
                  <a:solidFill>
                    <a:srgbClr val="000000"/>
                  </a:solidFill>
                  <a:latin typeface="Arial"/>
                  <a:ea typeface="Arial"/>
                  <a:cs typeface="Arial"/>
                </a:rPr>
                <a:t>Server (receiver)</a:t>
              </a:r>
              <a:endParaRPr lang="en-US" dirty="0" sz="950" b="1">
                <a:solidFill>
                  <a:srgbClr val="000000"/>
                </a:solidFill>
                <a:latin typeface="Arial"/>
                <a:ea typeface="Arial"/>
                <a:cs typeface="Arial"/>
              </a:endParaRPr>
            </a:p>
          </p:txBody>
        </p:sp>
        <p:sp>
          <p:nvSpPr>
            <p:cNvPr id="234" name="lbl_actions"/>
            <p:cNvSpPr txBox="1"/>
            <p:nvPr/>
          </p:nvSpPr>
          <p:spPr>
            <a:xfrm>
              <a:off x="5449824" y="4974661"/>
              <a:ext cx="914400" cy="146304"/>
            </a:xfrm>
            <a:prstGeom prst="rect">
              <a:avLst/>
            </a:prstGeom>
            <a:noFill/>
            <a:ln>
              <a:noFill/>
            </a:ln>
          </p:spPr>
          <p:txBody>
            <a:bodyPr wrap="square" lIns="0" tIns="0" rIns="0" bIns="0" anchor="b" rtlCol="0">
              <a:noAutofit/>
            </a:bodyPr>
            <a:lstStyle/>
            <a:p>
              <a:pPr algn="l"/>
              <a:r>
                <a:rPr lang="en-US" dirty="0" sz="900">
                  <a:solidFill>
                    <a:srgbClr val="2F8F46"/>
                  </a:solidFill>
                  <a:latin typeface="Arial"/>
                  <a:ea typeface="Arial"/>
                  <a:cs typeface="Arial"/>
                </a:rPr>
                <a:t>action chunks</a:t>
              </a:r>
              <a:endParaRPr lang="en-US" dirty="0" sz="900">
                <a:solidFill>
                  <a:srgbClr val="2F8F46"/>
                </a:solidFill>
                <a:latin typeface="Arial"/>
                <a:ea typeface="Arial"/>
                <a:cs typeface="Arial"/>
              </a:endParaRPr>
            </a:p>
          </p:txBody>
        </p:sp>
        <p:sp>
          <p:nvSpPr>
            <p:cNvPr id="235" name="lbl_frames"/>
            <p:cNvSpPr txBox="1"/>
            <p:nvPr/>
          </p:nvSpPr>
          <p:spPr>
            <a:xfrm>
              <a:off x="5449824" y="5230693"/>
              <a:ext cx="548640" cy="146304"/>
            </a:xfrm>
            <a:prstGeom prst="rect">
              <a:avLst/>
            </a:prstGeom>
            <a:noFill/>
            <a:ln>
              <a:noFill/>
            </a:ln>
          </p:spPr>
          <p:txBody>
            <a:bodyPr wrap="square" lIns="0" tIns="0" rIns="0" bIns="0" anchor="b" rtlCol="0">
              <a:noAutofit/>
            </a:bodyPr>
            <a:lstStyle/>
            <a:p>
              <a:pPr algn="l"/>
              <a:r>
                <a:rPr lang="en-US" dirty="0" sz="900">
                  <a:solidFill>
                    <a:srgbClr val="2B6CB0"/>
                  </a:solidFill>
                  <a:latin typeface="Arial"/>
                  <a:ea typeface="Arial"/>
                  <a:cs typeface="Arial"/>
                </a:rPr>
                <a:t>frames</a:t>
              </a:r>
              <a:endParaRPr lang="en-US" dirty="0" sz="900">
                <a:solidFill>
                  <a:srgbClr val="2B6CB0"/>
                </a:solidFill>
                <a:latin typeface="Arial"/>
                <a:ea typeface="Arial"/>
                <a:cs typeface="Arial"/>
              </a:endParaRPr>
            </a:p>
          </p:txBody>
        </p:sp>
        <p:sp>
          <p:nvSpPr>
            <p:cNvPr id="236" name="lbl_qos"/>
            <p:cNvSpPr txBox="1"/>
            <p:nvPr/>
          </p:nvSpPr>
          <p:spPr>
            <a:xfrm>
              <a:off x="7232904" y="5815909"/>
              <a:ext cx="274320" cy="146304"/>
            </a:xfrm>
            <a:prstGeom prst="rect">
              <a:avLst/>
            </a:prstGeom>
            <a:noFill/>
            <a:ln>
              <a:noFill/>
            </a:ln>
          </p:spPr>
          <p:txBody>
            <a:bodyPr wrap="square" lIns="0" tIns="0" rIns="0" bIns="0" anchor="b" rtlCol="0">
              <a:noAutofit/>
            </a:bodyPr>
            <a:lstStyle/>
            <a:p>
              <a:pPr algn="ctr"/>
              <a:r>
                <a:rPr lang="en-US" dirty="0" sz="900">
                  <a:solidFill>
                    <a:srgbClr val="2B6CB0"/>
                  </a:solidFill>
                  <a:latin typeface="Arial"/>
                  <a:ea typeface="Arial"/>
                  <a:cs typeface="Arial"/>
                </a:rPr>
                <a:t>QoS</a:t>
              </a:r>
              <a:endParaRPr lang="en-US" dirty="0" sz="900">
                <a:solidFill>
                  <a:srgbClr val="2B6CB0"/>
                </a:solidFill>
                <a:latin typeface="Arial"/>
                <a:ea typeface="Arial"/>
                <a:cs typeface="Arial"/>
              </a:endParaRPr>
            </a:p>
          </p:txBody>
        </p:sp>
        <p:sp>
          <p:nvSpPr>
            <p:cNvPr id="237" name="lbl_qoe"/>
            <p:cNvSpPr txBox="1"/>
            <p:nvPr/>
          </p:nvSpPr>
          <p:spPr>
            <a:xfrm>
              <a:off x="8540496" y="5623885"/>
              <a:ext cx="914400" cy="146304"/>
            </a:xfrm>
            <a:prstGeom prst="rect">
              <a:avLst/>
            </a:prstGeom>
            <a:noFill/>
            <a:ln>
              <a:noFill/>
            </a:ln>
          </p:spPr>
          <p:txBody>
            <a:bodyPr wrap="square" lIns="0" tIns="0" rIns="0" bIns="0" anchor="ctr" rtlCol="0">
              <a:noAutofit/>
            </a:bodyPr>
            <a:lstStyle/>
            <a:p>
              <a:pPr algn="l"/>
              <a:r>
                <a:rPr lang="en-US" dirty="0" sz="900">
                  <a:solidFill>
                    <a:srgbClr val="2F8F46"/>
                  </a:solidFill>
                  <a:latin typeface="Arial"/>
                  <a:ea typeface="Arial"/>
                  <a:cs typeface="Arial"/>
                </a:rPr>
                <a:t>QoE as feedback</a:t>
              </a:r>
              <a:endParaRPr lang="en-US" dirty="0" sz="900">
                <a:solidFill>
                  <a:srgbClr val="2F8F46"/>
                </a:solidFill>
                <a:latin typeface="Arial"/>
                <a:ea typeface="Arial"/>
                <a:cs typeface="Arial"/>
              </a:endParaRPr>
            </a:p>
          </p:txBody>
        </p:sp>
        <p:sp>
          <p:nvSpPr>
            <p:cNvPr id="238" name="lbl_cmd"/>
            <p:cNvSpPr txBox="1"/>
            <p:nvPr/>
          </p:nvSpPr>
          <p:spPr>
            <a:xfrm>
              <a:off x="5449824" y="6254821"/>
              <a:ext cx="914400" cy="146304"/>
            </a:xfrm>
            <a:prstGeom prst="rect">
              <a:avLst/>
            </a:prstGeom>
            <a:noFill/>
            <a:ln>
              <a:noFill/>
            </a:ln>
          </p:spPr>
          <p:txBody>
            <a:bodyPr wrap="square" lIns="0" tIns="0" rIns="0" bIns="0" anchor="t" rtlCol="0">
              <a:noAutofit/>
            </a:bodyPr>
            <a:lstStyle/>
            <a:p>
              <a:pPr algn="l"/>
              <a:r>
                <a:rPr lang="en-US" dirty="0" sz="900">
                  <a:solidFill>
                    <a:srgbClr val="4D4D4D"/>
                  </a:solidFill>
                  <a:latin typeface="Arial"/>
                  <a:ea typeface="Arial"/>
                  <a:cs typeface="Arial"/>
                </a:rPr>
                <a:t>bitrate command</a:t>
              </a:r>
              <a:endParaRPr lang="en-US" dirty="0" sz="900">
                <a:solidFill>
                  <a:srgbClr val="4D4D4D"/>
                </a:solidFill>
                <a:latin typeface="Arial"/>
                <a:ea typeface="Arial"/>
                <a:cs typeface="Arial"/>
              </a:endParaRPr>
            </a:p>
          </p:txBody>
        </p:sp>
        <p:cxnSp>
          <p:nvCxnSpPr>
            <p:cNvPr id="239" name="edge app-rob"/>
            <p:cNvCxnSpPr>
              <a:stCxn id="231" idx="1"/>
              <a:endCxn id="228" idx="3"/>
            </p:cNvCxnSpPr>
            <p:nvPr/>
          </p:nvCxnSpPr>
          <p:spPr>
            <a:xfrm flipH="1">
              <a:off x="5413248" y="5139253"/>
              <a:ext cx="2176272" cy="0"/>
            </a:xfrm>
            <a:prstGeom prst="straightConnector1">
              <a:avLst/>
            </a:prstGeom>
            <a:ln w="16510">
              <a:solidFill>
                <a:srgbClr val="2F8F46"/>
              </a:solidFill>
              <a:prstDash val="solid"/>
              <a:tailEnd type="triangle" w="med" len="med"/>
            </a:ln>
          </p:spPr>
        </p:cxnSp>
        <p:cxnSp>
          <p:nvCxnSpPr>
            <p:cNvPr id="240" name="edge rob-lnk"/>
            <p:cNvCxnSpPr>
              <a:stCxn id="228" idx="3"/>
              <a:endCxn id="229" idx="1"/>
            </p:cNvCxnSpPr>
            <p:nvPr/>
          </p:nvCxnSpPr>
          <p:spPr>
            <a:xfrm>
              <a:off x="5413248" y="5395285"/>
              <a:ext cx="969264" cy="0"/>
            </a:xfrm>
            <a:prstGeom prst="straightConnector1">
              <a:avLst/>
            </a:prstGeom>
            <a:ln w="16510">
              <a:solidFill>
                <a:srgbClr val="2B6CB0"/>
              </a:solidFill>
              <a:prstDash val="solid"/>
              <a:tailEnd type="triangle" w="med" len="med"/>
            </a:ln>
          </p:spPr>
        </p:cxnSp>
        <p:cxnSp>
          <p:nvCxnSpPr>
            <p:cNvPr id="241" name="edge lnk-app"/>
            <p:cNvCxnSpPr>
              <a:stCxn id="229" idx="3"/>
              <a:endCxn id="231" idx="1"/>
            </p:cNvCxnSpPr>
            <p:nvPr/>
          </p:nvCxnSpPr>
          <p:spPr>
            <a:xfrm>
              <a:off x="7223760" y="5395285"/>
              <a:ext cx="365760" cy="0"/>
            </a:xfrm>
            <a:prstGeom prst="straightConnector1">
              <a:avLst/>
            </a:prstGeom>
            <a:ln w="16510">
              <a:solidFill>
                <a:srgbClr val="2B6CB0"/>
              </a:solidFill>
              <a:prstDash val="solid"/>
              <a:tailEnd type="triangle" w="med" len="med"/>
            </a:ln>
          </p:spPr>
        </p:cxnSp>
        <p:cxnSp>
          <p:nvCxnSpPr>
            <p:cNvPr id="242" name="edge lnk-ctl"/>
            <p:cNvCxnSpPr>
              <a:stCxn id="229" idx="3"/>
              <a:endCxn id="232" idx="1"/>
            </p:cNvCxnSpPr>
            <p:nvPr/>
          </p:nvCxnSpPr>
          <p:spPr>
            <a:xfrm>
              <a:off x="7223760" y="5980501"/>
              <a:ext cx="365760" cy="0"/>
            </a:xfrm>
            <a:prstGeom prst="straightConnector1">
              <a:avLst/>
            </a:prstGeom>
            <a:ln w="16510">
              <a:solidFill>
                <a:srgbClr val="2B6CB0"/>
              </a:solidFill>
              <a:prstDash val="solid"/>
              <a:tailEnd type="triangle" w="med" len="med"/>
            </a:ln>
          </p:spPr>
        </p:cxnSp>
        <p:cxnSp>
          <p:nvCxnSpPr>
            <p:cNvPr id="243" name="edge app-ctl"/>
            <p:cNvCxnSpPr>
              <a:stCxn id="231" idx="2"/>
              <a:endCxn id="232" idx="0"/>
            </p:cNvCxnSpPr>
            <p:nvPr/>
          </p:nvCxnSpPr>
          <p:spPr>
            <a:xfrm>
              <a:off x="8494776" y="5523301"/>
              <a:ext cx="0" cy="347472"/>
            </a:xfrm>
            <a:prstGeom prst="straightConnector1">
              <a:avLst/>
            </a:prstGeom>
            <a:ln w="16510">
              <a:solidFill>
                <a:srgbClr val="2F8F46"/>
              </a:solidFill>
              <a:prstDash val="dash"/>
              <a:tailEnd type="triangle" w="med" len="med"/>
            </a:ln>
          </p:spPr>
        </p:cxnSp>
        <p:cxnSp>
          <p:nvCxnSpPr>
            <p:cNvPr id="244" name="edge ctl-rob"/>
            <p:cNvCxnSpPr>
              <a:stCxn id="232" idx="1"/>
              <a:endCxn id="228" idx="3"/>
            </p:cNvCxnSpPr>
            <p:nvPr/>
          </p:nvCxnSpPr>
          <p:spPr>
            <a:xfrm flipH="1">
              <a:off x="5413248" y="6236533"/>
              <a:ext cx="2176272" cy="0"/>
            </a:xfrm>
            <a:prstGeom prst="straightConnector1">
              <a:avLst/>
            </a:prstGeom>
            <a:ln w="12700">
              <a:solidFill>
                <a:srgbClr val="4D4D4D"/>
              </a:solidFill>
              <a:prstDash val="dash"/>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17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12</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Remote Model Serving</a:t>
            </a:r>
          </a:p>
        </p:txBody>
      </p:sp>
      <p:sp>
        <p:nvSpPr>
          <p:cNvPr id="5" name="TextBox 4">
            <a:extLst>
              <a:ext uri="{FF2B5EF4-FFF2-40B4-BE49-F238E27FC236}">
                <a16:creationId xmlns:a16="http://schemas.microsoft.com/office/drawing/2014/main" id="{4A60E6F1-D7C2-2868-3B84-5D7A0D899C08}"/>
              </a:ext>
            </a:extLst>
          </p:cNvPr>
          <p:cNvSpPr txBox="1"/>
          <p:nvPr/>
        </p:nvSpPr>
        <p:spPr>
          <a:xfrm>
            <a:off x="-9520" y="467380"/>
            <a:ext cx="9915520" cy="369332"/>
          </a:xfrm>
          <a:prstGeom prst="rect">
            <a:avLst/>
          </a:prstGeom>
          <a:noFill/>
        </p:spPr>
        <p:txBody>
          <a:bodyPr wrap="square" rtlCol="0">
            <a:spAutoFit/>
          </a:bodyPr>
          <a:lstStyle/>
          <a:p>
            <a:r>
              <a:rPr lang="en-US" altLang="ko-KR" b="1" dirty="0" sz="1800">
                <a:solidFill>
                  <a:srgbClr val="0070C0"/>
                </a:solidFill>
                <a:latin typeface="Arial" panose="020B0604020202020204" pitchFamily="34" charset="0"/>
                <a:ea typeface="Arial" panose="020B0604020202020204" pitchFamily="34" charset="0"/>
                <a:cs typeface="Arial" panose="020B0604020202020204" pitchFamily="34" charset="0"/>
              </a:rPr>
              <a:t>[Object Recognition, Real-World Testbed]</a:t>
            </a:r>
            <a:r>
              <a:rPr lang="en-US" altLang="ko-KR" b="1" dirty="0" sz="1800">
                <a:latin typeface="Arial" panose="020B0604020202020204" pitchFamily="34" charset="0"/>
                <a:ea typeface="Arial" panose="020B0604020202020204" pitchFamily="34" charset="0"/>
                <a:cs typeface="Arial" panose="020B0604020202020204" pitchFamily="34" charset="0"/>
              </a:rPr>
              <a:t> </a:t>
            </a:r>
            <a:r>
              <a:rPr lang="en-US" altLang="ko-KR" b="1" dirty="0" sz="1800">
                <a:latin typeface="Arial" panose="020B0604020202020204" pitchFamily="34" charset="0"/>
                <a:ea typeface="Arial" panose="020B0604020202020204" pitchFamily="34" charset="0"/>
                <a:cs typeface="Arial" panose="020B0604020202020204" pitchFamily="34" charset="0"/>
              </a:rPr>
              <a:t>XferQoE</a:t>
            </a:r>
            <a:r>
              <a:rPr lang="en-US" altLang="ko-KR" b="1" dirty="0" sz="1800">
                <a:latin typeface="Arial" panose="020B0604020202020204" pitchFamily="34" charset="0"/>
                <a:ea typeface="Arial" panose="020B0604020202020204" pitchFamily="34" charset="0"/>
                <a:cs typeface="Arial" panose="020B0604020202020204" pitchFamily="34" charset="0"/>
              </a:rPr>
              <a:t> — Networked Monitoring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1496405"/>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Networked monitoring. Many cameras share one wireless link to a server whose recognition model reads their frames. A late frame shows a past scene, and a heavily compressed frame loses small objects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a:t>
            </a:r>
            <a:r>
              <a:rPr lang="en-US" altLang="ko-KR" sz="1100" u="sng" dirty="0">
                <a:latin typeface="Arial" panose="020B0604020202020204" pitchFamily="34" charset="0"/>
                <a:ea typeface="Arial" panose="020B0604020202020204" pitchFamily="34" charset="0"/>
                <a:cs typeface="Arial" panose="020B0604020202020204" pitchFamily="34" charset="0"/>
              </a:rPr>
              <a:t>the same frozen rate controller sets the cameras' sending rates</a:t>
            </a:r>
            <a:r>
              <a:rPr lang="en-US" altLang="ko-KR" sz="1100" dirty="0">
                <a:latin typeface="Arial" panose="020B0604020202020204" pitchFamily="34" charset="0"/>
                <a:ea typeface="Arial" panose="020B0604020202020204" pitchFamily="34" charset="0"/>
                <a:cs typeface="Arial" panose="020B0604020202020204" pitchFamily="34" charset="0"/>
              </a:rPr>
              <a:t>. Only its objective weights are refitted to the recognition QoE (quality of experience). Repot (page 11) targets this kind of system through policy fine-tuning instead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Sixteen Raspberry Pi 4 senders on the real-world testbed of page 7 act as sixteen cameras. They stream pedestrian-scene frames over one 802.11ac link to the edge server, which runs a recognition model (YOLO11) and scores every interval by detection F1 against the current ground truth. The same scoring runs on NS-3 Wi-Fi. S-Sim (Simplified Simulator) uses a recall model fitted to the recognition model</a:t>
            </a:r>
          </a:p>
        </p:txBody>
      </p:sp>
      <p:sp>
        <p:nvSpPr>
          <p:cNvPr id="207" name="TextBox 37">
            <a:extLst>
              <a:ext uri="{FF2B5EF4-FFF2-40B4-BE49-F238E27FC236}">
                <a16:creationId xmlns:a16="http://schemas.microsoft.com/office/drawing/2014/main" id="{11906725-6016-9804-F9D6-E352B4CAE8CD}"/>
              </a:ext>
            </a:extLst>
          </p:cNvPr>
          <p:cNvSpPr txBox="1"/>
          <p:nvPr/>
        </p:nvSpPr>
        <p:spPr>
          <a:xfrm>
            <a:off x="2231136" y="5624658"/>
            <a:ext cx="54864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Networked monitoring: control loop, then one trace run (145–185 s)</a:t>
            </a:r>
          </a:p>
        </p:txBody>
      </p:sp>
      <p:pic>
        <p:nvPicPr>
          <p:cNvPr id="41" name="events_720p_crf26.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2231136" y="2498324"/>
            <a:ext cx="5486400" cy="3086100"/>
          </a:xfrm>
          <a:prstGeom prst="rect">
            <a:avLst/>
          </a:prstGeom>
        </p:spPr>
      </p:pic>
      <p:sp>
        <p:nvSpPr>
          <p:cNvPr id="210" name="VideoLink"/>
          <p:cNvSpPr/>
          <p:nvPr/>
        </p:nvSpPr>
        <p:spPr>
          <a:xfrm>
            <a:off x="3446657" y="5813583"/>
            <a:ext cx="3055357"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6"/>
              </a:rPr>
              <a:t>sonny0714.github.io/</a:t>
            </a:r>
            <a:r>
              <a:rPr lang="en-US" altLang="ko-KR" sz="800" dirty="0" err="1">
                <a:ea typeface="맑은 고딕"/>
                <a:hlinkClick r:id="rId6"/>
              </a:rPr>
              <a:t>demo_video_robot</a:t>
            </a:r>
            <a:r>
              <a:rPr lang="en-US" altLang="ko-KR" sz="800" dirty="0">
                <a:ea typeface="맑은 고딕"/>
                <a:hlinkClick r:id="rId6"/>
              </a:rPr>
              <a:t>/xferqoe-monitoring.html</a:t>
            </a:r>
            <a:endParaRPr lang="en-US" altLang="ko-KR" sz="800" dirty="0">
              <a:latin typeface="맑은 고딕"/>
              <a:ea typeface="맑은 고딕"/>
              <a:hlinkClick r:id="rId6"/>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94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B42E8-8410-5741-2D39-192E7D869211}"/>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11</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Remote Model Serving</a:t>
            </a:r>
            <a:endParaRPr lang="en-US" altLang="ko-KR" sz="1400" dirty="0">
              <a:latin typeface="Arial" pitchFamily="34" charset="0"/>
              <a:ea typeface="Arial Unicode MS" pitchFamily="50" charset="-127"/>
              <a:cs typeface="Arial" pitchFamily="34" charset="0"/>
            </a:endParaRPr>
          </a:p>
        </p:txBody>
      </p:sp>
      <p:pic>
        <p:nvPicPr>
          <p:cNvPr id="3" name="그림 2">
            <a:extLst>
              <a:ext uri="{FF2B5EF4-FFF2-40B4-BE49-F238E27FC236}">
                <a16:creationId xmlns:a16="http://schemas.microsoft.com/office/drawing/2014/main" id="{CB3E7876-0E57-44E1-34ED-24B036D283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0266" y="3961439"/>
            <a:ext cx="2814108" cy="2351650"/>
          </a:xfrm>
          <a:prstGeom prst="rect">
            <a:avLst/>
          </a:prstGeom>
        </p:spPr>
      </p:pic>
      <p:pic>
        <p:nvPicPr>
          <p:cNvPr id="6" name="그림 5" descr="figure">
            <a:extLst>
              <a:ext uri="{FF2B5EF4-FFF2-40B4-BE49-F238E27FC236}">
                <a16:creationId xmlns:a16="http://schemas.microsoft.com/office/drawing/2014/main" id="{28FA2C31-510F-C204-49BB-51064AFC6E00}"/>
              </a:ext>
            </a:extLst>
          </p:cNvPr>
          <p:cNvPicPr>
            <a:picLocks noChangeAspect="1"/>
          </p:cNvPicPr>
          <p:nvPr/>
        </p:nvPicPr>
        <p:blipFill rotWithShape="1">
          <a:blip r:embed="rId4">
            <a:extLst>
              <a:ext uri="{28A0092B-C50C-407E-A947-70E740481C1C}">
                <a14:useLocalDpi xmlns:a14="http://schemas.microsoft.com/office/drawing/2010/main" val="0"/>
              </a:ext>
            </a:extLst>
          </a:blip>
          <a:srcRect l="49597" b="14091"/>
          <a:stretch/>
        </p:blipFill>
        <p:spPr>
          <a:xfrm>
            <a:off x="8073298" y="5086891"/>
            <a:ext cx="1100672" cy="946177"/>
          </a:xfrm>
          <a:prstGeom prst="rect">
            <a:avLst/>
          </a:prstGeom>
        </p:spPr>
      </p:pic>
      <p:pic>
        <p:nvPicPr>
          <p:cNvPr id="9" name="그림 8" descr="figure">
            <a:extLst>
              <a:ext uri="{FF2B5EF4-FFF2-40B4-BE49-F238E27FC236}">
                <a16:creationId xmlns:a16="http://schemas.microsoft.com/office/drawing/2014/main" id="{49640848-10E6-D68D-E6ED-083021CA1D73}"/>
              </a:ext>
            </a:extLst>
          </p:cNvPr>
          <p:cNvPicPr>
            <a:picLocks noChangeAspect="1"/>
          </p:cNvPicPr>
          <p:nvPr/>
        </p:nvPicPr>
        <p:blipFill rotWithShape="1">
          <a:blip r:embed="rId5">
            <a:extLst>
              <a:ext uri="{28A0092B-C50C-407E-A947-70E740481C1C}">
                <a14:useLocalDpi xmlns:a14="http://schemas.microsoft.com/office/drawing/2010/main" val="0"/>
              </a:ext>
            </a:extLst>
          </a:blip>
          <a:srcRect l="50000" b="14778"/>
          <a:stretch/>
        </p:blipFill>
        <p:spPr>
          <a:xfrm>
            <a:off x="6522565" y="5076369"/>
            <a:ext cx="1094168" cy="946177"/>
          </a:xfrm>
          <a:prstGeom prst="rect">
            <a:avLst/>
          </a:prstGeom>
        </p:spPr>
      </p:pic>
      <p:pic>
        <p:nvPicPr>
          <p:cNvPr id="11" name="그림 10" descr="figure">
            <a:extLst>
              <a:ext uri="{FF2B5EF4-FFF2-40B4-BE49-F238E27FC236}">
                <a16:creationId xmlns:a16="http://schemas.microsoft.com/office/drawing/2014/main" id="{51AE5640-2E71-FA62-3543-5CEC6159956D}"/>
              </a:ext>
            </a:extLst>
          </p:cNvPr>
          <p:cNvPicPr>
            <a:picLocks noChangeAspect="1"/>
          </p:cNvPicPr>
          <p:nvPr/>
        </p:nvPicPr>
        <p:blipFill rotWithShape="1">
          <a:blip r:embed="rId5">
            <a:extLst>
              <a:ext uri="{28A0092B-C50C-407E-A947-70E740481C1C}">
                <a14:useLocalDpi xmlns:a14="http://schemas.microsoft.com/office/drawing/2010/main" val="0"/>
              </a:ext>
            </a:extLst>
          </a:blip>
          <a:srcRect r="50000" b="17418"/>
          <a:stretch>
            <a:fillRect/>
          </a:stretch>
        </p:blipFill>
        <p:spPr>
          <a:xfrm>
            <a:off x="8100924" y="3943510"/>
            <a:ext cx="1073047" cy="830810"/>
          </a:xfrm>
          <a:prstGeom prst="rect">
            <a:avLst/>
          </a:prstGeom>
        </p:spPr>
      </p:pic>
      <p:sp>
        <p:nvSpPr>
          <p:cNvPr id="14" name="TextBox 13">
            <a:extLst>
              <a:ext uri="{FF2B5EF4-FFF2-40B4-BE49-F238E27FC236}">
                <a16:creationId xmlns:a16="http://schemas.microsoft.com/office/drawing/2014/main" id="{AA58128A-9460-B7F5-A51B-900993861FB6}"/>
              </a:ext>
            </a:extLst>
          </p:cNvPr>
          <p:cNvSpPr txBox="1"/>
          <p:nvPr/>
        </p:nvSpPr>
        <p:spPr>
          <a:xfrm>
            <a:off x="6324369" y="6062341"/>
            <a:ext cx="1490560" cy="304699"/>
          </a:xfrm>
          <a:prstGeom prst="rect">
            <a:avLst/>
          </a:prstGeom>
          <a:solidFill>
            <a:schemeClr val="bg1"/>
          </a:solidFill>
        </p:spPr>
        <p:txBody>
          <a:bodyPr wrap="square" lIns="0" tIns="0" rIns="0" bIns="0">
            <a:spAutoFit/>
          </a:bodyPr>
          <a:lstStyle/>
          <a:p>
            <a:pPr algn="ctr">
              <a:lnSpc>
                <a:spcPct val="90000"/>
              </a:lnSpc>
            </a:pPr>
            <a:r>
              <a:rPr lang="en-US" altLang="ko-KR" sz="1100" dirty="0">
                <a:latin typeface="Arial" pitchFamily="34" charset="0"/>
                <a:cs typeface="Arial" pitchFamily="34" charset="0"/>
              </a:rPr>
              <a:t>Action attention map</a:t>
            </a:r>
          </a:p>
          <a:p>
            <a:pPr algn="ctr">
              <a:lnSpc>
                <a:spcPct val="90000"/>
              </a:lnSpc>
            </a:pPr>
            <a:r>
              <a:rPr lang="en-US" altLang="ko-KR" sz="1100" dirty="0">
                <a:latin typeface="Arial" pitchFamily="34" charset="0"/>
                <a:cs typeface="Arial" pitchFamily="34" charset="0"/>
              </a:rPr>
              <a:t>(b1) During pretraining</a:t>
            </a:r>
          </a:p>
        </p:txBody>
      </p:sp>
      <p:sp>
        <p:nvSpPr>
          <p:cNvPr id="22" name="TextBox 21">
            <a:extLst>
              <a:ext uri="{FF2B5EF4-FFF2-40B4-BE49-F238E27FC236}">
                <a16:creationId xmlns:a16="http://schemas.microsoft.com/office/drawing/2014/main" id="{FE1D7B71-1BE6-1F85-016A-80EDDD533E9A}"/>
              </a:ext>
            </a:extLst>
          </p:cNvPr>
          <p:cNvSpPr txBox="1"/>
          <p:nvPr/>
        </p:nvSpPr>
        <p:spPr>
          <a:xfrm>
            <a:off x="7882126" y="6082008"/>
            <a:ext cx="1483018" cy="304699"/>
          </a:xfrm>
          <a:prstGeom prst="rect">
            <a:avLst/>
          </a:prstGeom>
          <a:solidFill>
            <a:schemeClr val="bg1"/>
          </a:solidFill>
        </p:spPr>
        <p:txBody>
          <a:bodyPr wrap="square" lIns="0" tIns="0" rIns="0" bIns="0">
            <a:spAutoFit/>
          </a:bodyPr>
          <a:lstStyle/>
          <a:p>
            <a:pPr algn="ctr">
              <a:lnSpc>
                <a:spcPct val="90000"/>
              </a:lnSpc>
            </a:pPr>
            <a:r>
              <a:rPr lang="en-US" altLang="ko-KR" sz="1100" dirty="0">
                <a:latin typeface="Arial" pitchFamily="34" charset="0"/>
                <a:cs typeface="Arial" pitchFamily="34" charset="0"/>
              </a:rPr>
              <a:t>Action attention map</a:t>
            </a:r>
          </a:p>
          <a:p>
            <a:pPr algn="ctr">
              <a:lnSpc>
                <a:spcPct val="90000"/>
              </a:lnSpc>
            </a:pPr>
            <a:r>
              <a:rPr lang="en-US" altLang="ko-KR" sz="1100" dirty="0">
                <a:latin typeface="Arial" pitchFamily="34" charset="0"/>
                <a:cs typeface="Arial" pitchFamily="34" charset="0"/>
              </a:rPr>
              <a:t>(b2) During adaptation</a:t>
            </a:r>
          </a:p>
        </p:txBody>
      </p:sp>
      <p:pic>
        <p:nvPicPr>
          <p:cNvPr id="26" name="Picture 5" descr="figure">
            <a:extLst>
              <a:ext uri="{FF2B5EF4-FFF2-40B4-BE49-F238E27FC236}">
                <a16:creationId xmlns:a16="http://schemas.microsoft.com/office/drawing/2014/main" id="{5C0D2AB1-4DF7-9ABF-99CB-E3FD96F720D7}"/>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543686" y="3941622"/>
            <a:ext cx="1073047" cy="83506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AA766A37-DC07-310B-9E41-17BB75EEE6D3}"/>
              </a:ext>
            </a:extLst>
          </p:cNvPr>
          <p:cNvSpPr txBox="1"/>
          <p:nvPr/>
        </p:nvSpPr>
        <p:spPr>
          <a:xfrm>
            <a:off x="6380941" y="4742741"/>
            <a:ext cx="1398536" cy="261610"/>
          </a:xfrm>
          <a:prstGeom prst="rect">
            <a:avLst/>
          </a:prstGeom>
          <a:noFill/>
          <a:ln>
            <a:noFill/>
          </a:ln>
        </p:spPr>
        <p:txBody>
          <a:bodyPr wrap="square" rtlCol="0">
            <a:spAutoFit/>
          </a:bodyPr>
          <a:lstStyle/>
          <a:p>
            <a:pPr algn="ctr"/>
            <a:r>
              <a:rPr lang="en-US" altLang="ko-KR" sz="1100" dirty="0">
                <a:latin typeface="Arial" panose="020B0604020202020204" pitchFamily="34" charset="0"/>
                <a:cs typeface="Arial" panose="020B0604020202020204" pitchFamily="34" charset="0"/>
              </a:rPr>
              <a:t>(a1) Top-view map</a:t>
            </a:r>
            <a:endParaRPr lang="ko-KR" altLang="en-US" sz="1100" dirty="0">
              <a:latin typeface="Arial" panose="020B0604020202020204" pitchFamily="34" charset="0"/>
              <a:cs typeface="Arial" panose="020B0604020202020204" pitchFamily="34" charset="0"/>
            </a:endParaRPr>
          </a:p>
        </p:txBody>
      </p:sp>
      <p:pic>
        <p:nvPicPr>
          <p:cNvPr id="32" name="그림 31" descr="figure">
            <a:extLst>
              <a:ext uri="{FF2B5EF4-FFF2-40B4-BE49-F238E27FC236}">
                <a16:creationId xmlns:a16="http://schemas.microsoft.com/office/drawing/2014/main" id="{76376554-1CBD-6DEA-7517-716BE3A93A38}"/>
              </a:ext>
            </a:extLst>
          </p:cNvPr>
          <p:cNvPicPr>
            <a:picLocks noChangeAspect="1"/>
          </p:cNvPicPr>
          <p:nvPr/>
        </p:nvPicPr>
        <p:blipFill>
          <a:blip r:embed="rId7">
            <a:extLst>
              <a:ext uri="{28A0092B-C50C-407E-A947-70E740481C1C}">
                <a14:useLocalDpi xmlns:a14="http://schemas.microsoft.com/office/drawing/2010/main" val="0"/>
              </a:ext>
            </a:extLst>
          </a:blip>
          <a:srcRect l="38851" b="89949"/>
          <a:stretch>
            <a:fillRect/>
          </a:stretch>
        </p:blipFill>
        <p:spPr>
          <a:xfrm>
            <a:off x="6467056" y="3709904"/>
            <a:ext cx="2824110" cy="195749"/>
          </a:xfrm>
          <a:prstGeom prst="rect">
            <a:avLst/>
          </a:prstGeom>
        </p:spPr>
      </p:pic>
      <p:sp>
        <p:nvSpPr>
          <p:cNvPr id="34" name="TextBox 33">
            <a:extLst>
              <a:ext uri="{FF2B5EF4-FFF2-40B4-BE49-F238E27FC236}">
                <a16:creationId xmlns:a16="http://schemas.microsoft.com/office/drawing/2014/main" id="{296B4248-9017-2624-47B4-90E477797787}"/>
              </a:ext>
            </a:extLst>
          </p:cNvPr>
          <p:cNvSpPr txBox="1"/>
          <p:nvPr/>
        </p:nvSpPr>
        <p:spPr>
          <a:xfrm>
            <a:off x="7998855" y="4736078"/>
            <a:ext cx="1277184" cy="261610"/>
          </a:xfrm>
          <a:prstGeom prst="rect">
            <a:avLst/>
          </a:prstGeom>
          <a:noFill/>
          <a:ln>
            <a:noFill/>
          </a:ln>
        </p:spPr>
        <p:txBody>
          <a:bodyPr wrap="square" rtlCol="0">
            <a:spAutoFit/>
          </a:bodyPr>
          <a:lstStyle/>
          <a:p>
            <a:pPr algn="ctr"/>
            <a:r>
              <a:rPr lang="en-US" altLang="ko-KR" sz="1100" dirty="0">
                <a:latin typeface="Arial" panose="020B0604020202020204" pitchFamily="34" charset="0"/>
                <a:cs typeface="Arial" panose="020B0604020202020204" pitchFamily="34" charset="0"/>
              </a:rPr>
              <a:t>(a2) Object map</a:t>
            </a:r>
            <a:endParaRPr lang="ko-KR" altLang="en-US" sz="1100" dirty="0">
              <a:latin typeface="Arial" panose="020B0604020202020204" pitchFamily="34" charset="0"/>
              <a:cs typeface="Arial" panose="020B0604020202020204" pitchFamily="34" charset="0"/>
            </a:endParaRPr>
          </a:p>
        </p:txBody>
      </p:sp>
      <p:pic>
        <p:nvPicPr>
          <p:cNvPr id="36" name="Picture 2" descr="figure">
            <a:extLst>
              <a:ext uri="{FF2B5EF4-FFF2-40B4-BE49-F238E27FC236}">
                <a16:creationId xmlns:a16="http://schemas.microsoft.com/office/drawing/2014/main" id="{815C620F-03E2-C074-84A7-D9361BD29E6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15517" y="3962495"/>
            <a:ext cx="1711064" cy="2303207"/>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11906725-6016-9804-F9D6-E352B4CAE8CD}"/>
              </a:ext>
            </a:extLst>
          </p:cNvPr>
          <p:cNvSpPr txBox="1"/>
          <p:nvPr/>
        </p:nvSpPr>
        <p:spPr>
          <a:xfrm>
            <a:off x="491752" y="6396461"/>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cs typeface="Arial" pitchFamily="34" charset="0"/>
              </a:rPr>
              <a:t>Networked monitoring systems</a:t>
            </a:r>
          </a:p>
        </p:txBody>
      </p:sp>
      <p:sp>
        <p:nvSpPr>
          <p:cNvPr id="41" name="TextBox 40">
            <a:extLst>
              <a:ext uri="{FF2B5EF4-FFF2-40B4-BE49-F238E27FC236}">
                <a16:creationId xmlns:a16="http://schemas.microsoft.com/office/drawing/2014/main" id="{A7326B21-074C-921E-4B71-56A17CA0E4CB}"/>
              </a:ext>
            </a:extLst>
          </p:cNvPr>
          <p:cNvSpPr txBox="1"/>
          <p:nvPr/>
        </p:nvSpPr>
        <p:spPr>
          <a:xfrm>
            <a:off x="3336174" y="6385651"/>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cs typeface="Arial" pitchFamily="34" charset="0"/>
              </a:rPr>
              <a:t>Action shaping model structure</a:t>
            </a:r>
          </a:p>
        </p:txBody>
      </p:sp>
      <p:cxnSp>
        <p:nvCxnSpPr>
          <p:cNvPr id="43" name="직선 화살표 연결선 42">
            <a:extLst>
              <a:ext uri="{FF2B5EF4-FFF2-40B4-BE49-F238E27FC236}">
                <a16:creationId xmlns:a16="http://schemas.microsoft.com/office/drawing/2014/main" id="{CC721177-F517-0FDA-A155-52A2513DD008}"/>
              </a:ext>
            </a:extLst>
          </p:cNvPr>
          <p:cNvCxnSpPr>
            <a:cxnSpLocks/>
          </p:cNvCxnSpPr>
          <p:nvPr/>
        </p:nvCxnSpPr>
        <p:spPr>
          <a:xfrm>
            <a:off x="7688649" y="4291874"/>
            <a:ext cx="384059" cy="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직선 화살표 연결선 43">
            <a:extLst>
              <a:ext uri="{FF2B5EF4-FFF2-40B4-BE49-F238E27FC236}">
                <a16:creationId xmlns:a16="http://schemas.microsoft.com/office/drawing/2014/main" id="{289F50E6-554C-86D1-E2C9-2058026FE874}"/>
              </a:ext>
            </a:extLst>
          </p:cNvPr>
          <p:cNvCxnSpPr>
            <a:cxnSpLocks/>
          </p:cNvCxnSpPr>
          <p:nvPr/>
        </p:nvCxnSpPr>
        <p:spPr>
          <a:xfrm>
            <a:off x="7687082" y="5426018"/>
            <a:ext cx="384059" cy="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46" name="TextBox 45">
            <a:extLst>
              <a:ext uri="{FF2B5EF4-FFF2-40B4-BE49-F238E27FC236}">
                <a16:creationId xmlns:a16="http://schemas.microsoft.com/office/drawing/2014/main" id="{71316E9D-F637-1E73-F5E2-E298FD3832E6}"/>
              </a:ext>
            </a:extLst>
          </p:cNvPr>
          <p:cNvSpPr txBox="1"/>
          <p:nvPr/>
        </p:nvSpPr>
        <p:spPr>
          <a:xfrm>
            <a:off x="6687023" y="6394124"/>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ea typeface="Arial" panose="020B0604020202020204" pitchFamily="34" charset="0"/>
                <a:cs typeface="Arial" panose="020B0604020202020204" pitchFamily="34" charset="0"/>
              </a:rPr>
              <a:t>Action attention map transfer</a:t>
            </a:r>
            <a:endParaRPr lang="en-US" altLang="ko-KR" sz="1100" b="1" dirty="0">
              <a:latin typeface="Arial" panose="020B0604020202020204" pitchFamily="34" charset="0"/>
              <a:cs typeface="Arial" pitchFamily="34" charset="0"/>
            </a:endParaRP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545665"/>
            <a:ext cx="931685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[RL, Fine-Tuning]</a:t>
            </a:r>
            <a:r>
              <a:rPr lang="en-US" altLang="ko-KR" b="1" dirty="0">
                <a:latin typeface="Arial" panose="020B0604020202020204" pitchFamily="34" charset="0"/>
                <a:ea typeface="Arial" panose="020B0604020202020204" pitchFamily="34" charset="0"/>
                <a:cs typeface="Arial" panose="020B0604020202020204" pitchFamily="34" charset="0"/>
              </a:rPr>
              <a:t> Repot — Transferable RL for Networked Monitoring</a:t>
            </a:r>
            <a:endParaRPr lang="en-US" altLang="ko-KR"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1052736"/>
            <a:ext cx="9603782" cy="2520008"/>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IEEE Access 2021 (first author) · Network Monitoring System patent, KR 10-2574070 · US 12,556,492 B2 (first inventor)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implementation, experiments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Networked monitoring. When sensing devices share a single link to a server, the bandwidth allocation must keep the server's continual query accurate as the network degrades (left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Re-learning that allocation from scratch for each new network scale and condition is prohibitively expensive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Train where samples are inexpensive and adapt where they are expensive, by updating a small adjustment function alone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Algorithm</a:t>
            </a:r>
            <a:r>
              <a:rPr lang="en-US" altLang="ko-KR" sz="1100" dirty="0">
                <a:latin typeface="Arial" panose="020B0604020202020204" pitchFamily="34" charset="0"/>
                <a:ea typeface="Arial" panose="020B0604020202020204" pitchFamily="34" charset="0"/>
                <a:cs typeface="Arial" panose="020B0604020202020204" pitchFamily="34" charset="0"/>
              </a:rPr>
              <a:t> — Two-phase transfer (center figure). Phase 1: the policy is trained end to end with SAC (soft actor-critic) in the time-slotted source environment. Phase 2: in the NS-3 target, all learned modules are frozen, and a second, small SAC policy (the adjustment function with its own critics) is trained. Its outputs enter the shaping function together with the frozen latent action</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Flow embedding: a Transformer encoder (per-device MLP vectorization + self-attention over all flows) represents every stream by its history and its relation to the others. Allocation: a trainable function emits a latent action. Shaping: a non-trainable function maps it to per-device bandwidth limits by a distance-weighted softmax (right figure: action attention maps)</a:t>
            </a:r>
          </a:p>
        </p:txBody>
      </p:sp>
    </p:spTree>
    <p:extLst>
      <p:ext uri="{BB962C8B-B14F-4D97-AF65-F5344CB8AC3E}">
        <p14:creationId xmlns:p14="http://schemas.microsoft.com/office/powerpoint/2010/main" val="4933987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8</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Remote Model Serving</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436866"/>
            <a:ext cx="9603782"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[RFM, VLA, VLM]</a:t>
            </a:r>
            <a:r>
              <a:rPr lang="en-US" altLang="ko-KR" b="1" dirty="0">
                <a:latin typeface="Arial" panose="020B0604020202020204" pitchFamily="34" charset="0"/>
                <a:ea typeface="Arial" panose="020B0604020202020204" pitchFamily="34" charset="0"/>
                <a:cs typeface="Arial" panose="020B0604020202020204" pitchFamily="34" charset="0"/>
              </a:rPr>
              <a:t> Physical AI — RFM Fine-Tuning, Serving under Delay, PoC Demo</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795528"/>
            <a:ext cx="9603782" cy="3340486"/>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Robot foundation model (RFM) encoder fine-tuning on a real arm (SO-101)</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implementation, experiments (encoder pretraining, data collection, fine-tuning, real-arm tests)</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H2R (human-to-robot) transfer on the arm: human videos guide imitation learning, so only the vision encoder is trained</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H2R was reproduced on public data, where ViT (Vision Transformer) encoders pretrained by masked autoencoding served as the backbone of ACT (Action Chunking with Transformers). Then </a:t>
            </a:r>
            <a:r>
              <a:rPr lang="en-US" altLang="ko-KR" sz="1100" dirty="0" u="sng">
                <a:latin typeface="Arial" panose="020B0604020202020204" pitchFamily="34" charset="0"/>
                <a:ea typeface="Arial" panose="020B0604020202020204" pitchFamily="34" charset="0"/>
                <a:cs typeface="Arial" panose="020B0604020202020204" pitchFamily="34" charset="0"/>
              </a:rPr>
              <a:t>the vision encoders of SmolVLA and π0.5 were fine-tuned with the action expert frozen</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Donut pick-and-place demonstrations collected by leader-arm teleoperation. Fine-tuning and real-arm trials on LeRobot</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RFM serving under network delay (simulated; delay-injection harness)</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experiments (research direction, experiment design, and analysis)</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An off-board RFM serving a robot: a static task (LIBERO, π0.5) and a moving-ball task (MIKASA, SmolVLA)</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fixed or variable delay is injected at the chunk request, where uplink, inference, and downlink delays add up, so one value covers the serving path. Each policy runs asynchronously (switching chunks) or synchronously (waiting for the next chunk)</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Physical-AI PoC demo (real robots, Code-as-Policies)</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Role: Participant</a:t>
            </a:r>
            <a:r>
              <a:rPr lang="en-US" altLang="ko-KR" sz="1100" dirty="0">
                <a:latin typeface="Arial" panose="020B0604020202020204" pitchFamily="34" charset="0"/>
                <a:ea typeface="Arial" panose="020B0604020202020204" pitchFamily="34" charset="0"/>
                <a:cs typeface="Arial" panose="020B0604020202020204" pitchFamily="34" charset="0"/>
              </a:rPr>
              <a:t> — pipeline structure design, LeRobot runs</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 four-stage demo (pick → move → assemble → inspect) on two SO-101 arms and a LeKiwi mobile base</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the task sequence is fixed. Gemini, a VLM (vision-language model), generates each skill's code offline for a skill library. </a:t>
            </a:r>
            <a:r>
              <a:rPr lang="en-US" altLang="ko-KR" sz="1100" dirty="0" u="sng">
                <a:latin typeface="Arial" panose="020B0604020202020204" pitchFamily="34" charset="0"/>
                <a:ea typeface="Arial" panose="020B0604020202020204" pitchFamily="34" charset="0"/>
                <a:cs typeface="Arial" panose="020B0604020202020204" pitchFamily="34" charset="0"/>
              </a:rPr>
              <a:t>At run time it selects the skill from the camera frame, and the selected code drives the arms on LeRobot</a:t>
            </a:r>
            <a:r>
              <a:rPr lang="en-US" altLang="ko-KR" sz="1100" dirty="0">
                <a:latin typeface="Arial" panose="020B0604020202020204" pitchFamily="34" charset="0"/>
                <a:ea typeface="Arial" panose="020B0604020202020204" pitchFamily="34" charset="0"/>
                <a:cs typeface="Arial" panose="020B0604020202020204" pitchFamily="34" charset="0"/>
              </a:rPr>
              <a:t> (left figure, video)</a:t>
            </a:r>
          </a:p>
        </p:txBody>
      </p:sp>
      <p:pic>
        <p:nvPicPr>
          <p:cNvPr id="22" name="Picture 21" descr="image.png"/>
          <p:cNvPicPr>
            <a:picLocks noChangeAspect="1"/>
          </p:cNvPicPr>
          <p:nvPr/>
        </p:nvPicPr>
        <p:blipFill>
          <a:blip r:embed="rId5"/>
          <a:stretch>
            <a:fillRect/>
          </a:stretch>
        </p:blipFill>
        <p:spPr>
          <a:xfrm>
            <a:off x="864552" y="4289634"/>
            <a:ext cx="3950208" cy="1975104"/>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416496" y="6285769"/>
            <a:ext cx="484632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Demo: offline skill code; camera → Gemini selects skill → LeRobot</a:t>
            </a:r>
          </a:p>
        </p:txBody>
      </p:sp>
      <p:sp>
        <p:nvSpPr>
          <p:cNvPr id="209" name="TextBox 37">
            <a:extLst>
              <a:ext uri="{FF2B5EF4-FFF2-40B4-BE49-F238E27FC236}">
                <a16:creationId xmlns:a16="http://schemas.microsoft.com/office/drawing/2014/main" id="{11906725-6016-9804-F9D6-E352B4CAE8CD}"/>
              </a:ext>
            </a:extLst>
          </p:cNvPr>
          <p:cNvSpPr txBox="1"/>
          <p:nvPr/>
        </p:nvSpPr>
        <p:spPr>
          <a:xfrm>
            <a:off x="5500560" y="6285769"/>
            <a:ext cx="393192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PoC demo video (41 s): pick, move, assemble, inspect</a:t>
            </a:r>
          </a:p>
        </p:txBody>
      </p:sp>
      <p:pic>
        <p:nvPicPr>
          <p:cNvPr id="39" name="poc_demo_41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697156" y="4273174"/>
            <a:ext cx="3538728" cy="199156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1034" fill="hold"/>
                                        <p:tgtEl>
                                          <p:spTgt spid="3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9"/>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7934F-7FED-2F64-E20C-A09062937C63}"/>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52DA9AB-7727-CB48-E8C9-A7B7AA569817}"/>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D92C26A8-53E8-573D-F4AB-46712D826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E94EDEA2-3024-78CF-1C84-BF4EDF205D81}"/>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CD3AF7D8-62C3-F996-CA25-0DF260021F4A}"/>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62BEDAEB-5921-DA97-D1A7-4A8CCB000755}"/>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EAA1E42D-DEA8-2B5F-478A-7FCB3AAAD8DE}"/>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1F0F8ADE-1B5C-310C-987A-0E9E13B954F5}"/>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9</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6F4D3AB4-666E-A4E5-8D9B-0AC5A858F07A}"/>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② Agentic AI — LLM</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Agents for System Operation (Robotics &amp; V2G)</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D3FD8C36-C268-D947-AE5A-EF45E6C193CF}"/>
              </a:ext>
            </a:extLst>
          </p:cNvPr>
          <p:cNvSpPr txBox="1"/>
          <p:nvPr/>
        </p:nvSpPr>
        <p:spPr>
          <a:xfrm>
            <a:off x="6345936" y="5886912"/>
            <a:ext cx="342900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Manipulation task executions (Meta-World)</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6907D9A4-4223-B718-D2F5-44CE38804800}"/>
              </a:ext>
            </a:extLst>
          </p:cNvPr>
          <p:cNvSpPr txBox="1"/>
          <p:nvPr/>
        </p:nvSpPr>
        <p:spPr>
          <a:xfrm>
            <a:off x="138124" y="5873286"/>
            <a:ext cx="6435448"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LDuS: language context → LLM-generated loss code → guided trajectory generation</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8" name="그림 7" descr="figure">
            <a:extLst>
              <a:ext uri="{FF2B5EF4-FFF2-40B4-BE49-F238E27FC236}">
                <a16:creationId xmlns:a16="http://schemas.microsoft.com/office/drawing/2014/main" id="{0F8D9572-845D-F5AC-8649-668E0540038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35945" y="3828382"/>
            <a:ext cx="4918060" cy="2026616"/>
          </a:xfrm>
          <a:prstGeom prst="rect">
            <a:avLst/>
          </a:prstGeom>
        </p:spPr>
      </p:pic>
      <p:pic>
        <p:nvPicPr>
          <p:cNvPr id="10" name="expert">
            <a:hlinkClick r:id="" action="ppaction://media"/>
            <a:extLst>
              <a:ext uri="{FF2B5EF4-FFF2-40B4-BE49-F238E27FC236}">
                <a16:creationId xmlns:a16="http://schemas.microsoft.com/office/drawing/2014/main" id="{4966335C-3BF5-FAA5-A039-AF82B8C2790C}"/>
              </a:ext>
            </a:extLst>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7933077" y="4831331"/>
            <a:ext cx="1380672" cy="1037293"/>
          </a:xfrm>
          <a:prstGeom prst="rect">
            <a:avLst/>
          </a:prstGeom>
        </p:spPr>
      </p:pic>
      <p:pic>
        <p:nvPicPr>
          <p:cNvPr id="11" name="window-open-variant-v2_0">
            <a:hlinkClick r:id="" action="ppaction://media"/>
            <a:extLst>
              <a:ext uri="{FF2B5EF4-FFF2-40B4-BE49-F238E27FC236}">
                <a16:creationId xmlns:a16="http://schemas.microsoft.com/office/drawing/2014/main" id="{C9F16B56-C994-0741-A6C3-006D62DAA0EB}"/>
              </a:ext>
            </a:extLst>
          </p:cNvPr>
          <p:cNvPicPr>
            <a:picLocks noChangeAspect="1"/>
          </p:cNvPicPr>
          <p:nvPr>
            <a:videoFile r:link="rId4"/>
            <p:extLst>
              <p:ext uri="{DAA4B4D4-6D71-4841-9C94-3DE7FCFB9230}">
                <p14:media xmlns:p14="http://schemas.microsoft.com/office/powerpoint/2010/main" r:embed="rId3"/>
              </p:ext>
            </p:extLst>
          </p:nvPr>
        </p:nvPicPr>
        <p:blipFill>
          <a:blip r:embed="rId9"/>
          <a:stretch>
            <a:fillRect/>
          </a:stretch>
        </p:blipFill>
        <p:spPr>
          <a:xfrm>
            <a:off x="6928954" y="3747668"/>
            <a:ext cx="1380671" cy="1037292"/>
          </a:xfrm>
          <a:prstGeom prst="rect">
            <a:avLst/>
          </a:prstGeom>
        </p:spPr>
      </p:pic>
      <p:sp>
        <p:nvSpPr>
          <p:cNvPr id="3" name="TextBox 2">
            <a:extLst>
              <a:ext uri="{FF2B5EF4-FFF2-40B4-BE49-F238E27FC236}">
                <a16:creationId xmlns:a16="http://schemas.microsoft.com/office/drawing/2014/main" id="{B044F6A2-4FBE-E8F8-4DE4-DB364EDD45DE}"/>
              </a:ext>
            </a:extLst>
          </p:cNvPr>
          <p:cNvSpPr txBox="1"/>
          <p:nvPr/>
        </p:nvSpPr>
        <p:spPr>
          <a:xfrm>
            <a:off x="173754" y="467380"/>
            <a:ext cx="9732246"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[Diffusion, Action Decoder]</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LDuS</a:t>
            </a:r>
            <a:r>
              <a:rPr lang="en-US" altLang="ko-KR" b="1" dirty="0">
                <a:latin typeface="Arial" panose="020B0604020202020204" pitchFamily="34" charset="0"/>
                <a:ea typeface="Arial" panose="020B0604020202020204" pitchFamily="34" charset="0"/>
                <a:cs typeface="Arial" panose="020B0604020202020204" pitchFamily="34" charset="0"/>
              </a:rPr>
              <a:t> — LLM-Guided Skill Diffusion for Policy Adaptation</a:t>
            </a:r>
            <a:endParaRPr lang="en-US" altLang="ko-KR" dirty="0">
              <a:latin typeface="Arial" pitchFamily="34" charset="0"/>
              <a:ea typeface="Arial Unicode MS" pitchFamily="50" charset="-127"/>
              <a:cs typeface="Arial" pitchFamily="34" charset="0"/>
            </a:endParaRPr>
          </a:p>
        </p:txBody>
      </p:sp>
      <p:sp>
        <p:nvSpPr>
          <p:cNvPr id="6" name="TextBox 5">
            <a:extLst>
              <a:ext uri="{FF2B5EF4-FFF2-40B4-BE49-F238E27FC236}">
                <a16:creationId xmlns:a16="http://schemas.microsoft.com/office/drawing/2014/main" id="{3BF4EAA4-CBF7-36DD-C06A-7CDF9E874A66}"/>
              </a:ext>
            </a:extLst>
          </p:cNvPr>
          <p:cNvSpPr txBox="1"/>
          <p:nvPr/>
        </p:nvSpPr>
        <p:spPr>
          <a:xfrm>
            <a:off x="173736" y="906098"/>
            <a:ext cx="9603782" cy="270441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NeurIPS 2024 Main Conference Track (second author)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architecture, experiment design; robot-task validation on Meta-World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Manipulation policies that follow a natural-language context, such as speed, power usage, or a spatial constraint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skill-based policy cannot adapt to a context unseen in training. Retraining per context is expensive</a:t>
            </a:r>
            <a:r>
              <a:rPr lang="en-US" altLang="ko-KR" sz="1100" dirty="0">
                <a:latin typeface="Arial" panose="020B0604020202020204" pitchFamily="34" charset="0"/>
                <a:ea typeface="Arial" panose="020B0604020202020204" pitchFamily="34" charset="0"/>
                <a:cs typeface="Arial" panose="020B0604020202020204" pitchFamily="34" charset="0"/>
              </a:rPr>
              <a:t> (left figure, Cases 2–3)</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Unlike Code-as-Policies, where an LLM writes executable policy code, here the LLM writes a loss function. Loss-guidance code generated from the context steers the pretrained policy at test time, with no policy update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Algorithm</a:t>
            </a:r>
            <a:r>
              <a:rPr lang="en-US" altLang="ko-KR" sz="1100" dirty="0">
                <a:latin typeface="Arial" panose="020B0604020202020204" pitchFamily="34" charset="0"/>
                <a:ea typeface="Arial" panose="020B0604020202020204" pitchFamily="34" charset="0"/>
                <a:cs typeface="Arial" panose="020B0604020202020204" pitchFamily="34" charset="0"/>
              </a:rPr>
              <a:t> — Pretraining uses goal-annotated expert trajectories without context. In adaptation, GPT-3.5 writes loss-guidance code from the context, and the gradient of that loss guides every denoising step. GPT-4 judges contact from the camera frame to gate constraints that apply only while touching the object. A closed loop validates the code and the guided trajectory. It regenerates faulty code and raises the guidance frequency until the context is satisfied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A VAE skill encoder maps an h-step state–action segment to a skill embedding. A skill prior predicts the embedding from the state and the language goal encoded by CLIP (contrastive language–image pretraining). A skill diffusion planner (a U-Net denoiser as in Diffuser) reconstructs the segment. Sequential in-painting fixes the past states and actions into the generated trajectory</a:t>
            </a:r>
          </a:p>
        </p:txBody>
      </p:sp>
    </p:spTree>
    <p:extLst>
      <p:ext uri="{BB962C8B-B14F-4D97-AF65-F5344CB8AC3E}">
        <p14:creationId xmlns:p14="http://schemas.microsoft.com/office/powerpoint/2010/main" val="94693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34" fill="hold"/>
                                        <p:tgtEl>
                                          <p:spTgt spid="11"/>
                                        </p:tgtEl>
                                      </p:cBhvr>
                                    </p:cmd>
                                  </p:childTnLst>
                                </p:cTn>
                              </p:par>
                              <p:par>
                                <p:cTn id="7" presetID="1" presetClass="mediacall" presetSubtype="0" fill="hold" nodeType="withEffect">
                                  <p:stCondLst>
                                    <p:cond delay="0"/>
                                  </p:stCondLst>
                                  <p:childTnLst>
                                    <p:cmd type="call" cmd="playFrom(0.0)">
                                      <p:cBhvr>
                                        <p:cTn id="8" dur="31733"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1"/>
                </p:tgtEl>
              </p:cMediaNode>
            </p:video>
            <p:seq concurrent="1" nextAc="seek">
              <p:cTn id="10" restart="whenNotActive" fill="hold" evtFilter="cancelBubble" nodeType="interactiveSeq">
                <p:stCondLst>
                  <p:cond evt="onClick" delay="0">
                    <p:tgtEl>
                      <p:spTgt spid="11"/>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withEffect">
                                  <p:stCondLst>
                                    <p:cond delay="0"/>
                                  </p:stCondLst>
                                  <p:childTnLst>
                                    <p:cmd type="call" cmd="togglePause">
                                      <p:cBhvr>
                                        <p:cTn id="14" dur="1" fill="hold"/>
                                        <p:tgtEl>
                                          <p:spTgt spid="11"/>
                                        </p:tgtEl>
                                      </p:cBhvr>
                                    </p:cmd>
                                  </p:childTnLst>
                                </p:cTn>
                              </p:par>
                            </p:childTnLst>
                          </p:cTn>
                        </p:par>
                      </p:childTnLst>
                    </p:cTn>
                  </p:par>
                </p:childTnLst>
              </p:cTn>
              <p:nextCondLst>
                <p:cond evt="onClick" delay="0">
                  <p:tgtEl>
                    <p:spTgt spid="11"/>
                  </p:tgtEl>
                </p:cond>
              </p:nextCondLst>
            </p:seq>
            <p:video>
              <p:cMediaNode vol="80000">
                <p:cTn id="15" fill="hold" display="0">
                  <p:stCondLst>
                    <p:cond delay="indefinite"/>
                  </p:stCondLst>
                </p:cTn>
                <p:tgtEl>
                  <p:spTgt spid="10"/>
                </p:tgtEl>
              </p:cMediaNode>
            </p:video>
            <p:seq concurrent="1" nextAc="seek">
              <p:cTn id="16" restart="whenNotActive" fill="hold" evtFilter="cancelBubble" nodeType="interactiveSeq">
                <p:stCondLst>
                  <p:cond evt="onClick" delay="0">
                    <p:tgtEl>
                      <p:spTgt spid="10"/>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withEffect">
                                  <p:stCondLst>
                                    <p:cond delay="0"/>
                                  </p:stCondLst>
                                  <p:childTnLst>
                                    <p:cmd type="call" cmd="togglePause">
                                      <p:cBhvr>
                                        <p:cTn id="20"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CB41E-5474-9A6E-32A0-2DC4E7364FBC}"/>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61649D3-E8A0-19E2-C9D4-0089387E0784}"/>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27EBC5-73DF-7986-BD80-C0A491567594}"/>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5A64F300-701D-1A67-C351-762A448CA8E5}"/>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12DF1CA8-4BF3-7180-E81D-90EAF309D052}"/>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F4D7806-96AB-15DC-904E-B4EE61D28C7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DBEBC16-C709-6788-660C-9833208FAA3A}"/>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F1F2537B-ED49-2D7D-EBFD-11A3B98A8335}"/>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10</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199" name="TextBox 198">
            <a:extLst>
              <a:ext uri="{FF2B5EF4-FFF2-40B4-BE49-F238E27FC236}">
                <a16:creationId xmlns:a16="http://schemas.microsoft.com/office/drawing/2014/main" id="{9707E6A9-7304-0A59-240D-1C9A3F9066DD}"/>
              </a:ext>
            </a:extLst>
          </p:cNvPr>
          <p:cNvSpPr txBox="1"/>
          <p:nvPr/>
        </p:nvSpPr>
        <p:spPr>
          <a:xfrm>
            <a:off x="356616" y="6133795"/>
            <a:ext cx="457200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Task stream with two-axis drift and one operating day's phases</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70" name="TextBox 269">
            <a:extLst>
              <a:ext uri="{FF2B5EF4-FFF2-40B4-BE49-F238E27FC236}">
                <a16:creationId xmlns:a16="http://schemas.microsoft.com/office/drawing/2014/main" id="{5AF968D0-0C35-47DD-81CF-D4550D269100}"/>
              </a:ext>
            </a:extLst>
          </p:cNvPr>
          <p:cNvSpPr txBox="1"/>
          <p:nvPr/>
        </p:nvSpPr>
        <p:spPr>
          <a:xfrm>
            <a:off x="5157216" y="6133795"/>
            <a:ext cx="461772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Drift detection, tool selection, and the RL scheduler</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5" name="TextBox 4">
            <a:extLst>
              <a:ext uri="{FF2B5EF4-FFF2-40B4-BE49-F238E27FC236}">
                <a16:creationId xmlns:a16="http://schemas.microsoft.com/office/drawing/2014/main" id="{FB7E75EE-E5DD-ABB0-89AE-ECC99FC136A6}"/>
              </a:ext>
            </a:extLst>
          </p:cNvPr>
          <p:cNvSpPr txBox="1"/>
          <p:nvPr/>
        </p:nvSpPr>
        <p:spPr>
          <a:xfrm>
            <a:off x="173754" y="531615"/>
            <a:ext cx="9603782"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[RL Scheduler, LLM]</a:t>
            </a:r>
            <a:r>
              <a:rPr lang="en-US" altLang="ko-KR" b="1" dirty="0">
                <a:latin typeface="Arial" panose="020B0604020202020204" pitchFamily="34" charset="0"/>
                <a:ea typeface="Arial" panose="020B0604020202020204" pitchFamily="34" charset="0"/>
                <a:cs typeface="Arial" panose="020B0604020202020204" pitchFamily="34" charset="0"/>
              </a:rPr>
              <a:t> AgentV2G — Agentic V2G Fleet Scheduling Under Drift</a:t>
            </a:r>
            <a:endParaRPr lang="en-US" altLang="ko-KR" dirty="0">
              <a:latin typeface="Arial" pitchFamily="34" charset="0"/>
              <a:ea typeface="Arial Unicode MS" pitchFamily="50" charset="-127"/>
              <a:cs typeface="Arial" pitchFamily="34" charset="0"/>
            </a:endParaRPr>
          </a:p>
        </p:txBody>
      </p:sp>
      <p:sp>
        <p:nvSpPr>
          <p:cNvPr id="8" name="TextBox 7">
            <a:extLst>
              <a:ext uri="{FF2B5EF4-FFF2-40B4-BE49-F238E27FC236}">
                <a16:creationId xmlns:a16="http://schemas.microsoft.com/office/drawing/2014/main" id="{4E3FB9F1-992E-46D6-5159-A0A6465047E5}"/>
              </a:ext>
            </a:extLst>
          </p:cNvPr>
          <p:cNvSpPr txBox="1"/>
          <p:nvPr/>
        </p:nvSpPr>
        <p:spPr>
          <a:xfrm>
            <a:off x="173754" y="1020951"/>
            <a:ext cx="9603782" cy="3124024"/>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Hyundai Motor · Kia V2X (vehicle-to-everything) project · interim report delivered Oct. 2026</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(full cover) problem definition, algorithm design, implementation, experiments; construction of the V2G fleet-operation environment</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 V2G (vehicle-to-grid) charging hub. It bids in a day-ahead and real-time two-settlement electricity market and dispatches the charging and discharging of its electric vehicles (EVs)</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dirty="0" u="sng">
                <a:latin typeface="Arial" panose="020B0604020202020204" pitchFamily="34" charset="0"/>
                <a:ea typeface="Arial" panose="020B0604020202020204" pitchFamily="34" charset="0"/>
                <a:cs typeface="Arial" panose="020B0604020202020204" pitchFamily="34" charset="0"/>
              </a:rPr>
              <a:t>An agent free to re-plan cannot be trusted to commit irreversible bids. A fixed pipeline cannot follow the drift</a:t>
            </a:r>
            <a:r>
              <a:rPr lang="en-US" altLang="ko-KR" sz="1100" dirty="0">
                <a:latin typeface="Arial" panose="020B0604020202020204" pitchFamily="34" charset="0"/>
                <a:ea typeface="Arial" panose="020B0604020202020204" pitchFamily="34" charset="0"/>
                <a:cs typeface="Arial" panose="020B0604020202020204" pitchFamily="34" charset="0"/>
              </a:rPr>
              <a:t> (left figure)</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An LLM agent makes a fixed bidding-and-dispatch pipeline follow the drift</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Design</a:t>
            </a:r>
            <a:r>
              <a:rPr lang="en-US" altLang="ko-KR" sz="1100" dirty="0">
                <a:latin typeface="Arial" panose="020B0604020202020204" pitchFamily="34" charset="0"/>
                <a:ea typeface="Arial" panose="020B0604020202020204" pitchFamily="34" charset="0"/>
                <a:cs typeface="Arial" panose="020B0604020202020204" pitchFamily="34" charset="0"/>
              </a:rPr>
              <a:t> — The agent detects drift on two axes, electricity price and vehicle use, when observations that differ from the reference accumulate past a set amount. On the price axis it selects a tool that corrects the price forecast. On the vehicle axis it selects an RL scheduler trained for the new condition. When no fitting tool exists, it creates one from the accumulated observations (right figure)</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The condition-specific scheduler is a SAC (soft actor-critic) policy for the real-time dispatch stage. A shared MLP embeds each EV's observation, and the mean of these embeddings forms the fleet embedding. A shared policy head reads both and emits each EV's charge or discharge ratio, so the policy is independent of the fleet size. The action is learned as a residual over rule-based dispatch and can be projected onto the allowed band</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V2G-OpSim, the charging-hub simulator built on the Jeju two-settlement pilot rules, with EU and NEM (Australian National Electricity Market) presets. KPX (Korea Power Exchange) SMP (system marginal price) series and EV charging-session records drive it</a:t>
            </a:r>
          </a:p>
        </p:txBody>
      </p:sp>
      <p:sp>
        <p:nvSpPr>
          <p:cNvPr id="6" name="TextBox 5">
            <a:extLst>
              <a:ext uri="{FF2B5EF4-FFF2-40B4-BE49-F238E27FC236}">
                <a16:creationId xmlns:a16="http://schemas.microsoft.com/office/drawing/2014/main" id="{A5B12F80-3922-7A60-1110-BCC873DB4C63}"/>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② Agentic AI — LLM</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Agents for System Operation (Robotics &amp; V2G)</a:t>
            </a:r>
            <a:endParaRPr lang="en-US" altLang="ko-KR" sz="1400" dirty="0">
              <a:latin typeface="Arial" pitchFamily="34" charset="0"/>
              <a:ea typeface="Arial Unicode MS" pitchFamily="50" charset="-127"/>
              <a:cs typeface="Arial" pitchFamily="34" charset="0"/>
            </a:endParaRPr>
          </a:p>
        </p:txBody>
      </p:sp>
      <p:grpSp>
        <p:nvGrpSpPr>
          <p:cNvPr id="200" name="fig_agentv2g_task_stream"/>
          <p:cNvGrpSpPr/>
          <p:nvPr/>
        </p:nvGrpSpPr>
        <p:grpSpPr>
          <a:xfrm>
            <a:off x="356616" y="4282135"/>
            <a:ext cx="4572000" cy="1847088"/>
            <a:chOff x="356616" y="4686300"/>
            <a:chExt cx="4572000" cy="1847088"/>
          </a:xfrm>
        </p:grpSpPr>
        <p:sp>
          <p:nvSpPr>
            <p:cNvPr id="201" name="task_a"/>
            <p:cNvSpPr/>
            <p:nvPr/>
          </p:nvSpPr>
          <p:spPr>
            <a:xfrm>
              <a:off x="356616" y="5052060"/>
              <a:ext cx="1371600" cy="512064"/>
            </a:xfrm>
            <a:prstGeom prst="roundRect">
              <a:avLst>
                <a:gd name="adj" fmla="val 10714"/>
              </a:avLst>
            </a:prstGeom>
            <a:solidFill>
              <a:srgbClr val="F2F4F7"/>
            </a:solidFill>
            <a:ln w="9525">
              <a:solidFill>
                <a:srgbClr val="5A6378"/>
              </a:solidFill>
              <a:prstDash val="solid"/>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02" name="task_b"/>
            <p:cNvSpPr/>
            <p:nvPr/>
          </p:nvSpPr>
          <p:spPr>
            <a:xfrm>
              <a:off x="1956816" y="5052060"/>
              <a:ext cx="1371600" cy="512064"/>
            </a:xfrm>
            <a:prstGeom prst="roundRect">
              <a:avLst>
                <a:gd name="adj" fmla="val 10714"/>
              </a:avLst>
            </a:prstGeom>
            <a:solidFill>
              <a:srgbClr val="F2F4F7"/>
            </a:solidFill>
            <a:ln w="9525">
              <a:solidFill>
                <a:srgbClr val="5A6378"/>
              </a:solidFill>
              <a:prstDash val="solid"/>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03" name="task_c"/>
            <p:cNvSpPr/>
            <p:nvPr/>
          </p:nvSpPr>
          <p:spPr>
            <a:xfrm>
              <a:off x="3557016" y="5052060"/>
              <a:ext cx="1371600" cy="512064"/>
            </a:xfrm>
            <a:prstGeom prst="roundRect">
              <a:avLst>
                <a:gd name="adj" fmla="val 10714"/>
              </a:avLst>
            </a:prstGeom>
            <a:solidFill>
              <a:srgbClr val="F2F4F7"/>
            </a:solidFill>
            <a:ln w="9525">
              <a:solidFill>
                <a:srgbClr val="5A6378"/>
              </a:solidFill>
              <a:prstDash val="solid"/>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04" name="a_d1"/>
            <p:cNvSpPr/>
            <p:nvPr/>
          </p:nvSpPr>
          <p:spPr>
            <a:xfrm>
              <a:off x="411480" y="5372100"/>
              <a:ext cx="329184"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1</a:t>
              </a:r>
              <a:endParaRPr lang="en-US" dirty="0" sz="900">
                <a:solidFill>
                  <a:srgbClr val="000000"/>
                </a:solidFill>
                <a:latin typeface="Arial"/>
                <a:ea typeface="Arial"/>
                <a:cs typeface="Arial"/>
              </a:endParaRPr>
            </a:p>
          </p:txBody>
        </p:sp>
        <p:sp>
          <p:nvSpPr>
            <p:cNvPr id="205" name="a_d2"/>
            <p:cNvSpPr/>
            <p:nvPr/>
          </p:nvSpPr>
          <p:spPr>
            <a:xfrm>
              <a:off x="777240" y="5372100"/>
              <a:ext cx="329184"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2</a:t>
              </a:r>
              <a:endParaRPr lang="en-US" dirty="0" sz="900">
                <a:solidFill>
                  <a:srgbClr val="000000"/>
                </a:solidFill>
                <a:latin typeface="Arial"/>
                <a:ea typeface="Arial"/>
                <a:cs typeface="Arial"/>
              </a:endParaRPr>
            </a:p>
          </p:txBody>
        </p:sp>
        <p:sp>
          <p:nvSpPr>
            <p:cNvPr id="206" name="a_dn"/>
            <p:cNvSpPr/>
            <p:nvPr/>
          </p:nvSpPr>
          <p:spPr>
            <a:xfrm>
              <a:off x="1344168" y="5372100"/>
              <a:ext cx="347472"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N</a:t>
              </a:r>
              <a:endParaRPr lang="en-US" dirty="0" sz="900">
                <a:solidFill>
                  <a:srgbClr val="000000"/>
                </a:solidFill>
                <a:latin typeface="Arial"/>
                <a:ea typeface="Arial"/>
                <a:cs typeface="Arial"/>
              </a:endParaRPr>
            </a:p>
          </p:txBody>
        </p:sp>
        <p:sp>
          <p:nvSpPr>
            <p:cNvPr id="207" name="b_d1"/>
            <p:cNvSpPr/>
            <p:nvPr/>
          </p:nvSpPr>
          <p:spPr>
            <a:xfrm>
              <a:off x="2011680" y="5372100"/>
              <a:ext cx="329184"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1</a:t>
              </a:r>
              <a:endParaRPr lang="en-US" dirty="0" sz="900">
                <a:solidFill>
                  <a:srgbClr val="000000"/>
                </a:solidFill>
                <a:latin typeface="Arial"/>
                <a:ea typeface="Arial"/>
                <a:cs typeface="Arial"/>
              </a:endParaRPr>
            </a:p>
          </p:txBody>
        </p:sp>
        <p:sp>
          <p:nvSpPr>
            <p:cNvPr id="208" name="b_d2"/>
            <p:cNvSpPr/>
            <p:nvPr/>
          </p:nvSpPr>
          <p:spPr>
            <a:xfrm>
              <a:off x="2377440" y="5372100"/>
              <a:ext cx="329184" cy="155448"/>
            </a:xfrm>
            <a:prstGeom prst="roundRect">
              <a:avLst/>
            </a:prstGeom>
            <a:solidFill>
              <a:srgbClr val="D0D5DD"/>
            </a:solidFill>
            <a:ln w="12700">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2</a:t>
              </a:r>
              <a:endParaRPr lang="en-US" dirty="0" sz="900">
                <a:solidFill>
                  <a:srgbClr val="000000"/>
                </a:solidFill>
                <a:latin typeface="Arial"/>
                <a:ea typeface="Arial"/>
                <a:cs typeface="Arial"/>
              </a:endParaRPr>
            </a:p>
          </p:txBody>
        </p:sp>
        <p:sp>
          <p:nvSpPr>
            <p:cNvPr id="209" name="b_dn"/>
            <p:cNvSpPr/>
            <p:nvPr/>
          </p:nvSpPr>
          <p:spPr>
            <a:xfrm>
              <a:off x="2944368" y="5372100"/>
              <a:ext cx="347472"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N</a:t>
              </a:r>
              <a:endParaRPr lang="en-US" dirty="0" sz="900">
                <a:solidFill>
                  <a:srgbClr val="000000"/>
                </a:solidFill>
                <a:latin typeface="Arial"/>
                <a:ea typeface="Arial"/>
                <a:cs typeface="Arial"/>
              </a:endParaRPr>
            </a:p>
          </p:txBody>
        </p:sp>
        <p:sp>
          <p:nvSpPr>
            <p:cNvPr id="210" name="c_d1"/>
            <p:cNvSpPr/>
            <p:nvPr/>
          </p:nvSpPr>
          <p:spPr>
            <a:xfrm>
              <a:off x="3611880" y="5372100"/>
              <a:ext cx="329184"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1</a:t>
              </a:r>
              <a:endParaRPr lang="en-US" dirty="0" sz="900">
                <a:solidFill>
                  <a:srgbClr val="000000"/>
                </a:solidFill>
                <a:latin typeface="Arial"/>
                <a:ea typeface="Arial"/>
                <a:cs typeface="Arial"/>
              </a:endParaRPr>
            </a:p>
          </p:txBody>
        </p:sp>
        <p:sp>
          <p:nvSpPr>
            <p:cNvPr id="211" name="c_d2"/>
            <p:cNvSpPr/>
            <p:nvPr/>
          </p:nvSpPr>
          <p:spPr>
            <a:xfrm>
              <a:off x="3977640" y="5372100"/>
              <a:ext cx="329184"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2</a:t>
              </a:r>
              <a:endParaRPr lang="en-US" dirty="0" sz="900">
                <a:solidFill>
                  <a:srgbClr val="000000"/>
                </a:solidFill>
                <a:latin typeface="Arial"/>
                <a:ea typeface="Arial"/>
                <a:cs typeface="Arial"/>
              </a:endParaRPr>
            </a:p>
          </p:txBody>
        </p:sp>
        <p:sp>
          <p:nvSpPr>
            <p:cNvPr id="212" name="c_dn"/>
            <p:cNvSpPr/>
            <p:nvPr/>
          </p:nvSpPr>
          <p:spPr>
            <a:xfrm>
              <a:off x="4544568" y="5372100"/>
              <a:ext cx="347472"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N</a:t>
              </a:r>
              <a:endParaRPr lang="en-US" dirty="0" sz="900">
                <a:solidFill>
                  <a:srgbClr val="000000"/>
                </a:solidFill>
                <a:latin typeface="Arial"/>
                <a:ea typeface="Arial"/>
                <a:cs typeface="Arial"/>
              </a:endParaRPr>
            </a:p>
          </p:txBody>
        </p:sp>
        <p:sp>
          <p:nvSpPr>
            <p:cNvPr id="213" name="panel"/>
            <p:cNvSpPr/>
            <p:nvPr/>
          </p:nvSpPr>
          <p:spPr>
            <a:xfrm>
              <a:off x="356616" y="5637276"/>
              <a:ext cx="4572000" cy="896112"/>
            </a:xfrm>
            <a:prstGeom prst="roundRect">
              <a:avLst>
                <a:gd name="adj" fmla="val 6122"/>
              </a:avLst>
            </a:prstGeom>
            <a:noFill/>
            <a:ln w="9525">
              <a:solidFill>
                <a:srgbClr val="7F7F7F"/>
              </a:solidFill>
              <a:prstDash val="lgDash"/>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14" name="p1"/>
            <p:cNvSpPr/>
            <p:nvPr/>
          </p:nvSpPr>
          <p:spPr>
            <a:xfrm>
              <a:off x="448056" y="5829300"/>
              <a:ext cx="2057400" cy="292608"/>
            </a:xfrm>
            <a:prstGeom prst="roundRect">
              <a:avLst/>
            </a:prstGeom>
            <a:solidFill>
              <a:srgbClr val="EAF2FB"/>
            </a:solidFill>
            <a:ln w="12700">
              <a:solidFill>
                <a:srgbClr val="2E75B6"/>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Phase 1 · Day-ahead bid</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D−1 11:00 · daily bid</a:t>
              </a:r>
              <a:endParaRPr lang="en-US" dirty="0" sz="900">
                <a:solidFill>
                  <a:srgbClr val="000000"/>
                </a:solidFill>
                <a:latin typeface="Arial"/>
                <a:ea typeface="Arial"/>
                <a:cs typeface="Arial"/>
              </a:endParaRPr>
            </a:p>
          </p:txBody>
        </p:sp>
        <p:sp>
          <p:nvSpPr>
            <p:cNvPr id="215" name="p2"/>
            <p:cNvSpPr/>
            <p:nvPr/>
          </p:nvSpPr>
          <p:spPr>
            <a:xfrm>
              <a:off x="2779776" y="5829300"/>
              <a:ext cx="2057400" cy="292608"/>
            </a:xfrm>
            <a:prstGeom prst="roundRect">
              <a:avLst/>
            </a:prstGeom>
            <a:solidFill>
              <a:srgbClr val="F2F2F2"/>
            </a:solidFill>
            <a:ln w="12700">
              <a:solidFill>
                <a:srgbClr val="7F7F7F"/>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Phase 2 · Day-ahead clearing</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D−1 18:00 · prices, commitments</a:t>
              </a:r>
              <a:endParaRPr lang="en-US" dirty="0" sz="900">
                <a:solidFill>
                  <a:srgbClr val="000000"/>
                </a:solidFill>
                <a:latin typeface="Arial"/>
                <a:ea typeface="Arial"/>
                <a:cs typeface="Arial"/>
              </a:endParaRPr>
            </a:p>
          </p:txBody>
        </p:sp>
        <p:sp>
          <p:nvSpPr>
            <p:cNvPr id="216" name="p3"/>
            <p:cNvSpPr/>
            <p:nvPr/>
          </p:nvSpPr>
          <p:spPr>
            <a:xfrm>
              <a:off x="448056" y="6213348"/>
              <a:ext cx="2057400" cy="292608"/>
            </a:xfrm>
            <a:prstGeom prst="roundRect">
              <a:avLst/>
            </a:prstGeom>
            <a:solidFill>
              <a:srgbClr val="EAF2FB"/>
            </a:solidFill>
            <a:ln w="12700">
              <a:solidFill>
                <a:srgbClr val="2E75B6"/>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Phase 3 · Real-time bid</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75 min ahead · revised bid</a:t>
              </a:r>
              <a:endParaRPr lang="en-US" dirty="0" sz="900">
                <a:solidFill>
                  <a:srgbClr val="000000"/>
                </a:solidFill>
                <a:latin typeface="Arial"/>
                <a:ea typeface="Arial"/>
                <a:cs typeface="Arial"/>
              </a:endParaRPr>
            </a:p>
          </p:txBody>
        </p:sp>
        <p:sp>
          <p:nvSpPr>
            <p:cNvPr id="217" name="p4"/>
            <p:cNvSpPr/>
            <p:nvPr/>
          </p:nvSpPr>
          <p:spPr>
            <a:xfrm>
              <a:off x="2779776" y="6213348"/>
              <a:ext cx="2057400" cy="292608"/>
            </a:xfrm>
            <a:prstGeom prst="roundRect">
              <a:avLst/>
            </a:prstGeom>
            <a:solidFill>
              <a:srgbClr val="EAF2FB"/>
            </a:solidFill>
            <a:ln w="12700">
              <a:solidFill>
                <a:srgbClr val="2E75B6"/>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Phase 4 · Real-time dispatch</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15-min slots · charge/discharge</a:t>
              </a:r>
              <a:endParaRPr lang="en-US" dirty="0" sz="900">
                <a:solidFill>
                  <a:srgbClr val="000000"/>
                </a:solidFill>
                <a:latin typeface="Arial"/>
                <a:ea typeface="Arial"/>
                <a:cs typeface="Arial"/>
              </a:endParaRPr>
            </a:p>
          </p:txBody>
        </p:sp>
        <p:sp>
          <p:nvSpPr>
            <p:cNvPr id="218" name="title"/>
            <p:cNvSpPr txBox="1"/>
            <p:nvPr/>
          </p:nvSpPr>
          <p:spPr>
            <a:xfrm>
              <a:off x="356616" y="4686300"/>
              <a:ext cx="3840480" cy="173736"/>
            </a:xfrm>
            <a:prstGeom prst="rect">
              <a:avLst/>
            </a:prstGeom>
            <a:noFill/>
            <a:ln>
              <a:noFill/>
            </a:ln>
          </p:spPr>
          <p:txBody>
            <a:bodyPr wrap="square" lIns="0" tIns="0" rIns="0" bIns="0" anchor="ctr" rtlCol="0">
              <a:noAutofit/>
            </a:bodyPr>
            <a:lstStyle/>
            <a:p>
              <a:pPr algn="l"/>
              <a:r>
                <a:rPr lang="en-US" dirty="0" sz="1000" b="1">
                  <a:solidFill>
                    <a:srgbClr val="1F3864"/>
                  </a:solidFill>
                  <a:latin typeface="Arial"/>
                  <a:ea typeface="Arial"/>
                  <a:cs typeface="Arial"/>
                </a:rPr>
                <a:t>Task = (price distribution, vehicle-use distribution)</a:t>
              </a:r>
              <a:endParaRPr lang="en-US" dirty="0" sz="1000" b="1">
                <a:solidFill>
                  <a:srgbClr val="1F3864"/>
                </a:solidFill>
                <a:latin typeface="Arial"/>
                <a:ea typeface="Arial"/>
                <a:cs typeface="Arial"/>
              </a:endParaRPr>
            </a:p>
          </p:txBody>
        </p:sp>
        <p:sp>
          <p:nvSpPr>
            <p:cNvPr id="219" name="note"/>
            <p:cNvSpPr txBox="1"/>
            <p:nvPr/>
          </p:nvSpPr>
          <p:spPr>
            <a:xfrm>
              <a:off x="356616" y="4860036"/>
              <a:ext cx="3840480" cy="146304"/>
            </a:xfrm>
            <a:prstGeom prst="rect">
              <a:avLst/>
            </a:prstGeom>
            <a:noFill/>
            <a:ln>
              <a:noFill/>
            </a:ln>
          </p:spPr>
          <p:txBody>
            <a:bodyPr wrap="square" lIns="0" tIns="0" rIns="0" bIns="0" anchor="ctr" rtlCol="0">
              <a:noAutofit/>
            </a:bodyPr>
            <a:lstStyle/>
            <a:p>
              <a:pPr algn="l"/>
              <a:r>
                <a:rPr lang="en-US" dirty="0" sz="900">
                  <a:solidFill>
                    <a:srgbClr val="7F7F7F"/>
                  </a:solidFill>
                  <a:latin typeface="Arial"/>
                  <a:ea typeface="Arial"/>
                  <a:cs typeface="Arial"/>
                </a:rPr>
                <a:t>Drift boundaries are not disclosed to the agent</a:t>
              </a:r>
              <a:endParaRPr lang="en-US" dirty="0" sz="900">
                <a:solidFill>
                  <a:srgbClr val="7F7F7F"/>
                </a:solidFill>
                <a:latin typeface="Arial"/>
                <a:ea typeface="Arial"/>
                <a:cs typeface="Arial"/>
              </a:endParaRPr>
            </a:p>
          </p:txBody>
        </p:sp>
        <p:sp>
          <p:nvSpPr>
            <p:cNvPr id="220" name="a_name"/>
            <p:cNvSpPr txBox="1"/>
            <p:nvPr/>
          </p:nvSpPr>
          <p:spPr>
            <a:xfrm>
              <a:off x="411480" y="5079492"/>
              <a:ext cx="640080" cy="155448"/>
            </a:xfrm>
            <a:prstGeom prst="rect">
              <a:avLst/>
            </a:prstGeom>
            <a:noFill/>
            <a:ln>
              <a:noFill/>
            </a:ln>
          </p:spPr>
          <p:txBody>
            <a:bodyPr wrap="square" lIns="0" tIns="0" rIns="0" bIns="0" anchor="ctr" rtlCol="0">
              <a:noAutofit/>
            </a:bodyPr>
            <a:lstStyle/>
            <a:p>
              <a:pPr algn="l"/>
              <a:r>
                <a:rPr lang="en-US" dirty="0" sz="1000" b="1">
                  <a:solidFill>
                    <a:srgbClr val="1F3864"/>
                  </a:solidFill>
                  <a:latin typeface="Arial"/>
                  <a:ea typeface="Arial"/>
                  <a:cs typeface="Arial"/>
                </a:rPr>
                <a:t>Task A</a:t>
              </a:r>
              <a:endParaRPr lang="en-US" dirty="0" sz="1000" b="1">
                <a:solidFill>
                  <a:srgbClr val="1F3864"/>
                </a:solidFill>
                <a:latin typeface="Arial"/>
                <a:ea typeface="Arial"/>
                <a:cs typeface="Arial"/>
              </a:endParaRPr>
            </a:p>
          </p:txBody>
        </p:sp>
        <p:sp>
          <p:nvSpPr>
            <p:cNvPr id="221" name="a_axes"/>
            <p:cNvSpPr txBox="1"/>
            <p:nvPr/>
          </p:nvSpPr>
          <p:spPr>
            <a:xfrm>
              <a:off x="411480" y="5225796"/>
              <a:ext cx="1261872" cy="137160"/>
            </a:xfrm>
            <a:prstGeom prst="rect">
              <a:avLst/>
            </a:prstGeom>
            <a:noFill/>
            <a:ln>
              <a:noFill/>
            </a:ln>
          </p:spPr>
          <p:txBody>
            <a:bodyPr wrap="square" lIns="0" tIns="0" rIns="0" bIns="0" anchor="ctr" rtlCol="0">
              <a:noAutofit/>
            </a:bodyPr>
            <a:lstStyle/>
            <a:p>
              <a:pPr algn="l"/>
              <a:r>
                <a:rPr lang="en-US" dirty="0" sz="900">
                  <a:solidFill>
                    <a:srgbClr val="404040"/>
                  </a:solidFill>
                  <a:latin typeface="Arial"/>
                  <a:ea typeface="Arial"/>
                  <a:cs typeface="Arial"/>
                </a:rPr>
                <a:t>price A · vehicle use A</a:t>
              </a:r>
              <a:endParaRPr lang="en-US" dirty="0" sz="900">
                <a:solidFill>
                  <a:srgbClr val="404040"/>
                </a:solidFill>
                <a:latin typeface="Arial"/>
                <a:ea typeface="Arial"/>
                <a:cs typeface="Arial"/>
              </a:endParaRPr>
            </a:p>
          </p:txBody>
        </p:sp>
        <p:sp>
          <p:nvSpPr>
            <p:cNvPr id="222" name="b_name"/>
            <p:cNvSpPr txBox="1"/>
            <p:nvPr/>
          </p:nvSpPr>
          <p:spPr>
            <a:xfrm>
              <a:off x="2011680" y="5079492"/>
              <a:ext cx="640080" cy="155448"/>
            </a:xfrm>
            <a:prstGeom prst="rect">
              <a:avLst/>
            </a:prstGeom>
            <a:noFill/>
            <a:ln>
              <a:noFill/>
            </a:ln>
          </p:spPr>
          <p:txBody>
            <a:bodyPr wrap="square" lIns="0" tIns="0" rIns="0" bIns="0" anchor="ctr" rtlCol="0">
              <a:noAutofit/>
            </a:bodyPr>
            <a:lstStyle/>
            <a:p>
              <a:pPr algn="l"/>
              <a:r>
                <a:rPr lang="en-US" dirty="0" sz="1000" b="1">
                  <a:solidFill>
                    <a:srgbClr val="1F3864"/>
                  </a:solidFill>
                  <a:latin typeface="Arial"/>
                  <a:ea typeface="Arial"/>
                  <a:cs typeface="Arial"/>
                </a:rPr>
                <a:t>Task B</a:t>
              </a:r>
              <a:endParaRPr lang="en-US" dirty="0" sz="1000" b="1">
                <a:solidFill>
                  <a:srgbClr val="1F3864"/>
                </a:solidFill>
                <a:latin typeface="Arial"/>
                <a:ea typeface="Arial"/>
                <a:cs typeface="Arial"/>
              </a:endParaRPr>
            </a:p>
          </p:txBody>
        </p:sp>
        <p:sp>
          <p:nvSpPr>
            <p:cNvPr id="223" name="b_axes"/>
            <p:cNvSpPr txBox="1"/>
            <p:nvPr/>
          </p:nvSpPr>
          <p:spPr>
            <a:xfrm>
              <a:off x="2011680" y="5225796"/>
              <a:ext cx="1261872" cy="137160"/>
            </a:xfrm>
            <a:prstGeom prst="rect">
              <a:avLst/>
            </a:prstGeom>
            <a:noFill/>
            <a:ln>
              <a:noFill/>
            </a:ln>
          </p:spPr>
          <p:txBody>
            <a:bodyPr wrap="square" lIns="0" tIns="0" rIns="0" bIns="0" anchor="ctr" rtlCol="0">
              <a:noAutofit/>
            </a:bodyPr>
            <a:lstStyle/>
            <a:p>
              <a:pPr algn="l"/>
              <a:r>
                <a:rPr lang="en-US" dirty="0" sz="900">
                  <a:solidFill>
                    <a:srgbClr val="404040"/>
                  </a:solidFill>
                  <a:latin typeface="Arial"/>
                  <a:ea typeface="Arial"/>
                  <a:cs typeface="Arial"/>
                </a:rPr>
                <a:t>price B · vehicle use A</a:t>
              </a:r>
              <a:endParaRPr lang="en-US" dirty="0" sz="900">
                <a:solidFill>
                  <a:srgbClr val="404040"/>
                </a:solidFill>
                <a:latin typeface="Arial"/>
                <a:ea typeface="Arial"/>
                <a:cs typeface="Arial"/>
              </a:endParaRPr>
            </a:p>
          </p:txBody>
        </p:sp>
        <p:sp>
          <p:nvSpPr>
            <p:cNvPr id="224" name="c_name"/>
            <p:cNvSpPr txBox="1"/>
            <p:nvPr/>
          </p:nvSpPr>
          <p:spPr>
            <a:xfrm>
              <a:off x="3611880" y="5079492"/>
              <a:ext cx="640080" cy="155448"/>
            </a:xfrm>
            <a:prstGeom prst="rect">
              <a:avLst/>
            </a:prstGeom>
            <a:noFill/>
            <a:ln>
              <a:noFill/>
            </a:ln>
          </p:spPr>
          <p:txBody>
            <a:bodyPr wrap="square" lIns="0" tIns="0" rIns="0" bIns="0" anchor="ctr" rtlCol="0">
              <a:noAutofit/>
            </a:bodyPr>
            <a:lstStyle/>
            <a:p>
              <a:pPr algn="l"/>
              <a:r>
                <a:rPr lang="en-US" dirty="0" sz="1000" b="1">
                  <a:solidFill>
                    <a:srgbClr val="1F3864"/>
                  </a:solidFill>
                  <a:latin typeface="Arial"/>
                  <a:ea typeface="Arial"/>
                  <a:cs typeface="Arial"/>
                </a:rPr>
                <a:t>Task C</a:t>
              </a:r>
              <a:endParaRPr lang="en-US" dirty="0" sz="1000" b="1">
                <a:solidFill>
                  <a:srgbClr val="1F3864"/>
                </a:solidFill>
                <a:latin typeface="Arial"/>
                <a:ea typeface="Arial"/>
                <a:cs typeface="Arial"/>
              </a:endParaRPr>
            </a:p>
          </p:txBody>
        </p:sp>
        <p:sp>
          <p:nvSpPr>
            <p:cNvPr id="225" name="c_axes"/>
            <p:cNvSpPr txBox="1"/>
            <p:nvPr/>
          </p:nvSpPr>
          <p:spPr>
            <a:xfrm>
              <a:off x="3611880" y="5225796"/>
              <a:ext cx="1261872" cy="137160"/>
            </a:xfrm>
            <a:prstGeom prst="rect">
              <a:avLst/>
            </a:prstGeom>
            <a:noFill/>
            <a:ln>
              <a:noFill/>
            </a:ln>
          </p:spPr>
          <p:txBody>
            <a:bodyPr wrap="square" lIns="0" tIns="0" rIns="0" bIns="0" anchor="ctr" rtlCol="0">
              <a:noAutofit/>
            </a:bodyPr>
            <a:lstStyle/>
            <a:p>
              <a:pPr algn="l"/>
              <a:r>
                <a:rPr lang="en-US" dirty="0" sz="900">
                  <a:solidFill>
                    <a:srgbClr val="404040"/>
                  </a:solidFill>
                  <a:latin typeface="Arial"/>
                  <a:ea typeface="Arial"/>
                  <a:cs typeface="Arial"/>
                </a:rPr>
                <a:t>price B · vehicle use C</a:t>
              </a:r>
              <a:endParaRPr lang="en-US" dirty="0" sz="900">
                <a:solidFill>
                  <a:srgbClr val="404040"/>
                </a:solidFill>
                <a:latin typeface="Arial"/>
                <a:ea typeface="Arial"/>
                <a:cs typeface="Arial"/>
              </a:endParaRPr>
            </a:p>
          </p:txBody>
        </p:sp>
        <p:sp>
          <p:nvSpPr>
            <p:cNvPr id="226" name="a_dots"/>
            <p:cNvSpPr txBox="1"/>
            <p:nvPr/>
          </p:nvSpPr>
          <p:spPr>
            <a:xfrm>
              <a:off x="1143000" y="5372100"/>
              <a:ext cx="164592" cy="155448"/>
            </a:xfrm>
            <a:prstGeom prst="rect">
              <a:avLst/>
            </a:prstGeom>
            <a:noFill/>
            <a:ln>
              <a:noFill/>
            </a:ln>
          </p:spPr>
          <p:txBody>
            <a:bodyPr wrap="square" lIns="0" tIns="0" rIns="0" bIns="0" anchor="ctr" rtlCol="0">
              <a:noAutofit/>
            </a:bodyPr>
            <a:lstStyle/>
            <a:p>
              <a:pPr algn="ctr"/>
              <a:r>
                <a:rPr lang="en-US" dirty="0" sz="900">
                  <a:solidFill>
                    <a:srgbClr val="000000"/>
                  </a:solidFill>
                  <a:latin typeface="Arial"/>
                  <a:ea typeface="Arial"/>
                  <a:cs typeface="Arial"/>
                </a:rPr>
                <a:t>…</a:t>
              </a:r>
              <a:endParaRPr lang="en-US" dirty="0" sz="900">
                <a:solidFill>
                  <a:srgbClr val="000000"/>
                </a:solidFill>
                <a:latin typeface="Arial"/>
                <a:ea typeface="Arial"/>
                <a:cs typeface="Arial"/>
              </a:endParaRPr>
            </a:p>
          </p:txBody>
        </p:sp>
        <p:sp>
          <p:nvSpPr>
            <p:cNvPr id="227" name="b_dots"/>
            <p:cNvSpPr txBox="1"/>
            <p:nvPr/>
          </p:nvSpPr>
          <p:spPr>
            <a:xfrm>
              <a:off x="2743200" y="5372100"/>
              <a:ext cx="164592" cy="155448"/>
            </a:xfrm>
            <a:prstGeom prst="rect">
              <a:avLst/>
            </a:prstGeom>
            <a:noFill/>
            <a:ln>
              <a:noFill/>
            </a:ln>
          </p:spPr>
          <p:txBody>
            <a:bodyPr wrap="square" lIns="0" tIns="0" rIns="0" bIns="0" anchor="ctr" rtlCol="0">
              <a:noAutofit/>
            </a:bodyPr>
            <a:lstStyle/>
            <a:p>
              <a:pPr algn="ctr"/>
              <a:r>
                <a:rPr lang="en-US" dirty="0" sz="900">
                  <a:solidFill>
                    <a:srgbClr val="000000"/>
                  </a:solidFill>
                  <a:latin typeface="Arial"/>
                  <a:ea typeface="Arial"/>
                  <a:cs typeface="Arial"/>
                </a:rPr>
                <a:t>…</a:t>
              </a:r>
              <a:endParaRPr lang="en-US" dirty="0" sz="900">
                <a:solidFill>
                  <a:srgbClr val="000000"/>
                </a:solidFill>
                <a:latin typeface="Arial"/>
                <a:ea typeface="Arial"/>
                <a:cs typeface="Arial"/>
              </a:endParaRPr>
            </a:p>
          </p:txBody>
        </p:sp>
        <p:sp>
          <p:nvSpPr>
            <p:cNvPr id="228" name="c_dots"/>
            <p:cNvSpPr txBox="1"/>
            <p:nvPr/>
          </p:nvSpPr>
          <p:spPr>
            <a:xfrm>
              <a:off x="4343400" y="5372100"/>
              <a:ext cx="164592" cy="155448"/>
            </a:xfrm>
            <a:prstGeom prst="rect">
              <a:avLst/>
            </a:prstGeom>
            <a:noFill/>
            <a:ln>
              <a:noFill/>
            </a:ln>
          </p:spPr>
          <p:txBody>
            <a:bodyPr wrap="square" lIns="0" tIns="0" rIns="0" bIns="0" anchor="ctr" rtlCol="0">
              <a:noAutofit/>
            </a:bodyPr>
            <a:lstStyle/>
            <a:p>
              <a:pPr algn="ctr"/>
              <a:r>
                <a:rPr lang="en-US" dirty="0" sz="900">
                  <a:solidFill>
                    <a:srgbClr val="000000"/>
                  </a:solidFill>
                  <a:latin typeface="Arial"/>
                  <a:ea typeface="Arial"/>
                  <a:cs typeface="Arial"/>
                </a:rPr>
                <a:t>…</a:t>
              </a:r>
              <a:endParaRPr lang="en-US" dirty="0" sz="900">
                <a:solidFill>
                  <a:srgbClr val="000000"/>
                </a:solidFill>
                <a:latin typeface="Arial"/>
                <a:ea typeface="Arial"/>
                <a:cs typeface="Arial"/>
              </a:endParaRPr>
            </a:p>
          </p:txBody>
        </p:sp>
        <p:sp>
          <p:nvSpPr>
            <p:cNvPr id="229" name="drift_ab"/>
            <p:cNvSpPr txBox="1"/>
            <p:nvPr/>
          </p:nvSpPr>
          <p:spPr>
            <a:xfrm>
              <a:off x="1728216" y="5116068"/>
              <a:ext cx="228600" cy="155448"/>
            </a:xfrm>
            <a:prstGeom prst="rect">
              <a:avLst/>
            </a:prstGeom>
            <a:noFill/>
            <a:ln>
              <a:noFill/>
            </a:ln>
          </p:spPr>
          <p:txBody>
            <a:bodyPr wrap="square" lIns="0" tIns="0" rIns="0" bIns="0" anchor="b" rtlCol="0">
              <a:noAutofit/>
            </a:bodyPr>
            <a:lstStyle/>
            <a:p>
              <a:pPr algn="ctr"/>
              <a:r>
                <a:rPr lang="en-US" dirty="0" sz="900">
                  <a:solidFill>
                    <a:srgbClr val="404040"/>
                  </a:solidFill>
                  <a:latin typeface="Arial"/>
                  <a:ea typeface="Arial"/>
                  <a:cs typeface="Arial"/>
                </a:rPr>
                <a:t>drift</a:t>
              </a:r>
              <a:endParaRPr lang="en-US" dirty="0" sz="900">
                <a:solidFill>
                  <a:srgbClr val="404040"/>
                </a:solidFill>
                <a:latin typeface="Arial"/>
                <a:ea typeface="Arial"/>
                <a:cs typeface="Arial"/>
              </a:endParaRPr>
            </a:p>
          </p:txBody>
        </p:sp>
        <p:sp>
          <p:nvSpPr>
            <p:cNvPr id="230" name="drift_bc"/>
            <p:cNvSpPr txBox="1"/>
            <p:nvPr/>
          </p:nvSpPr>
          <p:spPr>
            <a:xfrm>
              <a:off x="3328416" y="5116068"/>
              <a:ext cx="228600" cy="155448"/>
            </a:xfrm>
            <a:prstGeom prst="rect">
              <a:avLst/>
            </a:prstGeom>
            <a:noFill/>
            <a:ln>
              <a:noFill/>
            </a:ln>
          </p:spPr>
          <p:txBody>
            <a:bodyPr wrap="square" lIns="0" tIns="0" rIns="0" bIns="0" anchor="b" rtlCol="0">
              <a:noAutofit/>
            </a:bodyPr>
            <a:lstStyle/>
            <a:p>
              <a:pPr algn="ctr"/>
              <a:r>
                <a:rPr lang="en-US" dirty="0" sz="900">
                  <a:solidFill>
                    <a:srgbClr val="404040"/>
                  </a:solidFill>
                  <a:latin typeface="Arial"/>
                  <a:ea typeface="Arial"/>
                  <a:cs typeface="Arial"/>
                </a:rPr>
                <a:t>drift</a:t>
              </a:r>
              <a:endParaRPr lang="en-US" dirty="0" sz="900">
                <a:solidFill>
                  <a:srgbClr val="404040"/>
                </a:solidFill>
                <a:latin typeface="Arial"/>
                <a:ea typeface="Arial"/>
                <a:cs typeface="Arial"/>
              </a:endParaRPr>
            </a:p>
          </p:txBody>
        </p:sp>
        <p:sp>
          <p:nvSpPr>
            <p:cNvPr id="231" name="day_label"/>
            <p:cNvSpPr txBox="1"/>
            <p:nvPr/>
          </p:nvSpPr>
          <p:spPr>
            <a:xfrm>
              <a:off x="1728216" y="5655564"/>
              <a:ext cx="1828800" cy="155448"/>
            </a:xfrm>
            <a:prstGeom prst="rect">
              <a:avLst/>
            </a:prstGeom>
            <a:noFill/>
            <a:ln>
              <a:noFill/>
            </a:ln>
          </p:spPr>
          <p:txBody>
            <a:bodyPr wrap="square" lIns="0" tIns="0" rIns="0" bIns="0" anchor="ctr" rtlCol="0">
              <a:noAutofit/>
            </a:bodyPr>
            <a:lstStyle/>
            <a:p>
              <a:pPr algn="ctr"/>
              <a:r>
                <a:rPr lang="en-US" dirty="0" sz="950" b="1">
                  <a:solidFill>
                    <a:srgbClr val="1F3864"/>
                  </a:solidFill>
                  <a:latin typeface="Arial"/>
                  <a:ea typeface="Arial"/>
                  <a:cs typeface="Arial"/>
                </a:rPr>
                <a:t>episode = one operating day</a:t>
              </a:r>
              <a:endParaRPr lang="en-US" dirty="0" sz="950" b="1">
                <a:solidFill>
                  <a:srgbClr val="1F3864"/>
                </a:solidFill>
                <a:latin typeface="Arial"/>
                <a:ea typeface="Arial"/>
                <a:cs typeface="Arial"/>
              </a:endParaRPr>
            </a:p>
          </p:txBody>
        </p:sp>
        <p:cxnSp>
          <p:nvCxnSpPr>
            <p:cNvPr id="232" name="line1"/>
            <p:cNvCxnSpPr/>
            <p:nvPr/>
          </p:nvCxnSpPr>
          <p:spPr>
            <a:xfrm flipH="1">
              <a:off x="356616" y="5527548"/>
              <a:ext cx="2020824" cy="109728"/>
            </a:xfrm>
            <a:prstGeom prst="straightConnector1">
              <a:avLst/>
            </a:prstGeom>
            <a:ln w="9525">
              <a:solidFill>
                <a:srgbClr val="7F7F7F"/>
              </a:solidFill>
              <a:prstDash val="lgDash"/>
            </a:ln>
          </p:spPr>
        </p:cxnSp>
        <p:cxnSp>
          <p:nvCxnSpPr>
            <p:cNvPr id="233" name="line2"/>
            <p:cNvCxnSpPr/>
            <p:nvPr/>
          </p:nvCxnSpPr>
          <p:spPr>
            <a:xfrm>
              <a:off x="2706624" y="5527548"/>
              <a:ext cx="2221992" cy="109728"/>
            </a:xfrm>
            <a:prstGeom prst="straightConnector1">
              <a:avLst/>
            </a:prstGeom>
            <a:ln w="9525">
              <a:solidFill>
                <a:srgbClr val="7F7F7F"/>
              </a:solidFill>
              <a:prstDash val="lgDash"/>
            </a:ln>
          </p:spPr>
        </p:cxnSp>
        <p:cxnSp>
          <p:nvCxnSpPr>
            <p:cNvPr id="234" name="edge task_a-task_b"/>
            <p:cNvCxnSpPr>
              <a:stCxn id="201" idx="3"/>
              <a:endCxn id="202" idx="1"/>
            </p:cNvCxnSpPr>
            <p:nvPr/>
          </p:nvCxnSpPr>
          <p:spPr>
            <a:xfrm>
              <a:off x="1728216" y="5308092"/>
              <a:ext cx="228600" cy="0"/>
            </a:xfrm>
            <a:prstGeom prst="straightConnector1">
              <a:avLst/>
            </a:prstGeom>
            <a:ln w="12700">
              <a:solidFill>
                <a:srgbClr val="595959"/>
              </a:solidFill>
              <a:prstDash val="solid"/>
              <a:tailEnd type="triangle" w="med" len="med"/>
            </a:ln>
          </p:spPr>
        </p:cxnSp>
        <p:cxnSp>
          <p:nvCxnSpPr>
            <p:cNvPr id="235" name="edge task_b-task_c"/>
            <p:cNvCxnSpPr>
              <a:stCxn id="202" idx="3"/>
              <a:endCxn id="203" idx="1"/>
            </p:cNvCxnSpPr>
            <p:nvPr/>
          </p:nvCxnSpPr>
          <p:spPr>
            <a:xfrm>
              <a:off x="3328416" y="5308092"/>
              <a:ext cx="228600" cy="0"/>
            </a:xfrm>
            <a:prstGeom prst="straightConnector1">
              <a:avLst/>
            </a:prstGeom>
            <a:ln w="12700">
              <a:solidFill>
                <a:srgbClr val="595959"/>
              </a:solidFill>
              <a:prstDash val="solid"/>
              <a:tailEnd type="triangle" w="med" len="med"/>
            </a:ln>
          </p:spPr>
        </p:cxnSp>
        <p:cxnSp>
          <p:nvCxnSpPr>
            <p:cNvPr id="236" name="edge p1-p2"/>
            <p:cNvCxnSpPr>
              <a:stCxn id="214" idx="3"/>
              <a:endCxn id="215" idx="1"/>
            </p:cNvCxnSpPr>
            <p:nvPr/>
          </p:nvCxnSpPr>
          <p:spPr>
            <a:xfrm>
              <a:off x="2505456" y="5975604"/>
              <a:ext cx="274320" cy="0"/>
            </a:xfrm>
            <a:prstGeom prst="straightConnector1">
              <a:avLst/>
            </a:prstGeom>
            <a:ln w="12700">
              <a:solidFill>
                <a:srgbClr val="595959"/>
              </a:solidFill>
              <a:prstDash val="solid"/>
              <a:tailEnd type="triangle" w="med" len="med"/>
            </a:ln>
          </p:spPr>
        </p:cxnSp>
        <p:cxnSp>
          <p:nvCxnSpPr>
            <p:cNvPr id="237" name="edge p3-p4"/>
            <p:cNvCxnSpPr>
              <a:stCxn id="216" idx="3"/>
              <a:endCxn id="217" idx="1"/>
            </p:cNvCxnSpPr>
            <p:nvPr/>
          </p:nvCxnSpPr>
          <p:spPr>
            <a:xfrm>
              <a:off x="2505456" y="6359652"/>
              <a:ext cx="274320" cy="0"/>
            </a:xfrm>
            <a:prstGeom prst="straightConnector1">
              <a:avLst/>
            </a:prstGeom>
            <a:ln w="12700">
              <a:solidFill>
                <a:srgbClr val="595959"/>
              </a:solidFill>
              <a:prstDash val="solid"/>
              <a:tailEnd type="triangle" w="med" len="med"/>
            </a:ln>
          </p:spPr>
        </p:cxnSp>
        <p:cxnSp>
          <p:nvCxnSpPr>
            <p:cNvPr id="238" name="edge p2-p3"/>
            <p:cNvCxnSpPr>
              <a:stCxn id="215" idx="2"/>
              <a:endCxn id="216" idx="0"/>
            </p:cNvCxnSpPr>
            <p:nvPr/>
          </p:nvCxnSpPr>
          <p:spPr>
            <a:xfrm rot="5400000">
              <a:off x="2596896" y="5001768"/>
              <a:ext cx="91440" cy="2331720"/>
            </a:xfrm>
            <a:prstGeom prst="bentConnector3">
              <a:avLst>
                <a:gd name="adj1" fmla="val 50000"/>
              </a:avLst>
            </a:prstGeom>
            <a:ln w="12700">
              <a:solidFill>
                <a:srgbClr val="595959"/>
              </a:solidFill>
              <a:prstDash val="solid"/>
              <a:tailEnd type="triangle" w="sm" len="sm"/>
            </a:ln>
          </p:spPr>
        </p:cxnSp>
      </p:grpSp>
      <p:grpSp>
        <p:nvGrpSpPr>
          <p:cNvPr id="239" name="fig_agentv2g_design"/>
          <p:cNvGrpSpPr/>
          <p:nvPr/>
        </p:nvGrpSpPr>
        <p:grpSpPr>
          <a:xfrm>
            <a:off x="5157216" y="4282135"/>
            <a:ext cx="4617720" cy="1847088"/>
            <a:chOff x="5157216" y="4686300"/>
            <a:chExt cx="4617720" cy="1847088"/>
          </a:xfrm>
        </p:grpSpPr>
        <p:sp>
          <p:nvSpPr>
            <p:cNvPr id="240" name="panel_d"/>
            <p:cNvSpPr/>
            <p:nvPr/>
          </p:nvSpPr>
          <p:spPr>
            <a:xfrm>
              <a:off x="5157216" y="4686300"/>
              <a:ext cx="4617720" cy="786384"/>
            </a:xfrm>
            <a:prstGeom prst="roundRect">
              <a:avLst>
                <a:gd name="adj" fmla="val 6977"/>
              </a:avLst>
            </a:prstGeom>
            <a:noFill/>
            <a:ln w="9525">
              <a:solidFill>
                <a:srgbClr val="7F7F7F"/>
              </a:solidFill>
              <a:prstDash val="lgDash"/>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41" name="drift"/>
            <p:cNvSpPr/>
            <p:nvPr/>
          </p:nvSpPr>
          <p:spPr>
            <a:xfrm>
              <a:off x="5980176" y="4878324"/>
              <a:ext cx="987552" cy="548640"/>
            </a:xfrm>
            <a:prstGeom prst="roundRect">
              <a:avLst/>
            </a:prstGeom>
            <a:solidFill>
              <a:srgbClr val="EAF2FB"/>
            </a:solidFill>
            <a:ln w="12700">
              <a:solidFill>
                <a:srgbClr val="2E75B6"/>
              </a:solidFill>
              <a:prstDash val="solid"/>
            </a:ln>
          </p:spPr>
          <p:txBody>
            <a:bodyPr wrap="square" lIns="18288" tIns="18288" rIns="18288" bIns="18288" anchor="ctr" rtlCol="0">
              <a:noAutofit/>
            </a:bodyPr>
            <a:lstStyle/>
            <a:p>
              <a:pPr algn="ctr"/>
              <a:r>
                <a:rPr lang="en-US" dirty="0" sz="900" b="1">
                  <a:solidFill>
                    <a:srgbClr val="000000"/>
                  </a:solidFill>
                  <a:latin typeface="Arial"/>
                  <a:ea typeface="Arial"/>
                  <a:cs typeface="Arial"/>
                </a:rPr>
                <a:t>Drift detection</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per axis</a:t>
              </a:r>
              <a:endParaRPr lang="en-US" dirty="0" sz="900">
                <a:solidFill>
                  <a:srgbClr val="000000"/>
                </a:solidFill>
                <a:latin typeface="Arial"/>
                <a:ea typeface="Arial"/>
                <a:cs typeface="Arial"/>
              </a:endParaRPr>
            </a:p>
          </p:txBody>
        </p:sp>
        <p:sp>
          <p:nvSpPr>
            <p:cNvPr id="242" name="select"/>
            <p:cNvSpPr/>
            <p:nvPr/>
          </p:nvSpPr>
          <p:spPr>
            <a:xfrm>
              <a:off x="7114032" y="4878324"/>
              <a:ext cx="914400" cy="548640"/>
            </a:xfrm>
            <a:prstGeom prst="roundRect">
              <a:avLst/>
            </a:prstGeom>
            <a:solidFill>
              <a:srgbClr val="EAF2FB"/>
            </a:solidFill>
            <a:ln w="12700">
              <a:solidFill>
                <a:srgbClr val="2E75B6"/>
              </a:solidFill>
              <a:prstDash val="solid"/>
            </a:ln>
          </p:spPr>
          <p:txBody>
            <a:bodyPr wrap="square" lIns="18288" tIns="18288" rIns="18288" bIns="18288" anchor="ctr" rtlCol="0">
              <a:noAutofit/>
            </a:bodyPr>
            <a:lstStyle/>
            <a:p>
              <a:pPr algn="ctr"/>
              <a:r>
                <a:rPr lang="en-US" dirty="0" sz="900" b="1">
                  <a:solidFill>
                    <a:srgbClr val="000000"/>
                  </a:solidFill>
                  <a:latin typeface="Arial"/>
                  <a:ea typeface="Arial"/>
                  <a:cs typeface="Arial"/>
                </a:rPr>
                <a:t>Tool selection</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or creation</a:t>
              </a:r>
              <a:endParaRPr lang="en-US" dirty="0" sz="900">
                <a:solidFill>
                  <a:srgbClr val="000000"/>
                </a:solidFill>
                <a:latin typeface="Arial"/>
                <a:ea typeface="Arial"/>
                <a:cs typeface="Arial"/>
              </a:endParaRPr>
            </a:p>
          </p:txBody>
        </p:sp>
        <p:sp>
          <p:nvSpPr>
            <p:cNvPr id="243" name="tool_price"/>
            <p:cNvSpPr/>
            <p:nvPr/>
          </p:nvSpPr>
          <p:spPr>
            <a:xfrm>
              <a:off x="8193024" y="4878324"/>
              <a:ext cx="1517904" cy="164592"/>
            </a:xfrm>
            <a:prstGeom prst="roundRect">
              <a:avLst/>
            </a:prstGeom>
            <a:solidFill>
              <a:srgbClr val="FFFFFF"/>
            </a:solidFill>
            <a:ln w="9525">
              <a:solidFill>
                <a:srgbClr val="5A6378"/>
              </a:solidFill>
              <a:prstDash val="solid"/>
            </a:ln>
          </p:spPr>
          <p:txBody>
            <a:bodyPr wrap="square" lIns="9144" tIns="9144" rIns="9144" bIns="9144" anchor="ctr" rtlCol="0">
              <a:noAutofit/>
            </a:bodyPr>
            <a:lstStyle/>
            <a:p>
              <a:pPr algn="ctr"/>
              <a:r>
                <a:rPr lang="en-US" dirty="0" sz="900">
                  <a:solidFill>
                    <a:srgbClr val="000000"/>
                  </a:solidFill>
                  <a:latin typeface="Arial"/>
                  <a:ea typeface="Arial"/>
                  <a:cs typeface="Arial"/>
                </a:rPr>
                <a:t>Price-forecast correction</a:t>
              </a:r>
              <a:endParaRPr lang="en-US" dirty="0" sz="900">
                <a:solidFill>
                  <a:srgbClr val="000000"/>
                </a:solidFill>
                <a:latin typeface="Arial"/>
                <a:ea typeface="Arial"/>
                <a:cs typeface="Arial"/>
              </a:endParaRPr>
            </a:p>
          </p:txBody>
        </p:sp>
        <p:sp>
          <p:nvSpPr>
            <p:cNvPr id="244" name="tool_new"/>
            <p:cNvSpPr/>
            <p:nvPr/>
          </p:nvSpPr>
          <p:spPr>
            <a:xfrm>
              <a:off x="8193024" y="5070348"/>
              <a:ext cx="1517904" cy="164592"/>
            </a:xfrm>
            <a:prstGeom prst="roundRect">
              <a:avLst/>
            </a:prstGeom>
            <a:solidFill>
              <a:srgbClr val="FFFFFF"/>
            </a:solidFill>
            <a:ln w="9525">
              <a:solidFill>
                <a:srgbClr val="5A6378"/>
              </a:solidFill>
              <a:prstDash val="dash"/>
            </a:ln>
          </p:spPr>
          <p:txBody>
            <a:bodyPr wrap="square" lIns="9144" tIns="9144" rIns="9144" bIns="9144" anchor="ctr" rtlCol="0">
              <a:noAutofit/>
            </a:bodyPr>
            <a:lstStyle/>
            <a:p>
              <a:pPr algn="ctr"/>
              <a:r>
                <a:rPr lang="en-US" dirty="0" sz="900">
                  <a:solidFill>
                    <a:srgbClr val="000000"/>
                  </a:solidFill>
                  <a:latin typeface="Arial"/>
                  <a:ea typeface="Arial"/>
                  <a:cs typeface="Arial"/>
                </a:rPr>
                <a:t>New tool if none fits</a:t>
              </a:r>
              <a:endParaRPr lang="en-US" dirty="0" sz="900">
                <a:solidFill>
                  <a:srgbClr val="000000"/>
                </a:solidFill>
                <a:latin typeface="Arial"/>
                <a:ea typeface="Arial"/>
                <a:cs typeface="Arial"/>
              </a:endParaRPr>
            </a:p>
          </p:txBody>
        </p:sp>
        <p:sp>
          <p:nvSpPr>
            <p:cNvPr id="245" name="tool_rl"/>
            <p:cNvSpPr/>
            <p:nvPr/>
          </p:nvSpPr>
          <p:spPr>
            <a:xfrm>
              <a:off x="8193024" y="5262372"/>
              <a:ext cx="1517904" cy="164592"/>
            </a:xfrm>
            <a:prstGeom prst="roundRect">
              <a:avLst/>
            </a:prstGeom>
            <a:solidFill>
              <a:srgbClr val="D0D5DD"/>
            </a:solidFill>
            <a:ln w="12700">
              <a:solidFill>
                <a:srgbClr val="5A6378"/>
              </a:solidFill>
              <a:prstDash val="solid"/>
            </a:ln>
          </p:spPr>
          <p:txBody>
            <a:bodyPr wrap="square" lIns="9144" tIns="9144" rIns="9144" bIns="9144" anchor="ctr" rtlCol="0">
              <a:noAutofit/>
            </a:bodyPr>
            <a:lstStyle/>
            <a:p>
              <a:pPr algn="ctr"/>
              <a:r>
                <a:rPr lang="en-US" dirty="0" sz="900">
                  <a:solidFill>
                    <a:srgbClr val="000000"/>
                  </a:solidFill>
                  <a:latin typeface="Arial"/>
                  <a:ea typeface="Arial"/>
                  <a:cs typeface="Arial"/>
                </a:rPr>
                <a:t>RL scheduler per condition</a:t>
              </a:r>
              <a:endParaRPr lang="en-US" dirty="0" sz="900">
                <a:solidFill>
                  <a:srgbClr val="000000"/>
                </a:solidFill>
                <a:latin typeface="Arial"/>
                <a:ea typeface="Arial"/>
                <a:cs typeface="Arial"/>
              </a:endParaRPr>
            </a:p>
          </p:txBody>
        </p:sp>
        <p:sp>
          <p:nvSpPr>
            <p:cNvPr id="246" name="panel_r"/>
            <p:cNvSpPr/>
            <p:nvPr/>
          </p:nvSpPr>
          <p:spPr>
            <a:xfrm>
              <a:off x="5157216" y="5545836"/>
              <a:ext cx="4617720" cy="987552"/>
            </a:xfrm>
            <a:prstGeom prst="roundRect">
              <a:avLst>
                <a:gd name="adj" fmla="val 5556"/>
              </a:avLst>
            </a:prstGeom>
            <a:noFill/>
            <a:ln w="9525">
              <a:solidFill>
                <a:srgbClr val="7F7F7F"/>
              </a:solidFill>
              <a:prstDash val="lgDash"/>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47" name="obs"/>
            <p:cNvSpPr/>
            <p:nvPr/>
          </p:nvSpPr>
          <p:spPr>
            <a:xfrm>
              <a:off x="5230368" y="5783580"/>
              <a:ext cx="676656" cy="310896"/>
            </a:xfrm>
            <a:prstGeom prst="roundRect">
              <a:avLst/>
            </a:prstGeom>
            <a:solidFill>
              <a:srgbClr val="F2F4F7"/>
            </a:solidFill>
            <a:ln w="9525">
              <a:solidFill>
                <a:srgbClr val="5A6378"/>
              </a:solidFill>
              <a:prstDash val="solid"/>
            </a:ln>
          </p:spPr>
          <p:txBody>
            <a:bodyPr wrap="square" lIns="9144" tIns="9144" rIns="9144" bIns="9144" anchor="ctr" rtlCol="0">
              <a:noAutofit/>
            </a:bodyPr>
            <a:lstStyle/>
            <a:p>
              <a:pPr algn="ctr"/>
              <a:r>
                <a:rPr lang="en-US" dirty="0" sz="900">
                  <a:solidFill>
                    <a:srgbClr val="000000"/>
                  </a:solidFill>
                  <a:latin typeface="Arial"/>
                  <a:ea typeface="Arial"/>
                  <a:cs typeface="Arial"/>
                </a:rPr>
                <a:t>Each EV's</a:t>
              </a:r>
              <a:endParaRPr lang="en-US" dirty="0" sz="900">
                <a:solidFill>
                  <a:srgbClr val="000000"/>
                </a:solidFill>
                <a:latin typeface="Arial"/>
                <a:ea typeface="Arial"/>
                <a:cs typeface="Arial"/>
              </a:endParaRPr>
            </a:p>
            <a:p>
              <a:pPr algn="ctr"/>
              <a:r>
                <a:rPr lang="en-US" dirty="0" sz="900">
                  <a:solidFill>
                    <a:srgbClr val="000000"/>
                  </a:solidFill>
                  <a:latin typeface="Arial"/>
                  <a:ea typeface="Arial"/>
                  <a:cs typeface="Arial"/>
                </a:rPr>
                <a:t>observation</a:t>
              </a:r>
              <a:endParaRPr lang="en-US" dirty="0" sz="900">
                <a:solidFill>
                  <a:srgbClr val="000000"/>
                </a:solidFill>
                <a:latin typeface="Arial"/>
                <a:ea typeface="Arial"/>
                <a:cs typeface="Arial"/>
              </a:endParaRPr>
            </a:p>
          </p:txBody>
        </p:sp>
        <p:sp>
          <p:nvSpPr>
            <p:cNvPr id="248" name="mlp"/>
            <p:cNvSpPr/>
            <p:nvPr/>
          </p:nvSpPr>
          <p:spPr>
            <a:xfrm>
              <a:off x="5998464" y="5783580"/>
              <a:ext cx="731520" cy="310896"/>
            </a:xfrm>
            <a:prstGeom prst="roundRect">
              <a:avLst/>
            </a:prstGeom>
            <a:solidFill>
              <a:srgbClr val="EAF2FB"/>
            </a:solidFill>
            <a:ln w="12700">
              <a:solidFill>
                <a:srgbClr val="2E75B6"/>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Shared MLP</a:t>
              </a:r>
              <a:endParaRPr lang="en-US" dirty="0" sz="900" b="1">
                <a:solidFill>
                  <a:srgbClr val="000000"/>
                </a:solidFill>
                <a:latin typeface="Arial"/>
                <a:ea typeface="Arial"/>
                <a:cs typeface="Arial"/>
              </a:endParaRPr>
            </a:p>
          </p:txBody>
        </p:sp>
        <p:sp>
          <p:nvSpPr>
            <p:cNvPr id="249" name="head"/>
            <p:cNvSpPr/>
            <p:nvPr/>
          </p:nvSpPr>
          <p:spPr>
            <a:xfrm>
              <a:off x="7644384" y="5783580"/>
              <a:ext cx="1115568" cy="310896"/>
            </a:xfrm>
            <a:prstGeom prst="roundRect">
              <a:avLst/>
            </a:prstGeom>
            <a:solidFill>
              <a:srgbClr val="EAF2FB"/>
            </a:solidFill>
            <a:ln w="12700">
              <a:solidFill>
                <a:srgbClr val="2E75B6"/>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Shared policy head</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local + fleet</a:t>
              </a:r>
              <a:endParaRPr lang="en-US" dirty="0" sz="900">
                <a:solidFill>
                  <a:srgbClr val="000000"/>
                </a:solidFill>
                <a:latin typeface="Arial"/>
                <a:ea typeface="Arial"/>
                <a:cs typeface="Arial"/>
              </a:endParaRPr>
            </a:p>
          </p:txBody>
        </p:sp>
        <p:sp>
          <p:nvSpPr>
            <p:cNvPr id="250" name="out"/>
            <p:cNvSpPr/>
            <p:nvPr/>
          </p:nvSpPr>
          <p:spPr>
            <a:xfrm>
              <a:off x="8851392" y="5783580"/>
              <a:ext cx="859536" cy="310896"/>
            </a:xfrm>
            <a:prstGeom prst="roundRect">
              <a:avLst/>
            </a:prstGeom>
            <a:solidFill>
              <a:srgbClr val="FFFFFF"/>
            </a:solidFill>
            <a:ln w="9525">
              <a:solidFill>
                <a:srgbClr val="5A6378"/>
              </a:solidFill>
              <a:prstDash val="solid"/>
            </a:ln>
          </p:spPr>
          <p:txBody>
            <a:bodyPr wrap="square" lIns="9144" tIns="9144" rIns="9144" bIns="9144" anchor="ctr" rtlCol="0">
              <a:noAutofit/>
            </a:bodyPr>
            <a:lstStyle/>
            <a:p>
              <a:pPr algn="ctr"/>
              <a:r>
                <a:rPr lang="en-US" dirty="0" sz="900">
                  <a:solidFill>
                    <a:srgbClr val="000000"/>
                  </a:solidFill>
                  <a:latin typeface="Arial"/>
                  <a:ea typeface="Arial"/>
                  <a:cs typeface="Arial"/>
                </a:rPr>
                <a:t>charge or</a:t>
              </a:r>
              <a:endParaRPr lang="en-US" dirty="0" sz="900">
                <a:solidFill>
                  <a:srgbClr val="000000"/>
                </a:solidFill>
                <a:latin typeface="Arial"/>
                <a:ea typeface="Arial"/>
                <a:cs typeface="Arial"/>
              </a:endParaRPr>
            </a:p>
            <a:p>
              <a:pPr algn="ctr"/>
              <a:r>
                <a:rPr lang="en-US" dirty="0" sz="900">
                  <a:solidFill>
                    <a:srgbClr val="000000"/>
                  </a:solidFill>
                  <a:latin typeface="Arial"/>
                  <a:ea typeface="Arial"/>
                  <a:cs typeface="Arial"/>
                </a:rPr>
                <a:t>discharge ratio</a:t>
              </a:r>
              <a:endParaRPr lang="en-US" dirty="0" sz="900">
                <a:solidFill>
                  <a:srgbClr val="000000"/>
                </a:solidFill>
                <a:latin typeface="Arial"/>
                <a:ea typeface="Arial"/>
                <a:cs typeface="Arial"/>
              </a:endParaRPr>
            </a:p>
          </p:txBody>
        </p:sp>
        <p:sp>
          <p:nvSpPr>
            <p:cNvPr id="251" name="mean"/>
            <p:cNvSpPr/>
            <p:nvPr/>
          </p:nvSpPr>
          <p:spPr>
            <a:xfrm>
              <a:off x="6711696" y="6185916"/>
              <a:ext cx="457200" cy="201168"/>
            </a:xfrm>
            <a:prstGeom prst="roundRect">
              <a:avLst/>
            </a:prstGeom>
            <a:solidFill>
              <a:srgbClr val="FFFFFF"/>
            </a:solidFill>
            <a:ln w="9525">
              <a:solidFill>
                <a:srgbClr val="5A6378"/>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Mean</a:t>
              </a:r>
              <a:endParaRPr lang="en-US" dirty="0" sz="900" b="1">
                <a:solidFill>
                  <a:srgbClr val="000000"/>
                </a:solidFill>
                <a:latin typeface="Arial"/>
                <a:ea typeface="Arial"/>
                <a:cs typeface="Arial"/>
              </a:endParaRPr>
            </a:p>
          </p:txBody>
        </p:sp>
        <p:sp>
          <p:nvSpPr>
            <p:cNvPr id="252" name="hd_d"/>
            <p:cNvSpPr txBox="1"/>
            <p:nvPr/>
          </p:nvSpPr>
          <p:spPr>
            <a:xfrm>
              <a:off x="5230368" y="4704588"/>
              <a:ext cx="1280160" cy="155448"/>
            </a:xfrm>
            <a:prstGeom prst="rect">
              <a:avLst/>
            </a:prstGeom>
            <a:noFill/>
            <a:ln>
              <a:noFill/>
            </a:ln>
          </p:spPr>
          <p:txBody>
            <a:bodyPr wrap="square" lIns="0" tIns="0" rIns="0" bIns="0" anchor="ctr" rtlCol="0">
              <a:noAutofit/>
            </a:bodyPr>
            <a:lstStyle/>
            <a:p>
              <a:pPr algn="l"/>
              <a:r>
                <a:rPr lang="en-US" dirty="0" sz="950" b="1">
                  <a:solidFill>
                    <a:srgbClr val="1F3864"/>
                  </a:solidFill>
                  <a:latin typeface="Arial"/>
                  <a:ea typeface="Arial"/>
                  <a:cs typeface="Arial"/>
                </a:rPr>
                <a:t>Design — LLM agent</a:t>
              </a:r>
              <a:endParaRPr lang="en-US" dirty="0" sz="950" b="1">
                <a:solidFill>
                  <a:srgbClr val="1F3864"/>
                </a:solidFill>
                <a:latin typeface="Arial"/>
                <a:ea typeface="Arial"/>
                <a:cs typeface="Arial"/>
              </a:endParaRPr>
            </a:p>
          </p:txBody>
        </p:sp>
        <p:sp>
          <p:nvSpPr>
            <p:cNvPr id="253" name="in_price"/>
            <p:cNvSpPr txBox="1"/>
            <p:nvPr/>
          </p:nvSpPr>
          <p:spPr>
            <a:xfrm>
              <a:off x="5193792" y="4878324"/>
              <a:ext cx="640080" cy="164592"/>
            </a:xfrm>
            <a:prstGeom prst="rect">
              <a:avLst/>
            </a:prstGeom>
            <a:noFill/>
            <a:ln>
              <a:noFill/>
            </a:ln>
          </p:spPr>
          <p:txBody>
            <a:bodyPr wrap="square" lIns="0" tIns="0" rIns="0" bIns="0" anchor="ctr" rtlCol="0">
              <a:noAutofit/>
            </a:bodyPr>
            <a:lstStyle/>
            <a:p>
              <a:pPr algn="r"/>
              <a:r>
                <a:rPr lang="en-US" dirty="0" sz="900">
                  <a:solidFill>
                    <a:srgbClr val="404040"/>
                  </a:solidFill>
                  <a:latin typeface="Arial"/>
                  <a:ea typeface="Arial"/>
                  <a:cs typeface="Arial"/>
                </a:rPr>
                <a:t>price</a:t>
              </a:r>
              <a:endParaRPr lang="en-US" dirty="0" sz="900">
                <a:solidFill>
                  <a:srgbClr val="404040"/>
                </a:solidFill>
                <a:latin typeface="Arial"/>
                <a:ea typeface="Arial"/>
                <a:cs typeface="Arial"/>
              </a:endParaRPr>
            </a:p>
          </p:txBody>
        </p:sp>
        <p:sp>
          <p:nvSpPr>
            <p:cNvPr id="254" name="in_vehicle"/>
            <p:cNvSpPr txBox="1"/>
            <p:nvPr/>
          </p:nvSpPr>
          <p:spPr>
            <a:xfrm>
              <a:off x="5193792" y="5262372"/>
              <a:ext cx="640080" cy="164592"/>
            </a:xfrm>
            <a:prstGeom prst="rect">
              <a:avLst/>
            </a:prstGeom>
            <a:noFill/>
            <a:ln>
              <a:noFill/>
            </a:ln>
          </p:spPr>
          <p:txBody>
            <a:bodyPr wrap="square" lIns="0" tIns="0" rIns="0" bIns="0" anchor="ctr" rtlCol="0">
              <a:noAutofit/>
            </a:bodyPr>
            <a:lstStyle/>
            <a:p>
              <a:pPr algn="r"/>
              <a:r>
                <a:rPr lang="en-US" dirty="0" sz="900">
                  <a:solidFill>
                    <a:srgbClr val="404040"/>
                  </a:solidFill>
                  <a:latin typeface="Arial"/>
                  <a:ea typeface="Arial"/>
                  <a:cs typeface="Arial"/>
                </a:rPr>
                <a:t>vehicle use</a:t>
              </a:r>
              <a:endParaRPr lang="en-US" dirty="0" sz="900">
                <a:solidFill>
                  <a:srgbClr val="404040"/>
                </a:solidFill>
                <a:latin typeface="Arial"/>
                <a:ea typeface="Arial"/>
                <a:cs typeface="Arial"/>
              </a:endParaRPr>
            </a:p>
          </p:txBody>
        </p:sp>
        <p:sp>
          <p:nvSpPr>
            <p:cNvPr id="255" name="hd_r"/>
            <p:cNvSpPr txBox="1"/>
            <p:nvPr/>
          </p:nvSpPr>
          <p:spPr>
            <a:xfrm>
              <a:off x="5230368" y="5564124"/>
              <a:ext cx="3017520" cy="155448"/>
            </a:xfrm>
            <a:prstGeom prst="rect">
              <a:avLst/>
            </a:prstGeom>
            <a:noFill/>
            <a:ln>
              <a:noFill/>
            </a:ln>
          </p:spPr>
          <p:txBody>
            <a:bodyPr wrap="square" lIns="0" tIns="0" rIns="0" bIns="0" anchor="ctr" rtlCol="0">
              <a:noAutofit/>
            </a:bodyPr>
            <a:lstStyle/>
            <a:p>
              <a:pPr algn="l"/>
              <a:r>
                <a:rPr lang="en-US" dirty="0" sz="950" b="1">
                  <a:solidFill>
                    <a:srgbClr val="1F3864"/>
                  </a:solidFill>
                  <a:latin typeface="Arial"/>
                  <a:ea typeface="Arial"/>
                  <a:cs typeface="Arial"/>
                </a:rPr>
                <a:t>RL scheduler — SAC policy for real-time dispatch</a:t>
              </a:r>
              <a:endParaRPr lang="en-US" dirty="0" sz="950" b="1">
                <a:solidFill>
                  <a:srgbClr val="1F3864"/>
                </a:solidFill>
                <a:latin typeface="Arial"/>
                <a:ea typeface="Arial"/>
                <a:cs typeface="Arial"/>
              </a:endParaRPr>
            </a:p>
          </p:txBody>
        </p:sp>
        <p:sp>
          <p:nvSpPr>
            <p:cNvPr id="256" name="lbl_local"/>
            <p:cNvSpPr txBox="1"/>
            <p:nvPr/>
          </p:nvSpPr>
          <p:spPr>
            <a:xfrm>
              <a:off x="6748272" y="5737860"/>
              <a:ext cx="877824" cy="146304"/>
            </a:xfrm>
            <a:prstGeom prst="rect">
              <a:avLst/>
            </a:prstGeom>
            <a:noFill/>
            <a:ln>
              <a:noFill/>
            </a:ln>
          </p:spPr>
          <p:txBody>
            <a:bodyPr wrap="square" lIns="0" tIns="0" rIns="0" bIns="0" anchor="b" rtlCol="0">
              <a:noAutofit/>
            </a:bodyPr>
            <a:lstStyle/>
            <a:p>
              <a:pPr algn="ctr"/>
              <a:r>
                <a:rPr lang="en-US" dirty="0" sz="900">
                  <a:solidFill>
                    <a:srgbClr val="404040"/>
                  </a:solidFill>
                  <a:latin typeface="Arial"/>
                  <a:ea typeface="Arial"/>
                  <a:cs typeface="Arial"/>
                </a:rPr>
                <a:t>local embedding</a:t>
              </a:r>
              <a:endParaRPr lang="en-US" dirty="0" sz="900">
                <a:solidFill>
                  <a:srgbClr val="404040"/>
                </a:solidFill>
                <a:latin typeface="Arial"/>
                <a:ea typeface="Arial"/>
                <a:cs typeface="Arial"/>
              </a:endParaRPr>
            </a:p>
          </p:txBody>
        </p:sp>
        <p:sp>
          <p:nvSpPr>
            <p:cNvPr id="257" name="lbl_fleet"/>
            <p:cNvSpPr txBox="1"/>
            <p:nvPr/>
          </p:nvSpPr>
          <p:spPr>
            <a:xfrm>
              <a:off x="7260336" y="6313932"/>
              <a:ext cx="896112" cy="146304"/>
            </a:xfrm>
            <a:prstGeom prst="rect">
              <a:avLst/>
            </a:prstGeom>
            <a:noFill/>
            <a:ln>
              <a:noFill/>
            </a:ln>
          </p:spPr>
          <p:txBody>
            <a:bodyPr wrap="square" lIns="0" tIns="0" rIns="0" bIns="0" anchor="ctr" rtlCol="0">
              <a:noAutofit/>
            </a:bodyPr>
            <a:lstStyle/>
            <a:p>
              <a:pPr algn="ctr"/>
              <a:r>
                <a:rPr lang="en-US" dirty="0" sz="900">
                  <a:solidFill>
                    <a:srgbClr val="404040"/>
                  </a:solidFill>
                  <a:latin typeface="Arial"/>
                  <a:ea typeface="Arial"/>
                  <a:cs typeface="Arial"/>
                </a:rPr>
                <a:t>fleet embedding</a:t>
              </a:r>
              <a:endParaRPr lang="en-US" dirty="0" sz="900">
                <a:solidFill>
                  <a:srgbClr val="404040"/>
                </a:solidFill>
                <a:latin typeface="Arial"/>
                <a:ea typeface="Arial"/>
                <a:cs typeface="Arial"/>
              </a:endParaRPr>
            </a:p>
          </p:txBody>
        </p:sp>
        <p:cxnSp>
          <p:nvCxnSpPr>
            <p:cNvPr id="258" name="line1"/>
            <p:cNvCxnSpPr/>
            <p:nvPr/>
          </p:nvCxnSpPr>
          <p:spPr>
            <a:xfrm>
              <a:off x="5852160" y="4960620"/>
              <a:ext cx="128016" cy="0"/>
            </a:xfrm>
            <a:prstGeom prst="straightConnector1">
              <a:avLst/>
            </a:prstGeom>
            <a:ln w="12700">
              <a:solidFill>
                <a:srgbClr val="595959"/>
              </a:solidFill>
              <a:prstDash val="solid"/>
              <a:tailEnd type="triangle" w="sm" len="sm"/>
            </a:ln>
          </p:spPr>
        </p:cxnSp>
        <p:cxnSp>
          <p:nvCxnSpPr>
            <p:cNvPr id="259" name="line2"/>
            <p:cNvCxnSpPr/>
            <p:nvPr/>
          </p:nvCxnSpPr>
          <p:spPr>
            <a:xfrm>
              <a:off x="5852160" y="5344668"/>
              <a:ext cx="128016" cy="0"/>
            </a:xfrm>
            <a:prstGeom prst="straightConnector1">
              <a:avLst/>
            </a:prstGeom>
            <a:ln w="12700">
              <a:solidFill>
                <a:srgbClr val="595959"/>
              </a:solidFill>
              <a:prstDash val="solid"/>
              <a:tailEnd type="triangle" w="sm" len="sm"/>
            </a:ln>
          </p:spPr>
        </p:cxnSp>
        <p:cxnSp>
          <p:nvCxnSpPr>
            <p:cNvPr id="260" name="line3"/>
            <p:cNvCxnSpPr/>
            <p:nvPr/>
          </p:nvCxnSpPr>
          <p:spPr>
            <a:xfrm>
              <a:off x="6940296" y="5939028"/>
              <a:ext cx="0" cy="246888"/>
            </a:xfrm>
            <a:prstGeom prst="straightConnector1">
              <a:avLst/>
            </a:prstGeom>
            <a:ln w="12700">
              <a:solidFill>
                <a:srgbClr val="595959"/>
              </a:solidFill>
              <a:prstDash val="solid"/>
              <a:tailEnd type="triangle" w="sm" len="sm"/>
            </a:ln>
          </p:spPr>
        </p:cxnSp>
        <p:cxnSp>
          <p:nvCxnSpPr>
            <p:cNvPr id="261" name="line4"/>
            <p:cNvCxnSpPr/>
            <p:nvPr/>
          </p:nvCxnSpPr>
          <p:spPr>
            <a:xfrm>
              <a:off x="8951976" y="5426964"/>
              <a:ext cx="0" cy="118872"/>
            </a:xfrm>
            <a:prstGeom prst="straightConnector1">
              <a:avLst/>
            </a:prstGeom>
            <a:ln w="12700">
              <a:solidFill>
                <a:srgbClr val="595959"/>
              </a:solidFill>
              <a:prstDash val="solid"/>
              <a:tailEnd type="triangle" w="sm" len="sm"/>
            </a:ln>
          </p:spPr>
        </p:cxnSp>
        <p:cxnSp>
          <p:nvCxnSpPr>
            <p:cNvPr id="262" name="edge drift-select"/>
            <p:cNvCxnSpPr>
              <a:stCxn id="241" idx="3"/>
              <a:endCxn id="242" idx="1"/>
            </p:cNvCxnSpPr>
            <p:nvPr/>
          </p:nvCxnSpPr>
          <p:spPr>
            <a:xfrm>
              <a:off x="6967728" y="5152644"/>
              <a:ext cx="146304" cy="0"/>
            </a:xfrm>
            <a:prstGeom prst="straightConnector1">
              <a:avLst/>
            </a:prstGeom>
            <a:ln w="12700">
              <a:solidFill>
                <a:srgbClr val="595959"/>
              </a:solidFill>
              <a:prstDash val="solid"/>
              <a:tailEnd type="triangle" w="med" len="med"/>
            </a:ln>
          </p:spPr>
        </p:cxnSp>
        <p:cxnSp>
          <p:nvCxnSpPr>
            <p:cNvPr id="263" name="edge select-tool_price"/>
            <p:cNvCxnSpPr>
              <a:stCxn id="242" idx="3"/>
              <a:endCxn id="243" idx="1"/>
            </p:cNvCxnSpPr>
            <p:nvPr/>
          </p:nvCxnSpPr>
          <p:spPr>
            <a:xfrm flipV="1">
              <a:off x="8028432" y="4960620"/>
              <a:ext cx="164592" cy="192024"/>
            </a:xfrm>
            <a:prstGeom prst="straightConnector1">
              <a:avLst/>
            </a:prstGeom>
            <a:ln w="12700">
              <a:solidFill>
                <a:srgbClr val="595959"/>
              </a:solidFill>
              <a:prstDash val="solid"/>
              <a:tailEnd type="triangle" w="sm" len="sm"/>
            </a:ln>
          </p:spPr>
        </p:cxnSp>
        <p:cxnSp>
          <p:nvCxnSpPr>
            <p:cNvPr id="264" name="edge select-tool_new"/>
            <p:cNvCxnSpPr>
              <a:stCxn id="242" idx="3"/>
              <a:endCxn id="244" idx="1"/>
            </p:cNvCxnSpPr>
            <p:nvPr/>
          </p:nvCxnSpPr>
          <p:spPr>
            <a:xfrm>
              <a:off x="8028432" y="5152644"/>
              <a:ext cx="164592" cy="0"/>
            </a:xfrm>
            <a:prstGeom prst="straightConnector1">
              <a:avLst/>
            </a:prstGeom>
            <a:ln w="12700">
              <a:solidFill>
                <a:srgbClr val="595959"/>
              </a:solidFill>
              <a:prstDash val="dash"/>
              <a:tailEnd type="triangle" w="sm" len="sm"/>
            </a:ln>
          </p:spPr>
        </p:cxnSp>
        <p:cxnSp>
          <p:nvCxnSpPr>
            <p:cNvPr id="265" name="edge select-tool_rl"/>
            <p:cNvCxnSpPr>
              <a:stCxn id="242" idx="3"/>
              <a:endCxn id="245" idx="1"/>
            </p:cNvCxnSpPr>
            <p:nvPr/>
          </p:nvCxnSpPr>
          <p:spPr>
            <a:xfrm>
              <a:off x="8028432" y="5152644"/>
              <a:ext cx="164592" cy="192024"/>
            </a:xfrm>
            <a:prstGeom prst="straightConnector1">
              <a:avLst/>
            </a:prstGeom>
            <a:ln w="12700">
              <a:solidFill>
                <a:srgbClr val="595959"/>
              </a:solidFill>
              <a:prstDash val="solid"/>
              <a:tailEnd type="triangle" w="sm" len="sm"/>
            </a:ln>
          </p:spPr>
        </p:cxnSp>
        <p:cxnSp>
          <p:nvCxnSpPr>
            <p:cNvPr id="266" name="edge obs-mlp"/>
            <p:cNvCxnSpPr>
              <a:stCxn id="247" idx="3"/>
              <a:endCxn id="248" idx="1"/>
            </p:cNvCxnSpPr>
            <p:nvPr/>
          </p:nvCxnSpPr>
          <p:spPr>
            <a:xfrm>
              <a:off x="5907024" y="5939028"/>
              <a:ext cx="91440" cy="0"/>
            </a:xfrm>
            <a:prstGeom prst="straightConnector1">
              <a:avLst/>
            </a:prstGeom>
            <a:ln w="12700">
              <a:solidFill>
                <a:srgbClr val="595959"/>
              </a:solidFill>
              <a:prstDash val="solid"/>
              <a:tailEnd type="triangle" w="sm" len="sm"/>
            </a:ln>
          </p:spPr>
        </p:cxnSp>
        <p:cxnSp>
          <p:nvCxnSpPr>
            <p:cNvPr id="267" name="edge mlp-head"/>
            <p:cNvCxnSpPr>
              <a:stCxn id="248" idx="3"/>
              <a:endCxn id="249" idx="1"/>
            </p:cNvCxnSpPr>
            <p:nvPr/>
          </p:nvCxnSpPr>
          <p:spPr>
            <a:xfrm>
              <a:off x="6729984" y="5939028"/>
              <a:ext cx="914400" cy="0"/>
            </a:xfrm>
            <a:prstGeom prst="straightConnector1">
              <a:avLst/>
            </a:prstGeom>
            <a:ln w="12700">
              <a:solidFill>
                <a:srgbClr val="595959"/>
              </a:solidFill>
              <a:prstDash val="solid"/>
              <a:tailEnd type="triangle" w="med" len="med"/>
            </a:ln>
          </p:spPr>
        </p:cxnSp>
        <p:cxnSp>
          <p:nvCxnSpPr>
            <p:cNvPr id="268" name="edge head-out"/>
            <p:cNvCxnSpPr>
              <a:stCxn id="249" idx="3"/>
              <a:endCxn id="250" idx="1"/>
            </p:cNvCxnSpPr>
            <p:nvPr/>
          </p:nvCxnSpPr>
          <p:spPr>
            <a:xfrm>
              <a:off x="8759952" y="5939028"/>
              <a:ext cx="91440" cy="0"/>
            </a:xfrm>
            <a:prstGeom prst="straightConnector1">
              <a:avLst/>
            </a:prstGeom>
            <a:ln w="12700">
              <a:solidFill>
                <a:srgbClr val="595959"/>
              </a:solidFill>
              <a:prstDash val="solid"/>
              <a:tailEnd type="triangle" w="sm" len="sm"/>
            </a:ln>
          </p:spPr>
        </p:cxnSp>
        <p:cxnSp>
          <p:nvCxnSpPr>
            <p:cNvPr id="269" name="edge mean-head"/>
            <p:cNvCxnSpPr>
              <a:stCxn id="251" idx="3"/>
              <a:endCxn id="249" idx="2"/>
            </p:cNvCxnSpPr>
            <p:nvPr/>
          </p:nvCxnSpPr>
          <p:spPr>
            <a:xfrm flipV="1">
              <a:off x="7168896" y="6094476"/>
              <a:ext cx="1033272" cy="192024"/>
            </a:xfrm>
            <a:prstGeom prst="bentConnector2">
              <a:avLst/>
            </a:prstGeom>
            <a:ln w="12700">
              <a:solidFill>
                <a:srgbClr val="595959"/>
              </a:solidFill>
              <a:prstDash val="solid"/>
              <a:tailEnd type="triangle" w="med" len="med"/>
            </a:ln>
          </p:spPr>
        </p:cxnSp>
      </p:grpSp>
    </p:spTree>
    <p:extLst>
      <p:ext uri="{BB962C8B-B14F-4D97-AF65-F5344CB8AC3E}">
        <p14:creationId xmlns:p14="http://schemas.microsoft.com/office/powerpoint/2010/main" val="21639859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6FE84-53FE-0C41-1E39-7CFADCB598C2}"/>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134CFCF-3534-C32C-2957-7331AB60D295}"/>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28EDACC5-3E45-F129-F00D-612C183C863D}"/>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C0E34DB-2F6A-D79E-765B-72078889CB69}"/>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24A24B01-4F1A-EFAC-18A0-800FB7089D90}"/>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5B88DC9C-EE95-F656-67E7-FAA873910558}"/>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D725B2E-F331-48FD-A7E3-429DDF828C94}"/>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156ED1B7-D921-8221-A5BB-467DA7610014}"/>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13</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39C755BB-78F7-CCDA-94D4-53E9F8FDEB14}"/>
              </a:ext>
            </a:extLst>
          </p:cNvPr>
          <p:cNvSpPr txBox="1"/>
          <p:nvPr/>
        </p:nvSpPr>
        <p:spPr>
          <a:xfrm>
            <a:off x="848545" y="142880"/>
            <a:ext cx="8924544" cy="338554"/>
          </a:xfrm>
          <a:prstGeom prst="rect">
            <a:avLst/>
          </a:prstGeom>
          <a:noFill/>
        </p:spPr>
        <p:txBody>
          <a:bodyPr wrap="square" rtlCol="0">
            <a:spAutoFit/>
          </a:bodyPr>
          <a:lstStyle/>
          <a:p>
            <a:pPr algn="r"/>
            <a:r>
              <a:rPr lang="en-US" altLang="ko-KR" sz="1400" b="1" dirty="0">
                <a:latin typeface="Arial" panose="020B0604020202020204" pitchFamily="34" charset="0"/>
                <a:ea typeface="Arial Unicode MS" pitchFamily="50" charset="-127"/>
                <a:cs typeface="Arial" pitchFamily="34" charset="0"/>
              </a:rPr>
              <a:t>③ Systems Engineering — Federated Learning &amp; Edge Deployment</a:t>
            </a:r>
            <a:endParaRPr lang="en-US" altLang="ko-KR" sz="1400" dirty="0">
              <a:latin typeface="Arial" panose="020B0604020202020204" pitchFamily="34" charset="0"/>
              <a:ea typeface="Arial Unicode MS" pitchFamily="50" charset="-127"/>
              <a:cs typeface="Arial" pitchFamily="34" charset="0"/>
            </a:endParaRPr>
          </a:p>
        </p:txBody>
      </p:sp>
      <p:sp>
        <p:nvSpPr>
          <p:cNvPr id="199" name="TextBox 198">
            <a:extLst>
              <a:ext uri="{FF2B5EF4-FFF2-40B4-BE49-F238E27FC236}">
                <a16:creationId xmlns:a16="http://schemas.microsoft.com/office/drawing/2014/main" id="{B66C161B-B24A-ED6A-3BD0-52190A1E912F}"/>
              </a:ext>
            </a:extLst>
          </p:cNvPr>
          <p:cNvSpPr txBox="1"/>
          <p:nvPr/>
        </p:nvSpPr>
        <p:spPr>
          <a:xfrm>
            <a:off x="560512" y="5270118"/>
            <a:ext cx="3703320" cy="261610"/>
          </a:xfrm>
          <a:prstGeom prst="rect">
            <a:avLst/>
          </a:prstGeom>
          <a:noFill/>
        </p:spPr>
        <p:txBody>
          <a:bodyPr wrap="square" rtlCol="0">
            <a:spAutoFit/>
          </a:bodyPr>
          <a:lstStyle/>
          <a:p>
            <a:pPr lvl="0" algn="ctr">
              <a:defRPr/>
            </a:pPr>
            <a:r>
              <a:rPr lang="en-US" altLang="ko-KR" sz="1100" b="1" dirty="0">
                <a:latin typeface="Arial" panose="020B0604020202020204" pitchFamily="34" charset="0"/>
                <a:ea typeface="Arial" panose="020B0604020202020204" pitchFamily="34" charset="0"/>
                <a:cs typeface="Arial" panose="020B0604020202020204" pitchFamily="34" charset="0"/>
              </a:rPr>
              <a:t>Cooperative Federated Learning with YOLO Models</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5" name="TextBox 4">
            <a:extLst>
              <a:ext uri="{FF2B5EF4-FFF2-40B4-BE49-F238E27FC236}">
                <a16:creationId xmlns:a16="http://schemas.microsoft.com/office/drawing/2014/main" id="{25BA8180-DE6B-E186-96C5-8CF45C6E2E59}"/>
              </a:ext>
            </a:extLst>
          </p:cNvPr>
          <p:cNvSpPr txBox="1"/>
          <p:nvPr/>
        </p:nvSpPr>
        <p:spPr>
          <a:xfrm>
            <a:off x="173754" y="581565"/>
            <a:ext cx="9701766"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[Federated Learning, Knowledge Distillation]</a:t>
            </a:r>
            <a:r>
              <a:rPr lang="en-US" altLang="ko-KR" b="1" dirty="0">
                <a:latin typeface="Arial" panose="020B0604020202020204" pitchFamily="34" charset="0"/>
                <a:ea typeface="Arial" panose="020B0604020202020204" pitchFamily="34" charset="0"/>
                <a:cs typeface="Arial" panose="020B0604020202020204" pitchFamily="34" charset="0"/>
              </a:rPr>
              <a:t> Federated Edge Inference</a:t>
            </a:r>
            <a:endParaRPr lang="en-US" altLang="ko-KR"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1519C87A-DA9E-F726-4529-CE170879C4AA}"/>
              </a:ext>
            </a:extLst>
          </p:cNvPr>
          <p:cNvSpPr txBox="1"/>
          <p:nvPr/>
        </p:nvSpPr>
        <p:spPr>
          <a:xfrm>
            <a:off x="71323" y="1021146"/>
            <a:ext cx="9701766" cy="2501214"/>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Delivered to Acryl Inc.</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implementation, experiments, testbed</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Edge AI: real-time traffic-sign recognition on edge NPUs (neural processing units) backed by a data-center server</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global model federated from the devices' daytime data generalizes poorly to night, and night data is assumed scarce on the devices</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Design</a:t>
            </a:r>
            <a:r>
              <a:rPr lang="en-US" altLang="ko-KR" sz="1100" dirty="0">
                <a:latin typeface="Arial" panose="020B0604020202020204" pitchFamily="34" charset="0"/>
                <a:ea typeface="Arial" panose="020B0604020202020204" pitchFamily="34" charset="0"/>
                <a:cs typeface="Arial" panose="020B0604020202020204" pitchFamily="34" charset="0"/>
              </a:rPr>
              <a:t> — Cooperative federated learning with knowledge distillation (left figure). After each FedAvg (federated averaging) aggregation, the server distills a cooperative large model (a YOLOv8l pretrained on night traffic-sign data) into the global YOLOv8n, without moving the devices' data. The NPU model handles routine frames. After a low-confidence frame, the next frame goes to the server's YOLOv8l</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A distillation layer on the backbone's P5-level features with a dimension-matching projection</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An FL (federated learning) testbed on the open-source Flower framework (right figure (a)). Its client side was extended with federated RL and per-client non-IID (non-independent, non-identically distributed) data composition. A per-round learning-rate schedule and image augmentation were added. The YOLO models and the inference system were deployed on Acryl's Jonathan server and an FPGA-based NPU (FPGA: field-programmable gate array). The partners field-tested them in a vehicle (right figure (b))</a:t>
            </a:r>
          </a:p>
        </p:txBody>
      </p:sp>
      <p:sp>
        <p:nvSpPr>
          <p:cNvPr id="8" name="TextBox 7">
            <a:extLst>
              <a:ext uri="{FF2B5EF4-FFF2-40B4-BE49-F238E27FC236}">
                <a16:creationId xmlns:a16="http://schemas.microsoft.com/office/drawing/2014/main" id="{42B38985-D692-6108-8A4A-907643A6F578}"/>
              </a:ext>
            </a:extLst>
          </p:cNvPr>
          <p:cNvSpPr txBox="1"/>
          <p:nvPr/>
        </p:nvSpPr>
        <p:spPr>
          <a:xfrm>
            <a:off x="4492432" y="5270118"/>
            <a:ext cx="5038366"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NPU project: (a) embedded FL testbed · (b) in-vehicle field test</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2" name="그림 11">
            <a:extLst>
              <a:ext uri="{FF2B5EF4-FFF2-40B4-BE49-F238E27FC236}">
                <a16:creationId xmlns:a16="http://schemas.microsoft.com/office/drawing/2014/main" id="{35CF1AE9-1227-A295-C6DA-97050E8583EA}"/>
              </a:ext>
            </a:extLst>
          </p:cNvPr>
          <p:cNvPicPr>
            <a:picLocks noChangeAspect="1"/>
          </p:cNvPicPr>
          <p:nvPr/>
        </p:nvPicPr>
        <p:blipFill>
          <a:blip r:embed="rId3"/>
          <a:srcRect r="44405"/>
          <a:stretch>
            <a:fillRect/>
          </a:stretch>
        </p:blipFill>
        <p:spPr>
          <a:xfrm>
            <a:off x="7491379" y="3803536"/>
            <a:ext cx="2162135" cy="1439150"/>
          </a:xfrm>
          <a:prstGeom prst="rect">
            <a:avLst/>
          </a:prstGeom>
        </p:spPr>
      </p:pic>
      <p:grpSp>
        <p:nvGrpSpPr>
          <p:cNvPr id="32" name="그룹 31">
            <a:extLst>
              <a:ext uri="{FF2B5EF4-FFF2-40B4-BE49-F238E27FC236}">
                <a16:creationId xmlns:a16="http://schemas.microsoft.com/office/drawing/2014/main" id="{BC3694F2-B409-2B1A-B590-BF2BA9F43C2D}"/>
              </a:ext>
            </a:extLst>
          </p:cNvPr>
          <p:cNvGrpSpPr/>
          <p:nvPr/>
        </p:nvGrpSpPr>
        <p:grpSpPr>
          <a:xfrm>
            <a:off x="4376936" y="3659520"/>
            <a:ext cx="2840124" cy="1583166"/>
            <a:chOff x="4975645" y="2405907"/>
            <a:chExt cx="4930355" cy="2009593"/>
          </a:xfrm>
        </p:grpSpPr>
        <p:pic>
          <p:nvPicPr>
            <p:cNvPr id="29" name="Picture 2">
              <a:extLst>
                <a:ext uri="{FF2B5EF4-FFF2-40B4-BE49-F238E27FC236}">
                  <a16:creationId xmlns:a16="http://schemas.microsoft.com/office/drawing/2014/main" id="{DDCA12FD-C3EA-EEEC-4DE0-2F74CA4857F5}"/>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4975645" y="2405907"/>
              <a:ext cx="4409463" cy="2009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1" name="Picture 3" descr="figure">
              <a:extLst>
                <a:ext uri="{FF2B5EF4-FFF2-40B4-BE49-F238E27FC236}">
                  <a16:creationId xmlns:a16="http://schemas.microsoft.com/office/drawing/2014/main" id="{73B0BC66-54EA-BC13-6101-05D58429D13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183342" y="3366518"/>
              <a:ext cx="722658" cy="600779"/>
            </a:xfrm>
            <a:prstGeom prst="rect">
              <a:avLst/>
            </a:prstGeom>
            <a:noFill/>
            <a:extLst>
              <a:ext uri="{909E8E84-426E-40DD-AFC4-6F175D3DCCD1}">
                <a14:hiddenFill xmlns:a14="http://schemas.microsoft.com/office/drawing/2010/main">
                  <a:solidFill>
                    <a:srgbClr val="FFFFFF"/>
                  </a:solidFill>
                </a14:hiddenFill>
              </a:ext>
            </a:extLst>
          </p:spPr>
        </p:pic>
      </p:grpSp>
      <p:pic>
        <p:nvPicPr>
          <p:cNvPr id="292" name="그림 291">
            <a:extLst>
              <a:ext uri="{FF2B5EF4-FFF2-40B4-BE49-F238E27FC236}">
                <a16:creationId xmlns:a16="http://schemas.microsoft.com/office/drawing/2014/main" id="{91CB6BAD-E9F0-4FFD-6E37-5E12BE0AA7B8}"/>
              </a:ext>
            </a:extLst>
          </p:cNvPr>
          <p:cNvPicPr>
            <a:picLocks noChangeAspect="1"/>
          </p:cNvPicPr>
          <p:nvPr/>
        </p:nvPicPr>
        <p:blipFill>
          <a:blip r:embed="rId6"/>
          <a:stretch>
            <a:fillRect/>
          </a:stretch>
        </p:blipFill>
        <p:spPr>
          <a:xfrm>
            <a:off x="655662" y="3659520"/>
            <a:ext cx="3482965" cy="1583166"/>
          </a:xfrm>
          <a:prstGeom prst="rect">
            <a:avLst/>
          </a:prstGeom>
        </p:spPr>
      </p:pic>
    </p:spTree>
    <p:extLst>
      <p:ext uri="{BB962C8B-B14F-4D97-AF65-F5344CB8AC3E}">
        <p14:creationId xmlns:p14="http://schemas.microsoft.com/office/powerpoint/2010/main" val="32046876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50495-7B61-7C00-C9D3-2BA2E82B95A7}"/>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A3D37A4B-1D6F-2377-7D50-209D32C34C39}"/>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C885C2B7-58B3-3DF3-842E-2A72BB7B86CE}"/>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72B4A6B1-BBAC-48A8-254A-80D8E21E47F7}"/>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17BEB557-FA4C-03CC-11C1-A344FE8AD3D4}"/>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E7511EE5-2BDA-42BB-67CC-E19CABE19088}"/>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F680F252-EFCA-0BB8-DCEF-F26E98742F6C}"/>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C0E226B0-9103-276C-C0EB-2180D6CAE13C}"/>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14</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DE3A5B2E-6EAB-3E58-CCE0-A215D10D4B06}"/>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③ Systems Engineering — Pretraining Simulators &amp; Surrogates</a:t>
            </a:r>
          </a:p>
        </p:txBody>
      </p:sp>
      <p:sp>
        <p:nvSpPr>
          <p:cNvPr id="178" name="TextBox 177">
            <a:extLst>
              <a:ext uri="{FF2B5EF4-FFF2-40B4-BE49-F238E27FC236}">
                <a16:creationId xmlns:a16="http://schemas.microsoft.com/office/drawing/2014/main" id="{9F264029-DF10-7124-BF57-36EEB963DB03}"/>
              </a:ext>
            </a:extLst>
          </p:cNvPr>
          <p:cNvSpPr txBox="1"/>
          <p:nvPr/>
        </p:nvSpPr>
        <p:spPr>
          <a:xfrm>
            <a:off x="5058544" y="6083253"/>
            <a:ext cx="4464497"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b="1" dirty="0">
                <a:latin typeface="Arial" panose="020B0604020202020204" pitchFamily="34" charset="0"/>
                <a:ea typeface="맑은 고딕" panose="020B0503020000020004" pitchFamily="50" charset="-127"/>
                <a:cs typeface="Arial" panose="020B0604020202020204" pitchFamily="34" charset="0"/>
              </a:rPr>
              <a:t>A surrogate model example for NVMe-oF storage</a:t>
            </a:r>
            <a:endParaRPr kumimoji="0" lang="ko-KR" altLang="en-US" sz="11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F23951A0-67BB-D261-D3A9-A477A273CB7A}"/>
              </a:ext>
            </a:extLst>
          </p:cNvPr>
          <p:cNvSpPr txBox="1"/>
          <p:nvPr/>
        </p:nvSpPr>
        <p:spPr>
          <a:xfrm>
            <a:off x="279597" y="6139048"/>
            <a:ext cx="4464497" cy="261610"/>
          </a:xfrm>
          <a:prstGeom prst="rect">
            <a:avLst/>
          </a:prstGeom>
          <a:noFill/>
        </p:spPr>
        <p:txBody>
          <a:bodyPr wrap="square" rtlCol="0">
            <a:spAutoFit/>
          </a:bodyPr>
          <a:lstStyle/>
          <a:p>
            <a:pPr lvl="0" algn="ctr">
              <a:defRPr/>
            </a:pPr>
            <a:r>
              <a:rPr lang="en-US" altLang="ko-KR" sz="1100" b="1" dirty="0" err="1">
                <a:latin typeface="Arial" panose="020B0604020202020204" pitchFamily="34" charset="0"/>
                <a:cs typeface="Arial" panose="020B0604020202020204" pitchFamily="34" charset="0"/>
              </a:rPr>
              <a:t>NVMe-oF disaggregated storage systems</a:t>
            </a:r>
            <a:endParaRPr kumimoji="0" lang="ko-KR" altLang="en-US" sz="11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6" name="그림 5">
            <a:extLst>
              <a:ext uri="{FF2B5EF4-FFF2-40B4-BE49-F238E27FC236}">
                <a16:creationId xmlns:a16="http://schemas.microsoft.com/office/drawing/2014/main" id="{6E6E4144-5940-4BB5-0E40-21A02BD542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0896" y="3754618"/>
            <a:ext cx="4133088" cy="2286000"/>
          </a:xfrm>
          <a:prstGeom prst="rect">
            <a:avLst/>
          </a:prstGeom>
        </p:spPr>
      </p:pic>
      <p:pic>
        <p:nvPicPr>
          <p:cNvPr id="11" name="그림 10">
            <a:extLst>
              <a:ext uri="{FF2B5EF4-FFF2-40B4-BE49-F238E27FC236}">
                <a16:creationId xmlns:a16="http://schemas.microsoft.com/office/drawing/2014/main" id="{A32EEB8F-C5DE-2205-E85D-1E616D42E5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90793" y="3769466"/>
            <a:ext cx="2443174" cy="1814284"/>
          </a:xfrm>
          <a:prstGeom prst="rect">
            <a:avLst/>
          </a:prstGeom>
        </p:spPr>
      </p:pic>
      <p:pic>
        <p:nvPicPr>
          <p:cNvPr id="14" name="그림 13">
            <a:extLst>
              <a:ext uri="{FF2B5EF4-FFF2-40B4-BE49-F238E27FC236}">
                <a16:creationId xmlns:a16="http://schemas.microsoft.com/office/drawing/2014/main" id="{3EDF4A87-61B2-AD52-154E-45AE1F563E3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64968" y="3773336"/>
            <a:ext cx="2497777" cy="1837551"/>
          </a:xfrm>
          <a:prstGeom prst="rect">
            <a:avLst/>
          </a:prstGeom>
        </p:spPr>
      </p:pic>
      <p:sp>
        <p:nvSpPr>
          <p:cNvPr id="24" name="TextBox 23">
            <a:extLst>
              <a:ext uri="{FF2B5EF4-FFF2-40B4-BE49-F238E27FC236}">
                <a16:creationId xmlns:a16="http://schemas.microsoft.com/office/drawing/2014/main" id="{404E4C66-FC03-CED4-5D95-99E88A990C51}"/>
              </a:ext>
            </a:extLst>
          </p:cNvPr>
          <p:cNvSpPr txBox="1"/>
          <p:nvPr/>
        </p:nvSpPr>
        <p:spPr>
          <a:xfrm>
            <a:off x="4991387" y="5585220"/>
            <a:ext cx="1869754"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(a) Measured performance pattern</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6" name="TextBox 25">
            <a:extLst>
              <a:ext uri="{FF2B5EF4-FFF2-40B4-BE49-F238E27FC236}">
                <a16:creationId xmlns:a16="http://schemas.microsoft.com/office/drawing/2014/main" id="{ACC6651D-15AB-F902-58ED-BADC59F1296B}"/>
              </a:ext>
            </a:extLst>
          </p:cNvPr>
          <p:cNvSpPr txBox="1"/>
          <p:nvPr/>
        </p:nvSpPr>
        <p:spPr>
          <a:xfrm>
            <a:off x="7418840" y="5573810"/>
            <a:ext cx="2187079"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(b) Estimated performance pattern</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3" name="TextBox 2">
            <a:extLst>
              <a:ext uri="{FF2B5EF4-FFF2-40B4-BE49-F238E27FC236}">
                <a16:creationId xmlns:a16="http://schemas.microsoft.com/office/drawing/2014/main" id="{2C6FBD92-4C46-708C-99D7-0D0CA5E5298B}"/>
              </a:ext>
            </a:extLst>
          </p:cNvPr>
          <p:cNvSpPr txBox="1"/>
          <p:nvPr/>
        </p:nvSpPr>
        <p:spPr>
          <a:xfrm>
            <a:off x="173753" y="575719"/>
            <a:ext cx="9599335"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[Supervised Learning, Regression]</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NVMe-oF</a:t>
            </a:r>
            <a:r>
              <a:rPr lang="en-US" altLang="ko-KR" b="1" dirty="0">
                <a:latin typeface="Arial" panose="020B0604020202020204" pitchFamily="34" charset="0"/>
                <a:ea typeface="Arial" panose="020B0604020202020204" pitchFamily="34" charset="0"/>
                <a:cs typeface="Arial" panose="020B0604020202020204" pitchFamily="34" charset="0"/>
              </a:rPr>
              <a:t> Storage Simulator with a DNN Surrogate</a:t>
            </a:r>
            <a:endParaRPr lang="en-US" altLang="ko-KR" dirty="0">
              <a:latin typeface="Arial" pitchFamily="34" charset="0"/>
              <a:ea typeface="Arial Unicode MS" pitchFamily="50" charset="-127"/>
              <a:cs typeface="Arial" pitchFamily="34" charset="0"/>
            </a:endParaRPr>
          </a:p>
        </p:txBody>
      </p:sp>
      <p:sp>
        <p:nvSpPr>
          <p:cNvPr id="8" name="TextBox 7">
            <a:extLst>
              <a:ext uri="{FF2B5EF4-FFF2-40B4-BE49-F238E27FC236}">
                <a16:creationId xmlns:a16="http://schemas.microsoft.com/office/drawing/2014/main" id="{59EAC2B1-9C10-773A-F0F7-49A8C7228417}"/>
              </a:ext>
            </a:extLst>
          </p:cNvPr>
          <p:cNvSpPr txBox="1"/>
          <p:nvPr/>
        </p:nvSpPr>
        <p:spPr>
          <a:xfrm>
            <a:off x="173754" y="1097394"/>
            <a:ext cx="9603782" cy="2520064"/>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Delivered to Samsung Electronics · US 12,650,769 B2 · US 12,210,760 B2 (fourth of four inventors on both)</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experiments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Data-center storage: a disaggregated NVMe-oF (NVMe over Fabrics; here NVMe/TCP) cluster, reproduced in software (based on NS-3) so that storage-management policies (RL policies included) can be tuned for mixed configurations of heterogeneous devices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Design</a:t>
            </a:r>
            <a:r>
              <a:rPr lang="en-US" altLang="ko-KR" sz="1100" dirty="0">
                <a:latin typeface="Arial" panose="020B0604020202020204" pitchFamily="34" charset="0"/>
                <a:ea typeface="Arial" panose="020B0604020202020204" pitchFamily="34" charset="0"/>
                <a:cs typeface="Arial" panose="020B0604020202020204" pitchFamily="34" charset="0"/>
              </a:rPr>
              <a:t> — FIO (flexible I/O tester) measures per-node serviced IOPS (I/O operations per second) and latency against required IOPS. </a:t>
            </a:r>
            <a:r>
              <a:rPr lang="en-US" altLang="ko-KR" sz="1100" u="sng" dirty="0">
                <a:latin typeface="Arial" panose="020B0604020202020204" pitchFamily="34" charset="0"/>
                <a:ea typeface="Arial" panose="020B0604020202020204" pitchFamily="34" charset="0"/>
                <a:cs typeface="Arial" panose="020B0604020202020204" pitchFamily="34" charset="0"/>
              </a:rPr>
              <a:t>One DNN (deep neural network) surrogate spanning device specifications reproduces both responses</a:t>
            </a:r>
            <a:r>
              <a:rPr lang="en-US" altLang="ko-KR" sz="1100" dirty="0">
                <a:latin typeface="Arial" panose="020B0604020202020204" pitchFamily="34" charset="0"/>
                <a:ea typeface="Arial" panose="020B0604020202020204" pitchFamily="34" charset="0"/>
                <a:cs typeface="Arial" panose="020B0604020202020204" pitchFamily="34" charset="0"/>
              </a:rPr>
              <a:t> (right figure: (a) measured, (b) estimated)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The surrogate takes a histogram of the objects' required IOPS and predicts serviced IOPS and latency with one DNN. Devices are organized under a storage platform that aggregates them in a two-level hierarchy, so </a:t>
            </a:r>
            <a:r>
              <a:rPr lang="en-US" altLang="ko-KR" sz="1100" u="sng" dirty="0">
                <a:latin typeface="Arial" panose="020B0604020202020204" pitchFamily="34" charset="0"/>
                <a:ea typeface="Arial" panose="020B0604020202020204" pitchFamily="34" charset="0"/>
                <a:cs typeface="Arial" panose="020B0604020202020204" pitchFamily="34" charset="0"/>
              </a:rPr>
              <a:t>the environment is reconfigured from a system specification rather than rebuilt</a:t>
            </a:r>
            <a:r>
              <a:rPr lang="en-US" altLang="ko-KR" sz="1100" dirty="0">
                <a:latin typeface="Arial" panose="020B0604020202020204" pitchFamily="34" charset="0"/>
                <a:ea typeface="Arial" panose="020B0604020202020204" pitchFamily="34" charset="0"/>
                <a:cs typeface="Arial" panose="020B0604020202020204" pitchFamily="34" charset="0"/>
              </a:rPr>
              <a:t> (left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Four device configurations were profiled with FIO, from an RC500 SSD on 10 GbE to a Samsung PM1725a SSD on 40 GbE. A tier-level object-migration policy was evaluated across homogeneous and heterogeneous compositions under FIO workloads</a:t>
            </a:r>
          </a:p>
        </p:txBody>
      </p:sp>
    </p:spTree>
    <p:extLst>
      <p:ext uri="{BB962C8B-B14F-4D97-AF65-F5344CB8AC3E}">
        <p14:creationId xmlns:p14="http://schemas.microsoft.com/office/powerpoint/2010/main" val="14211557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AEC33-19C2-3CFD-A419-13666D1D9591}"/>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83E7AA7C-9054-4093-A6CD-8AF9E63CA031}"/>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C51B582B-D549-C91D-812F-55CFBC91C54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6A7EC435-00E8-C028-965B-F500D3F4CB39}"/>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578DBDA9-D7DC-572B-17EB-F502FBC5B72F}"/>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FDA4A373-583E-7E73-2314-2BEE61A0D112}"/>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DD9FE797-7282-4699-6C46-977F5EB02437}"/>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C70F7814-6807-B436-B57E-CBCFBD24246D}"/>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15</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9097FB2B-8D9D-A36B-C474-2BE836C8EB8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③ Systems Engineering — Delivered Services &amp; Testbeds</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41317376-D92F-DCB8-50F3-B1BC6B2C1243}"/>
              </a:ext>
            </a:extLst>
          </p:cNvPr>
          <p:cNvSpPr txBox="1"/>
          <p:nvPr/>
        </p:nvSpPr>
        <p:spPr>
          <a:xfrm>
            <a:off x="4994159" y="6034712"/>
            <a:ext cx="452628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One Connect wireless streaming testbed</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60" name="그림 159">
            <a:extLst>
              <a:ext uri="{FF2B5EF4-FFF2-40B4-BE49-F238E27FC236}">
                <a16:creationId xmlns:a16="http://schemas.microsoft.com/office/drawing/2014/main" id="{6DC6B9B5-3D4B-F6EB-2CAE-8D47B06E5A33}"/>
              </a:ext>
            </a:extLst>
          </p:cNvPr>
          <p:cNvPicPr>
            <a:picLocks noChangeAspect="1"/>
          </p:cNvPicPr>
          <p:nvPr/>
        </p:nvPicPr>
        <p:blipFill>
          <a:blip r:embed="rId3"/>
          <a:stretch>
            <a:fillRect/>
          </a:stretch>
        </p:blipFill>
        <p:spPr>
          <a:xfrm>
            <a:off x="5473090" y="3850447"/>
            <a:ext cx="3498204" cy="2209392"/>
          </a:xfrm>
          <a:prstGeom prst="rect">
            <a:avLst/>
          </a:prstGeom>
        </p:spPr>
      </p:pic>
      <p:sp>
        <p:nvSpPr>
          <p:cNvPr id="9" name="TextBox 8">
            <a:extLst>
              <a:ext uri="{FF2B5EF4-FFF2-40B4-BE49-F238E27FC236}">
                <a16:creationId xmlns:a16="http://schemas.microsoft.com/office/drawing/2014/main" id="{6002ED83-9352-B1BC-C024-9EC84B575716}"/>
              </a:ext>
            </a:extLst>
          </p:cNvPr>
          <p:cNvSpPr txBox="1"/>
          <p:nvPr/>
        </p:nvSpPr>
        <p:spPr>
          <a:xfrm>
            <a:off x="172654" y="539388"/>
            <a:ext cx="9603782" cy="369332"/>
          </a:xfrm>
          <a:prstGeom prst="rect">
            <a:avLst/>
          </a:prstGeom>
          <a:noFill/>
        </p:spPr>
        <p:txBody>
          <a:bodyPr wrap="square" rtlCol="0">
            <a:spAutoFit/>
          </a:bodyPr>
          <a:lstStyle/>
          <a:p>
            <a:r>
              <a:rPr lang="en-US" altLang="ko-KR" sz="1600" b="1" dirty="0">
                <a:solidFill>
                  <a:srgbClr val="0070C0"/>
                </a:solidFill>
                <a:latin typeface="Arial"/>
                <a:ea typeface="맑은 고딕"/>
              </a:rPr>
              <a:t>[PostGIS, TCP/UDP]</a:t>
            </a:r>
            <a:r>
              <a:rPr lang="en-US" altLang="ko-KR" sz="1600" b="1" dirty="0">
                <a:latin typeface="Arial"/>
                <a:ea typeface="맑은 고딕"/>
              </a:rPr>
              <a:t> PS-LTE Network Selection · QLED Streaming Testbed — Delivered Systems</a:t>
            </a:r>
            <a:endParaRPr lang="en-US" altLang="ko-KR" dirty="0">
              <a:latin typeface="Arial" pitchFamily="34" charset="0"/>
              <a:ea typeface="Arial Unicode MS" pitchFamily="50" charset="-127"/>
              <a:cs typeface="Arial" pitchFamily="34" charset="0"/>
            </a:endParaRPr>
          </a:p>
        </p:txBody>
      </p:sp>
      <p:sp>
        <p:nvSpPr>
          <p:cNvPr id="11" name="TextBox 10">
            <a:extLst>
              <a:ext uri="{FF2B5EF4-FFF2-40B4-BE49-F238E27FC236}">
                <a16:creationId xmlns:a16="http://schemas.microsoft.com/office/drawing/2014/main" id="{46C30479-3ED0-F90D-DA51-F69DD2A8B19C}"/>
              </a:ext>
            </a:extLst>
          </p:cNvPr>
          <p:cNvSpPr txBox="1"/>
          <p:nvPr/>
        </p:nvSpPr>
        <p:spPr>
          <a:xfrm>
            <a:off x="151109" y="964094"/>
            <a:ext cx="9603782" cy="2749193"/>
          </a:xfrm>
          <a:prstGeom prst="rect">
            <a:avLst/>
          </a:prstGeom>
          <a:noFill/>
        </p:spPr>
        <p:txBody>
          <a:bodyPr wrap="square">
            <a:noAutofit/>
          </a:bodyPr>
          <a:lstStyle/>
          <a:p>
            <a:pPr marL="285750" indent="-285750" algn="just">
              <a:lnSpc>
                <a:spcPct val="110000"/>
              </a:lnSpc>
              <a:spcBef>
                <a:spcPts val="5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Database-backed network selection application for PS-LTE (public-safety LTE) terminals</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Delivered to Polaris AI</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algorithm design, implementation</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 terminal choosing PS-LTE or a commercial band where the disaster-response and railway networks interfere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a:t>
            </a:r>
            <a:r>
              <a:rPr lang="en-US" altLang="ko-KR" sz="1100" u="sng" dirty="0">
                <a:latin typeface="Arial" panose="020B0604020202020204" pitchFamily="34" charset="0"/>
                <a:ea typeface="Arial" panose="020B0604020202020204" pitchFamily="34" charset="0"/>
                <a:cs typeface="Arial" panose="020B0604020202020204" pitchFamily="34" charset="0"/>
              </a:rPr>
              <a:t>the application ranks the LTE bands by signal strength and quality (RSRP, RSRQ, SINR) from a database of normalized field measurements</a:t>
            </a:r>
            <a:r>
              <a:rPr lang="en-US" altLang="ko-KR" sz="1100" dirty="0">
                <a:latin typeface="Arial" panose="020B0604020202020204" pitchFamily="34" charset="0"/>
                <a:ea typeface="Arial" panose="020B0604020202020204" pitchFamily="34" charset="0"/>
                <a:cs typeface="Arial" panose="020B0604020202020204" pitchFamily="34" charset="0"/>
              </a:rPr>
              <a:t>. The PS-LTE–commercial handover is decided by thresholds</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A PostGIS database, a Flask server with an HTTP API, and a Flutter web application on the terminal (left figure)</a:t>
            </a:r>
          </a:p>
          <a:p>
            <a:pPr marL="285750" indent="-285750" algn="just">
              <a:lnSpc>
                <a:spcPct val="110000"/>
              </a:lnSpc>
              <a:spcBef>
                <a:spcPts val="5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Low-latency wireless streaming testbed for the Samsung QLED One Connect system</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Delivered to Samsung Electronics</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implementation, experiments, testbed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The wireless link that feeds 4K 60 Hz video from the One Connect box to a QLED TV</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a:t>
            </a:r>
            <a:r>
              <a:rPr lang="en-US" altLang="ko-KR" sz="1100" u="sng" dirty="0">
                <a:latin typeface="Arial" panose="020B0604020202020204" pitchFamily="34" charset="0"/>
                <a:ea typeface="Arial" panose="020B0604020202020204" pitchFamily="34" charset="0"/>
                <a:cs typeface="Arial" panose="020B0604020202020204" pitchFamily="34" charset="0"/>
              </a:rPr>
              <a:t>layer-by-layer delay analysis of the standard TCP/UDP stack</a:t>
            </a:r>
            <a:r>
              <a:rPr lang="en-US" altLang="ko-KR" sz="1100" dirty="0">
                <a:latin typeface="Arial" panose="020B0604020202020204" pitchFamily="34" charset="0"/>
                <a:ea typeface="Arial" panose="020B0604020202020204" pitchFamily="34" charset="0"/>
                <a:cs typeface="Arial" panose="020B0604020202020204" pitchFamily="34" charset="0"/>
              </a:rPr>
              <a:t>, with bitrate-paced UDP against TCP flow control</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Transmitter and receiver Linux hosts with BCM4360 802.11ac NICs. C/C++ components: a TCP sender–receiver, a UDP sender–receiver, and a raw-socket sniffer for RTT (round-trip time), throughput, loss, duplication, and reordering (right figure)</a:t>
            </a:r>
          </a:p>
        </p:txBody>
      </p:sp>
      <p:sp>
        <p:nvSpPr>
          <p:cNvPr id="3" name="TextBox 2">
            <a:extLst>
              <a:ext uri="{FF2B5EF4-FFF2-40B4-BE49-F238E27FC236}">
                <a16:creationId xmlns:a16="http://schemas.microsoft.com/office/drawing/2014/main" id="{097D531D-1BA4-3CAD-BBFF-A8B3C050377C}"/>
              </a:ext>
            </a:extLst>
          </p:cNvPr>
          <p:cNvSpPr txBox="1"/>
          <p:nvPr/>
        </p:nvSpPr>
        <p:spPr>
          <a:xfrm>
            <a:off x="1277344" y="6018207"/>
            <a:ext cx="2920554"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PS-LTE network selection application</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6" name="Picture 0" descr="figure">
            <a:extLst>
              <a:ext uri="{FF2B5EF4-FFF2-40B4-BE49-F238E27FC236}">
                <a16:creationId xmlns:a16="http://schemas.microsoft.com/office/drawing/2014/main" id="{302ADF2F-8CD0-1A25-678C-9F4602573B28}"/>
              </a:ext>
            </a:extLst>
          </p:cNvPr>
          <p:cNvPicPr>
            <a:picLocks noChangeAspect="1"/>
          </p:cNvPicPr>
          <p:nvPr/>
        </p:nvPicPr>
        <p:blipFill>
          <a:blip r:embed="rId4"/>
          <a:stretch>
            <a:fillRect/>
          </a:stretch>
        </p:blipFill>
        <p:spPr>
          <a:xfrm>
            <a:off x="804292" y="4128317"/>
            <a:ext cx="3878415" cy="1771671"/>
          </a:xfrm>
          <a:prstGeom prst="rect">
            <a:avLst/>
          </a:prstGeom>
          <a:noFill/>
          <a:ln>
            <a:noFill/>
          </a:ln>
          <a:effectLst/>
        </p:spPr>
      </p:pic>
    </p:spTree>
    <p:extLst>
      <p:ext uri="{BB962C8B-B14F-4D97-AF65-F5344CB8AC3E}">
        <p14:creationId xmlns:p14="http://schemas.microsoft.com/office/powerpoint/2010/main" val="1787164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16</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a:ea typeface="맑은 고딕"/>
              </a:rPr>
              <a:t>③ Systems Engineering — Protocol &amp; Packet Design</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436866"/>
            <a:ext cx="9603782" cy="369332"/>
          </a:xfrm>
          <a:prstGeom prst="rect">
            <a:avLst/>
          </a:prstGeom>
          <a:noFill/>
        </p:spPr>
        <p:txBody>
          <a:bodyPr wrap="square" rtlCol="0">
            <a:spAutoFit/>
          </a:bodyPr>
          <a:lstStyle/>
          <a:p>
            <a:r>
              <a:rPr lang="en-US" altLang="ko-KR" b="1" dirty="0">
                <a:solidFill>
                  <a:srgbClr val="0070C0"/>
                </a:solidFill>
                <a:latin typeface="Arial"/>
                <a:ea typeface="맑은 고딕"/>
              </a:rPr>
              <a:t>[MQTT, Packet Design]</a:t>
            </a:r>
            <a:r>
              <a:rPr lang="en-US" altLang="ko-KR" b="1" dirty="0">
                <a:latin typeface="Arial"/>
                <a:ea typeface="맑은 고딕"/>
              </a:rPr>
              <a:t> Protocol Definition for IoT Devices </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1579249"/>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a:ea typeface="맑은 고딕"/>
              </a:rPr>
              <a:t>Achievements</a:t>
            </a:r>
            <a:r>
              <a:rPr lang="en-US" altLang="ko-KR" sz="1100" dirty="0">
                <a:latin typeface="Arial"/>
                <a:ea typeface="맑은 고딕"/>
              </a:rPr>
              <a:t> — US 10,742,742 B2 with Samsung Electronics (third of four inventors)</a:t>
            </a:r>
          </a:p>
          <a:p>
            <a:pPr marL="285750" indent="-285750" algn="just">
              <a:lnSpc>
                <a:spcPct val="110000"/>
              </a:lnSpc>
              <a:buFont typeface="Arial" panose="020B0604020202020204" pitchFamily="34" charset="0"/>
              <a:buChar char="○"/>
            </a:pPr>
            <a:r>
              <a:rPr lang="en-US" altLang="ko-KR" sz="1100" b="1" dirty="0">
                <a:latin typeface="Arial"/>
                <a:ea typeface="맑은 고딕"/>
              </a:rPr>
              <a:t>Role: Leader</a:t>
            </a:r>
            <a:r>
              <a:rPr lang="en-US" altLang="ko-KR" sz="1100" dirty="0">
                <a:latin typeface="Arial"/>
                <a:ea typeface="맑은 고딕"/>
              </a:rPr>
              <a:t> — algorithm design (protocol specification and packet-structure redesign)</a:t>
            </a:r>
          </a:p>
          <a:p>
            <a:pPr marL="285750" indent="-285750" algn="just">
              <a:lnSpc>
                <a:spcPct val="110000"/>
              </a:lnSpc>
              <a:buFont typeface="Arial" panose="020B0604020202020204" pitchFamily="34" charset="0"/>
              <a:buChar char="○"/>
            </a:pPr>
            <a:r>
              <a:rPr lang="en-US" altLang="ko-KR" sz="1100" b="1" dirty="0">
                <a:latin typeface="Arial"/>
                <a:ea typeface="맑은 고딕"/>
              </a:rPr>
              <a:t>Target system</a:t>
            </a:r>
            <a:r>
              <a:rPr lang="en-US" altLang="ko-KR" sz="1100" dirty="0">
                <a:latin typeface="Arial"/>
                <a:ea typeface="맑은 고딕"/>
              </a:rPr>
              <a:t> — Internet of Things (IoT): the message protocol between an intelligent gateway and its devices</a:t>
            </a:r>
          </a:p>
          <a:p>
            <a:pPr marL="285750" indent="-285750" algn="just">
              <a:lnSpc>
                <a:spcPct val="110000"/>
              </a:lnSpc>
              <a:buFont typeface="Arial" panose="020B0604020202020204" pitchFamily="34" charset="0"/>
              <a:buChar char="○"/>
            </a:pPr>
            <a:r>
              <a:rPr lang="en-US" altLang="ko-KR" sz="1100" b="1" dirty="0">
                <a:latin typeface="Arial"/>
                <a:ea typeface="맑은 고딕"/>
              </a:rPr>
              <a:t>Problem</a:t>
            </a:r>
            <a:r>
              <a:rPr lang="en-US" altLang="ko-KR" sz="1100" dirty="0">
                <a:latin typeface="Arial"/>
                <a:ea typeface="맑은 고딕"/>
              </a:rPr>
              <a:t> — </a:t>
            </a:r>
            <a:r>
              <a:rPr lang="en-US" altLang="ko-KR" sz="1100" u="sng" dirty="0">
                <a:latin typeface="Arial"/>
                <a:ea typeface="맑은 고딕"/>
              </a:rPr>
              <a:t>Each packet carries the device's long, variable-length URI-style identifier in full and wastes network capacity</a:t>
            </a:r>
            <a:r>
              <a:rPr lang="en-US" altLang="ko-KR" sz="1100" dirty="0">
                <a:latin typeface="Arial"/>
                <a:ea typeface="맑은 고딕"/>
              </a:rPr>
              <a:t> (left figure)</a:t>
            </a:r>
          </a:p>
          <a:p>
            <a:pPr marL="285750" indent="-285750" algn="just">
              <a:lnSpc>
                <a:spcPct val="110000"/>
              </a:lnSpc>
              <a:buFont typeface="Arial" panose="020B0604020202020204" pitchFamily="34" charset="0"/>
              <a:buChar char="○"/>
            </a:pPr>
            <a:r>
              <a:rPr lang="en-US" altLang="ko-KR" sz="1100" b="1" dirty="0">
                <a:latin typeface="Arial"/>
                <a:ea typeface="맑은 고딕"/>
              </a:rPr>
              <a:t>Approach</a:t>
            </a:r>
            <a:r>
              <a:rPr lang="en-US" altLang="ko-KR" sz="1100" dirty="0">
                <a:latin typeface="Arial"/>
                <a:ea typeface="맑은 고딕"/>
              </a:rPr>
              <a:t> — Design: a controlling apparatus assigns one fixed-size identifier item per URI level. The device stores it, requests and commands carry it, and both ends map it in a resource access table (left figure). Packets then carry the fixed-size identifier instead of the URI, so they shrink. The gateway forwards each device its own access ID (a boiler and a CCTV camera in the right figure)</a:t>
            </a:r>
          </a:p>
          <a:p>
            <a:pPr marL="285750" indent="-285750" algn="just">
              <a:lnSpc>
                <a:spcPct val="110000"/>
              </a:lnSpc>
              <a:buFont typeface="Arial" panose="020B0604020202020204" pitchFamily="34" charset="0"/>
              <a:buChar char="○"/>
            </a:pPr>
            <a:r>
              <a:rPr lang="en-US" altLang="ko-KR" sz="1100" b="1" dirty="0">
                <a:latin typeface="Arial"/>
                <a:ea typeface="맑은 고딕"/>
              </a:rPr>
              <a:t>Implementation</a:t>
            </a:r>
            <a:r>
              <a:rPr lang="en-US" altLang="ko-KR" sz="1100" dirty="0">
                <a:latin typeface="Arial"/>
                <a:ea typeface="맑은 고딕"/>
              </a:rPr>
              <a:t> — </a:t>
            </a:r>
            <a:r>
              <a:rPr lang="en-US" altLang="ko-KR" sz="1100" u="sng" dirty="0">
                <a:latin typeface="Arial"/>
                <a:ea typeface="맑은 고딕"/>
              </a:rPr>
              <a:t>The gateway–device protocol was defined as an MQTT-based message specification</a:t>
            </a:r>
            <a:r>
              <a:rPr lang="en-US" altLang="ko-KR" sz="1100" dirty="0">
                <a:latin typeface="Arial"/>
                <a:ea typeface="맑은 고딕"/>
              </a:rPr>
              <a:t> with the redesigned packet structure</a:t>
            </a:r>
          </a:p>
        </p:txBody>
      </p:sp>
      <p:pic>
        <p:nvPicPr>
          <p:cNvPr id="22" name="Picture 21" descr="image.png"/>
          <p:cNvPicPr>
            <a:picLocks noChangeAspect="1"/>
          </p:cNvPicPr>
          <p:nvPr/>
        </p:nvPicPr>
        <p:blipFill>
          <a:blip r:embed="rId2"/>
          <a:stretch>
            <a:fillRect/>
          </a:stretch>
        </p:blipFill>
        <p:spPr>
          <a:xfrm>
            <a:off x="1276422" y="2602483"/>
            <a:ext cx="3418810" cy="2820518"/>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1208584" y="5522267"/>
            <a:ext cx="3657600"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a:ea typeface="맑은 고딕"/>
              </a:rPr>
              <a:t>Fixed-size access IDs for URIs</a:t>
            </a:r>
          </a:p>
        </p:txBody>
      </p:sp>
      <p:pic>
        <p:nvPicPr>
          <p:cNvPr id="39" name="Picture 38" descr="image.png"/>
          <p:cNvPicPr>
            <a:picLocks noChangeAspect="1"/>
          </p:cNvPicPr>
          <p:nvPr/>
        </p:nvPicPr>
        <p:blipFill>
          <a:blip r:embed="rId3"/>
          <a:stretch>
            <a:fillRect/>
          </a:stretch>
        </p:blipFill>
        <p:spPr>
          <a:xfrm>
            <a:off x="5350613" y="2581168"/>
            <a:ext cx="3418811" cy="2841833"/>
          </a:xfrm>
          <a:prstGeom prst="rect">
            <a:avLst/>
          </a:prstGeom>
        </p:spPr>
      </p:pic>
      <p:sp>
        <p:nvSpPr>
          <p:cNvPr id="205" name="TextBox 37">
            <a:extLst>
              <a:ext uri="{FF2B5EF4-FFF2-40B4-BE49-F238E27FC236}">
                <a16:creationId xmlns:a16="http://schemas.microsoft.com/office/drawing/2014/main" id="{11906725-6016-9804-F9D6-E352B4CAE8CD}"/>
              </a:ext>
            </a:extLst>
          </p:cNvPr>
          <p:cNvSpPr txBox="1"/>
          <p:nvPr/>
        </p:nvSpPr>
        <p:spPr>
          <a:xfrm>
            <a:off x="5683873" y="5522268"/>
            <a:ext cx="2752290"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a:ea typeface="맑은 고딕"/>
              </a:rPr>
              <a:t>Gateway forwarding access IDs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BC2CE-DC7E-7FF3-1EE3-7A6171F5980A}"/>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A5471B6A-B948-FC11-6F20-D814BC1742BF}"/>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6BBBCFC6-38EE-2783-EBFB-53593D66AD4E}"/>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ECD611F-C51A-0C5B-DCA9-1A9CDBEC58F6}"/>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2753591D-F659-8E9A-D742-71A8434A3AF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A251ABFC-EFD4-3856-9675-19F61594AB35}"/>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50EDC5B-4990-B3E5-8625-E324018DB618}"/>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AC0C523B-FAA3-4931-FAA5-A3684E65916E}"/>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17</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5" name="TextBox 4">
            <a:extLst>
              <a:ext uri="{FF2B5EF4-FFF2-40B4-BE49-F238E27FC236}">
                <a16:creationId xmlns:a16="http://schemas.microsoft.com/office/drawing/2014/main" id="{6E926540-3C05-F7FF-95CC-840359D4579C}"/>
              </a:ext>
            </a:extLst>
          </p:cNvPr>
          <p:cNvSpPr txBox="1"/>
          <p:nvPr/>
        </p:nvSpPr>
        <p:spPr>
          <a:xfrm>
            <a:off x="173736" y="406716"/>
            <a:ext cx="9601200" cy="430887"/>
          </a:xfrm>
          <a:prstGeom prst="rect">
            <a:avLst/>
          </a:prstGeom>
          <a:noFill/>
        </p:spPr>
        <p:txBody>
          <a:bodyPr wrap="square" rtlCol="0">
            <a:spAutoFit/>
          </a:bodyPr>
          <a:lstStyle/>
          <a:p>
            <a:r>
              <a:rPr lang="en-US" altLang="ko-KR" sz="2200" b="1" dirty="0">
                <a:latin typeface="Arial" panose="020B0604020202020204" pitchFamily="34" charset="0"/>
                <a:ea typeface="Arial" panose="020B0604020202020204" pitchFamily="34" charset="0"/>
                <a:cs typeface="Arial" panose="020B0604020202020204" pitchFamily="34" charset="0"/>
              </a:rPr>
              <a:t>Publications, Patents, and Demo Videos — Contact</a:t>
            </a:r>
            <a:endParaRPr lang="en-US" altLang="ko-KR" sz="2200"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FB7447F0-0347-1437-7EEF-24081CCBAFBD}"/>
              </a:ext>
            </a:extLst>
          </p:cNvPr>
          <p:cNvSpPr txBox="1"/>
          <p:nvPr/>
        </p:nvSpPr>
        <p:spPr>
          <a:xfrm>
            <a:off x="173736" y="849135"/>
            <a:ext cx="9603782" cy="274320"/>
          </a:xfrm>
          <a:prstGeom prst="rect">
            <a:avLst/>
          </a:prstGeom>
          <a:noFill/>
        </p:spPr>
        <p:txBody>
          <a:bodyPr wrap="square">
            <a:spAutoFit/>
          </a:bodyPr>
          <a:lstStyle/>
          <a:p>
            <a:pPr marL="285750" marR="0" lvl="0" indent="-285750" algn="just" defTabSz="914400" rtl="0" eaLnBrk="1" fontAlgn="auto" latinLnBrk="1" hangingPunct="1">
              <a:lnSpc>
                <a:spcPct val="110000"/>
              </a:lnSpc>
              <a:spcBef>
                <a:spcPts val="200"/>
              </a:spcBef>
              <a:spcAft>
                <a:spcPts val="500"/>
              </a:spcAft>
              <a:buClrTx/>
              <a:buSzTx/>
              <a:buFont typeface="Arial" panose="020B0604020202020204" pitchFamily="34" charset="0"/>
              <a:buChar char="○"/>
              <a:tabLst/>
              <a:defRPr/>
            </a:pPr>
            <a:r>
              <a:rPr kumimoji="0" lang="en-US" altLang="ko-KR" sz="1100" b="1"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Contact</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 </a:t>
            </a:r>
            <a:r>
              <a:rPr kumimoji="0" lang="en-US" altLang="ko-KR" sz="1100" b="0" i="0" u="none" strike="noStrike" kern="1200" cap="none" spc="0" normalizeH="0" baseline="0" noProof="0" dirty="0" err="1">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Youngseok</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Lee · </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hlinkClick r:id="rId3"/>
              </a:rPr>
              <a:t>yslee.gs@gmail.com</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 +82-10-7368-6845 · scholar.google.com/citations?user=GhwtxtgAAAAJ</a:t>
            </a:r>
            <a:endParaRPr lang="en-US" altLang="ko-KR" sz="1100" b="1" dirty="0">
              <a:latin typeface="Arial" panose="020B0604020202020204" pitchFamily="34" charset="0"/>
              <a:ea typeface="Arial" panose="020B0604020202020204" pitchFamily="34" charset="0"/>
              <a:cs typeface="Arial" panose="020B0604020202020204" pitchFamily="34" charset="0"/>
            </a:endParaRPr>
          </a:p>
        </p:txBody>
      </p:sp>
      <p:sp>
        <p:nvSpPr>
          <p:cNvPr id="22" name="TableTitle"/>
          <p:cNvSpPr txBox="1"/>
          <p:nvPr/>
        </p:nvSpPr>
        <p:spPr>
          <a:xfrm>
            <a:off x="173736" y="1143000"/>
            <a:ext cx="5486400" cy="320040"/>
          </a:xfrm>
          <a:prstGeom prst="rect">
            <a:avLst/>
          </a:prstGeom>
          <a:noFill/>
        </p:spPr>
        <p:txBody>
          <a:bodyPr wrap="square" lIns="0" tIns="18288" rIns="0" bIns="0" rtlCol="0">
            <a:spAutoFit/>
          </a:bodyPr>
          <a:lstStyle/>
          <a:p>
            <a:pPr algn="l"/>
            <a:r>
              <a:rPr lang="en-US" altLang="ko-KR" sz="1100" b="1" dirty="0">
                <a:latin typeface="Arial" panose="020B0604020202020204" pitchFamily="34" charset="0"/>
                <a:ea typeface="Arial" panose="020B0604020202020204" pitchFamily="34" charset="0"/>
                <a:cs typeface="Arial" panose="020B0604020202020204" pitchFamily="34" charset="0"/>
              </a:rPr>
              <a:t>Selected publications and patents (links)</a:t>
            </a: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graphicFrame>
        <p:nvGraphicFramePr>
          <p:cNvPr id="23" name="SummaryTable"/>
          <p:cNvGraphicFramePr>
            <a:graphicFrameLocks noGrp="1"/>
          </p:cNvGraphicFramePr>
          <p:nvPr/>
        </p:nvGraphicFramePr>
        <p:xfrm>
          <a:off x="173736" y="1417320"/>
          <a:ext cx="9601200" cy="3319272"/>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246888">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Type</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Title</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Venue · Registration</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ctr">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Link</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extLst>
                  <a:ext uri="{0D108BD9-81ED-4DB2-BD59-A6C34878D82A}">
                    <a16:rowId xmlns:a16="http://schemas.microsoft.com/office/drawing/2014/main" val="10000"/>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Paper · under review</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XferQoE: QoS-to-QoE transfer for adaptive rate control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IEEE IoT Journal · first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1"/>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Paper · top-tier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LLM-based skill diffusion for zero-shot policy adaptation (LDuS)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NeurIPS 2024 Main Conference Track · second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4"/>
                        </a:rPr>
                        <a:t>NeurIPS</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2"/>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Repot: Transferable reinforcement learning for quality-centric networked monitoring in various environments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IEEE Access, vol. 9, 2021 · first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5"/>
                        </a:rPr>
                        <a:t>DOI</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3"/>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Gemma: Reinforcement learning-based graph embedding and mapping for virtual network applications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IEEE Access, vol. 9, 2021 · second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6"/>
                        </a:rPr>
                        <a:t>DOI</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4"/>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Continual prediction of bug-fix time using deep learning-based activity stream embedding (DASENet)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IEEE Access, vol. 8, 2020 · first author</a:t>
                      </a:r>
                    </a:p>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33 citations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7"/>
                        </a:rPr>
                        <a:t>DOI</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5"/>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Patent · first inventor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Graph Embedding-Based Virtual Network Mapping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KR 10-2629731 (2024)</a:t>
                      </a:r>
                    </a:p>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US 12,047,250 B2 (2024)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8"/>
                        </a:rPr>
                        <a:t>KR</a:t>
                      </a:r>
                      <a:r>
                        <a:rPr lang="en-US" altLang="ko-KR" sz="900" dirty="0">
                          <a:latin typeface="Arial" panose="020B0604020202020204" pitchFamily="34" charset="0"/>
                          <a:ea typeface="Arial" panose="020B0604020202020204" pitchFamily="34" charset="0"/>
                          <a:cs typeface="Arial" panose="020B0604020202020204" pitchFamily="34" charset="0"/>
                        </a:rPr>
                        <a:t> · </a:t>
                      </a:r>
                      <a:r>
                        <a:rPr lang="en-US" altLang="ko-KR" sz="900" dirty="0">
                          <a:latin typeface="Arial" panose="020B0604020202020204" pitchFamily="34" charset="0"/>
                          <a:ea typeface="Arial" panose="020B0604020202020204" pitchFamily="34" charset="0"/>
                          <a:cs typeface="Arial" panose="020B0604020202020204" pitchFamily="34" charset="0"/>
                          <a:hlinkClick r:id="rId9"/>
                        </a:rPr>
                        <a:t>US</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6"/>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Patent · first inventor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Network Monitoring System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KR 10-2574070 (2023)</a:t>
                      </a:r>
                    </a:p>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US 12,556,492 B2 (2026)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0"/>
                        </a:rPr>
                        <a:t>KR</a:t>
                      </a:r>
                      <a:r>
                        <a:rPr lang="en-US" altLang="ko-KR" sz="900" dirty="0">
                          <a:latin typeface="Arial" panose="020B0604020202020204" pitchFamily="34" charset="0"/>
                          <a:ea typeface="Arial" panose="020B0604020202020204" pitchFamily="34" charset="0"/>
                          <a:cs typeface="Arial" panose="020B0604020202020204" pitchFamily="34" charset="0"/>
                        </a:rPr>
                        <a:t> · </a:t>
                      </a:r>
                      <a:r>
                        <a:rPr lang="en-US" altLang="ko-KR" sz="900" dirty="0">
                          <a:latin typeface="Arial" panose="020B0604020202020204" pitchFamily="34" charset="0"/>
                          <a:ea typeface="Arial" panose="020B0604020202020204" pitchFamily="34" charset="0"/>
                          <a:cs typeface="Arial" panose="020B0604020202020204" pitchFamily="34" charset="0"/>
                          <a:hlinkClick r:id="rId11"/>
                        </a:rPr>
                        <a:t>US</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7"/>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Object Storage System, Migration Control Device, and Migration Control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US 12,210,760 B2 (2025)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2"/>
                        </a:rPr>
                        <a:t>US</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8"/>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Simulation Method and Modeling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US 12,650,769 B2 (2026)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3"/>
                        </a:rPr>
                        <a:t>USPTO</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9"/>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Electronic Apparatus, System for Internet-of-Things Environment and Control Method Thereof</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US 10,742,742 B2 (2020)</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4"/>
                        </a:rPr>
                        <a:t>US</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10"/>
                  </a:ext>
                </a:extLst>
              </a:tr>
            </a:tbl>
          </a:graphicData>
        </a:graphic>
      </p:graphicFrame>
      <p:sp>
        <p:nvSpPr>
          <p:cNvPr id="301" name="DemoTableTitle"/>
          <p:cNvSpPr txBox="1"/>
          <p:nvPr/>
        </p:nvSpPr>
        <p:spPr>
          <a:xfrm>
            <a:off x="173736" y="4846320"/>
            <a:ext cx="9601200" cy="320040"/>
          </a:xfrm>
          <a:prstGeom prst="rect">
            <a:avLst/>
          </a:prstGeom>
          <a:noFill/>
        </p:spPr>
        <p:txBody>
          <a:bodyPr wrap="square" lIns="0" tIns="18288" rIns="0" bIns="0" rtlCol="0">
            <a:spAutoFit/>
          </a:bodyPr>
          <a:lstStyle/>
          <a:p>
            <a:pPr algn="l"/>
            <a:r>
              <a:rPr lang="en-US" altLang="ko-KR" sz="1100" b="1" dirty="0">
                <a:latin typeface="Arial" panose="020B0604020202020204" pitchFamily="34" charset="0"/>
                <a:ea typeface="Arial" panose="020B0604020202020204" pitchFamily="34" charset="0"/>
                <a:cs typeface="Arial" panose="020B0604020202020204" pitchFamily="34" charset="0"/>
              </a:rPr>
              <a:t>Demo videos (public pages at sonny0714.github.io/demo_video_robot/)</a:t>
            </a: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graphicFrame>
        <p:nvGraphicFramePr>
          <p:cNvPr id="302" name="DemoTable"/>
          <p:cNvGraphicFramePr>
            <a:graphicFrameLocks noGrp="1"/>
          </p:cNvGraphicFramePr>
          <p:nvPr/>
        </p:nvGraphicFramePr>
        <p:xfrm>
          <a:off x="173736" y="5120640"/>
          <a:ext cx="9601200" cy="1106424"/>
        </p:xfrm>
        <a:graphic>
          <a:graphicData uri="http://schemas.openxmlformats.org/drawingml/2006/table">
            <a:tbl>
              <a:tblPr firstRow="1" bandRow="1"/>
              <a:tblGrid>
                <a:gridCol w="3108960">
                  <a:extLst>
                    <a:ext uri="{9D8B030D-6E8A-4147-A177-3AD203B41FA5}">
                      <a16:colId xmlns:a16="http://schemas.microsoft.com/office/drawing/2014/main" val="30000"/>
                    </a:ext>
                  </a:extLst>
                </a:gridCol>
                <a:gridCol w="5148072">
                  <a:extLst>
                    <a:ext uri="{9D8B030D-6E8A-4147-A177-3AD203B41FA5}">
                      <a16:colId xmlns:a16="http://schemas.microsoft.com/office/drawing/2014/main" val="30001"/>
                    </a:ext>
                  </a:extLst>
                </a:gridCol>
                <a:gridCol w="1344168">
                  <a:extLst>
                    <a:ext uri="{9D8B030D-6E8A-4147-A177-3AD203B41FA5}">
                      <a16:colId xmlns:a16="http://schemas.microsoft.com/office/drawing/2014/main" val="30002"/>
                    </a:ext>
                  </a:extLst>
                </a:gridCol>
              </a:tblGrid>
              <a:tr h="246888">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Demo</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What the video shows</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Link</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PokeCube: STEER+XferQoE's WF vs. XferQoE (5× speed)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Played in turn over the same 41.7 s: STEER+XferQoE's WF finishes two tasks, XferQoE five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5"/>
                        </a:rPr>
                        <a:t>xferqoe-pokecube.html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Remote RFM serving: control loop, LIBERO-Spatial (π0.5), MIKASA Intercept (SmolVLA)</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The control loop on the system diagram, then both RFM tasks, first under STEER+XferQoE's WF and then under XferQoE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7"/>
                        </a:rPr>
                        <a:t>xferqoe-rfm-serving.html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Networked monitoring: control loop, one trace run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The control loop on the system diagram, then one trace run (145–185 s): at 148.5 s camera 7 finds four of its five objects under XferQoE and none under STEER+XferQoE's WF</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8"/>
                        </a:rPr>
                        <a:t>xferqoe-monitoring.html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bl>
          </a:graphicData>
        </a:graphic>
      </p:graphicFrame>
      <p:sp>
        <p:nvSpPr>
          <p:cNvPr id="303" name="PageFootnote"/>
          <p:cNvSpPr txBox="1"/>
          <p:nvPr/>
        </p:nvSpPr>
        <p:spPr>
          <a:xfrm>
            <a:off x="173736" y="6281928"/>
            <a:ext cx="9601200" cy="136246"/>
          </a:xfrm>
          <a:prstGeom prst="rect">
            <a:avLst/>
          </a:prstGeom>
          <a:noFill/>
        </p:spPr>
        <p:txBody>
          <a:bodyPr wrap="square" lIns="0" tIns="0" rIns="0" bIns="0">
            <a:spAutoFit/>
          </a:bodyPr>
          <a:lstStyle/>
          <a:p>
            <a:pPr algn="l"/>
            <a:r>
              <a:rPr lang="en-US" altLang="en-US" sz="900" dirty="0">
                <a:solidFill>
                  <a:srgbClr val="595959"/>
                </a:solidFill>
                <a:latin typeface="Arial" panose="020B0604020202020204" pitchFamily="34" charset="0"/>
                <a:ea typeface="Arial" panose="020B0604020202020204" pitchFamily="34" charset="0"/>
                <a:cs typeface="Arial" panose="020B0604020202020204" pitchFamily="34" charset="0"/>
              </a:rPr>
              <a:t>STEER+XferQoE's WF = STEER with XferQoE's objective-weight fit</a:t>
            </a:r>
          </a:p>
        </p:txBody>
      </p:sp>
    </p:spTree>
    <p:extLst>
      <p:ext uri="{BB962C8B-B14F-4D97-AF65-F5344CB8AC3E}">
        <p14:creationId xmlns:p14="http://schemas.microsoft.com/office/powerpoint/2010/main" val="948413838"/>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 name="TextBox 38">
            <a:extLst>
              <a:ext uri="{FF2B5EF4-FFF2-40B4-BE49-F238E27FC236}">
                <a16:creationId xmlns:a16="http://schemas.microsoft.com/office/drawing/2014/main" id="{185C7BA9-9CDD-6FA4-B173-77F84587A4A3}"/>
              </a:ext>
            </a:extLst>
          </p:cNvPr>
          <p:cNvSpPr txBox="1"/>
          <p:nvPr/>
        </p:nvSpPr>
        <p:spPr>
          <a:xfrm>
            <a:off x="173455" y="379336"/>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Delivered Systems and Testbeds — Recipient, Period, Role</a:t>
            </a:r>
            <a:endParaRPr lang="en-US" altLang="ko-KR" dirty="0">
              <a:latin typeface="Arial" pitchFamily="34" charset="0"/>
              <a:ea typeface="Arial Unicode MS" pitchFamily="50" charset="-127"/>
              <a:cs typeface="Arial" pitchFamily="34" charset="0"/>
            </a:endParaRPr>
          </a:p>
        </p:txBody>
      </p:sp>
      <p:cxnSp>
        <p:nvCxnSpPr>
          <p:cNvPr id="4" name="직선 연결선 3">
            <a:extLst>
              <a:ext uri="{FF2B5EF4-FFF2-40B4-BE49-F238E27FC236}">
                <a16:creationId xmlns:a16="http://schemas.microsoft.com/office/drawing/2014/main" id="{DEAF566A-FC0D-3E49-62D0-0EC2CAAD00EE}"/>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7A76D4-42F2-83C4-FFAD-07D4C47D2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26FBC824-4158-2D7D-50EF-33F54FF50A7B}"/>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3</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40D4A926-2AF0-6AFA-4623-810F84CA9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anose="020B0604020202020204" pitchFamily="34" charset="0"/>
                <a:ea typeface="Arial" panose="020B0604020202020204" pitchFamily="34" charset="0"/>
                <a:cs typeface="Arial" panose="020B0604020202020204" pitchFamily="34" charset="0"/>
              </a:rPr>
              <a:t>Introduction</a:t>
            </a:r>
            <a:endParaRPr lang="en-US" altLang="ko-KR" sz="1400" dirty="0">
              <a:latin typeface="Arial" pitchFamily="34" charset="0"/>
              <a:ea typeface="Arial Unicode MS" pitchFamily="50" charset="-127"/>
              <a:cs typeface="Arial" pitchFamily="34" charset="0"/>
            </a:endParaRPr>
          </a:p>
        </p:txBody>
      </p:sp>
      <p:sp>
        <p:nvSpPr>
          <p:cNvPr id="301" name="TableTitle"/>
          <p:cNvSpPr txBox="1"/>
          <p:nvPr/>
        </p:nvSpPr>
        <p:spPr>
          <a:xfrm>
            <a:off x="173736" y="868680"/>
            <a:ext cx="9601200" cy="320040"/>
          </a:xfrm>
          <a:prstGeom prst="rect">
            <a:avLst/>
          </a:prstGeom>
          <a:noFill/>
        </p:spPr>
        <p:txBody>
          <a:bodyPr wrap="square" lIns="0" tIns="18288" rIns="0" bIns="0" rtlCol="0">
            <a:spAutoFit/>
          </a:bodyPr>
          <a:lstStyle/>
          <a:p>
            <a:pPr algn="l"/>
            <a:r>
              <a:rPr lang="en-US" altLang="ko-KR" sz="1100" b="1" dirty="0">
                <a:latin typeface="Arial" panose="020B0604020202020204" pitchFamily="34" charset="0"/>
                <a:ea typeface="Arial" panose="020B0604020202020204" pitchFamily="34" charset="0"/>
                <a:cs typeface="Arial" panose="020B0604020202020204" pitchFamily="34" charset="0"/>
              </a:rPr>
              <a:t>Delivered systems (5) and built systems (3)</a:t>
            </a: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graphicFrame>
        <p:nvGraphicFramePr>
          <p:cNvPr id="302" name="DeliveryTable"/>
          <p:cNvGraphicFramePr>
            <a:graphicFrameLocks noGrp="1"/>
          </p:cNvGraphicFramePr>
          <p:nvPr/>
        </p:nvGraphicFramePr>
        <p:xfrm>
          <a:off x="173736" y="1143000"/>
          <a:ext cx="9601200" cy="4462272"/>
        </p:xfrm>
        <a:graphic>
          <a:graphicData uri="http://schemas.openxmlformats.org/drawingml/2006/table">
            <a:tbl>
              <a:tblPr firstRow="1" bandRow="1"/>
              <a:tblGrid>
                <a:gridCol w="4892040">
                  <a:extLst>
                    <a:ext uri="{9D8B030D-6E8A-4147-A177-3AD203B41FA5}">
                      <a16:colId xmlns:a16="http://schemas.microsoft.com/office/drawing/2014/main" val="30000"/>
                    </a:ext>
                  </a:extLst>
                </a:gridCol>
                <a:gridCol w="1737360">
                  <a:extLst>
                    <a:ext uri="{9D8B030D-6E8A-4147-A177-3AD203B41FA5}">
                      <a16:colId xmlns:a16="http://schemas.microsoft.com/office/drawing/2014/main" val="30001"/>
                    </a:ext>
                  </a:extLst>
                </a:gridCol>
                <a:gridCol w="1600200">
                  <a:extLst>
                    <a:ext uri="{9D8B030D-6E8A-4147-A177-3AD203B41FA5}">
                      <a16:colId xmlns:a16="http://schemas.microsoft.com/office/drawing/2014/main" val="30002"/>
                    </a:ext>
                  </a:extLst>
                </a:gridCol>
                <a:gridCol w="777240">
                  <a:extLst>
                    <a:ext uri="{9D8B030D-6E8A-4147-A177-3AD203B41FA5}">
                      <a16:colId xmlns:a16="http://schemas.microsoft.com/office/drawing/2014/main" val="30003"/>
                    </a:ext>
                  </a:extLst>
                </a:gridCol>
                <a:gridCol w="594360">
                  <a:extLst>
                    <a:ext uri="{9D8B030D-6E8A-4147-A177-3AD203B41FA5}">
                      <a16:colId xmlns:a16="http://schemas.microsoft.com/office/drawing/2014/main" val="30005"/>
                    </a:ext>
                  </a:extLst>
                </a:gridCol>
              </a:tblGrid>
              <a:tr h="365760">
                <a:tc>
                  <a:txBody>
                    <a:bodyPr/>
                    <a:lstStyle/>
                    <a:p>
                      <a:pPr algn="l">
                        <a:spcBef>
                          <a:spcPts val="60"/>
                        </a:spcBef>
                        <a:spcAft>
                          <a:spcPts val="60"/>
                        </a:spcAft>
                        <a:buNone/>
                      </a:pPr>
                      <a:r>
                        <a:rPr lang="en-US" altLang="ko-KR" sz="1100" b="1" dirty="0">
                          <a:solidFill>
                            <a:srgbClr val="1F3864"/>
                          </a:solidFill>
                          <a:latin typeface="Arial" panose="020B0604020202020204" pitchFamily="34" charset="0"/>
                          <a:ea typeface="Arial" panose="020B0604020202020204" pitchFamily="34" charset="0"/>
                          <a:cs typeface="Arial" panose="020B0604020202020204" pitchFamily="34" charset="0"/>
                        </a:rPr>
                        <a:t>System</a:t>
                      </a:r>
                      <a:endParaRPr lang="en-US" altLang="ko-KR" sz="11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100" b="1" dirty="0">
                          <a:solidFill>
                            <a:srgbClr val="1F3864"/>
                          </a:solidFill>
                          <a:latin typeface="Arial" panose="020B0604020202020204" pitchFamily="34" charset="0"/>
                          <a:ea typeface="Arial" panose="020B0604020202020204" pitchFamily="34" charset="0"/>
                          <a:cs typeface="Arial" panose="020B0604020202020204" pitchFamily="34" charset="0"/>
                        </a:rPr>
                        <a:t>Delivered to</a:t>
                      </a:r>
                      <a:endParaRPr lang="en-US" altLang="ko-KR" sz="11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100" b="1" dirty="0">
                          <a:solidFill>
                            <a:srgbClr val="1F3864"/>
                          </a:solidFill>
                          <a:latin typeface="Arial" panose="020B0604020202020204" pitchFamily="34" charset="0"/>
                          <a:ea typeface="Arial" panose="020B0604020202020204" pitchFamily="34" charset="0"/>
                          <a:cs typeface="Arial" panose="020B0604020202020204" pitchFamily="34" charset="0"/>
                        </a:rPr>
                        <a:t>Period</a:t>
                      </a:r>
                      <a:endParaRPr lang="en-US" altLang="ko-KR" sz="11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100" b="1" dirty="0">
                          <a:solidFill>
                            <a:srgbClr val="1F3864"/>
                          </a:solidFill>
                          <a:latin typeface="Arial" panose="020B0604020202020204" pitchFamily="34" charset="0"/>
                          <a:ea typeface="Arial" panose="020B0604020202020204" pitchFamily="34" charset="0"/>
                          <a:cs typeface="Arial" panose="020B0604020202020204" pitchFamily="34" charset="0"/>
                        </a:rPr>
                        <a:t>Role</a:t>
                      </a:r>
                      <a:endParaRPr lang="en-US" altLang="ko-KR" sz="11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ctr">
                        <a:spcBef>
                          <a:spcPts val="60"/>
                        </a:spcBef>
                        <a:spcAft>
                          <a:spcPts val="60"/>
                        </a:spcAft>
                        <a:buNone/>
                      </a:pPr>
                      <a:r>
                        <a:rPr lang="en-US" altLang="ko-KR" sz="1100" b="1" dirty="0">
                          <a:solidFill>
                            <a:srgbClr val="1F3864"/>
                          </a:solidFill>
                          <a:latin typeface="Arial" panose="020B0604020202020204" pitchFamily="34" charset="0"/>
                          <a:ea typeface="Arial" panose="020B0604020202020204" pitchFamily="34" charset="0"/>
                          <a:cs typeface="Arial" panose="020B0604020202020204" pitchFamily="34" charset="0"/>
                        </a:rPr>
                        <a:t>Page</a:t>
                      </a:r>
                      <a:endParaRPr lang="en-US" altLang="ko-KR" sz="11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Network Environments of Increasing Fidelity for Rate-Control Policy Pretraining and Validation (S-Sim, NS-3, NiL Testbed)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2020–2026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7</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V2G Fleet-Operation Evaluation Environment for Two-Settlement Markets (V2G-OpSim)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10</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Edge–Server Collaborative Inference Pipeline for Real-Time Traffic Sign Recognition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Acryl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Apr. 2021 – Jun. 2025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13</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NVMe-over-TCP Disaggregated Storage Simulator with a Dual-Output DNN Surrogate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Samsung Electronics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Aug. 2019 – Jul. 2022</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14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Database-Backed Network Selection Application for Mobile Terminals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Polaris AI</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Aug. – Dec. 2024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15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Low-Latency Wireless Streaming Testbed for the Samsung QLED TV One Connect System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Samsung Electronics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Sep. 2017 – Sep. 2018</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15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GUI-Based Analysis Tool for Direct GPS P(Y) Code Acquisition under Wideband Jamming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ADD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Mar. – Oct. 2013</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CV</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Unified JAX/Flax Training Framework for Network Control Policies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2020–2026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CV</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bl>
          </a:graphicData>
        </a:graphic>
      </p:graphicFrame>
      <p:sp>
        <p:nvSpPr>
          <p:cNvPr id="303" name="PageFootnote"/>
          <p:cNvSpPr txBox="1"/>
          <p:nvPr/>
        </p:nvSpPr>
        <p:spPr>
          <a:xfrm>
            <a:off x="173736" y="5742432"/>
            <a:ext cx="9601200" cy="136246"/>
          </a:xfrm>
          <a:prstGeom prst="rect">
            <a:avLst/>
          </a:prstGeom>
          <a:noFill/>
        </p:spPr>
        <p:txBody>
          <a:bodyPr wrap="square" lIns="0" tIns="0" rIns="0" bIns="0">
            <a:spAutoFit/>
          </a:bodyPr>
          <a:lstStyle/>
          <a:p>
            <a:pPr algn="l"/>
            <a:r>
              <a:rPr lang="en-US" altLang="en-US" sz="1000" dirty="0">
                <a:solidFill>
                  <a:srgbClr val="595959"/>
                </a:solidFill>
                <a:latin typeface="Arial" panose="020B0604020202020204" pitchFamily="34" charset="0"/>
                <a:ea typeface="Arial" panose="020B0604020202020204" pitchFamily="34" charset="0"/>
                <a:cs typeface="Arial" panose="020B0604020202020204" pitchFamily="34" charset="0"/>
              </a:rPr>
              <a:t>ADD = Agency for Defense Development · NiL = network-in-the-loop · S-Sim = Simplified Simulator · CV = described in the CV only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 name="TextBox 38">
            <a:extLst>
              <a:ext uri="{FF2B5EF4-FFF2-40B4-BE49-F238E27FC236}">
                <a16:creationId xmlns:a16="http://schemas.microsoft.com/office/drawing/2014/main" id="{185C7BA9-9CDD-6FA4-B173-77F84587A4A3}"/>
              </a:ext>
            </a:extLst>
          </p:cNvPr>
          <p:cNvSpPr txBox="1"/>
          <p:nvPr/>
        </p:nvSpPr>
        <p:spPr>
          <a:xfrm>
            <a:off x="173455" y="379336"/>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Contents — Domain, Target, and Techniques by Page</a:t>
            </a:r>
            <a:endParaRPr lang="en-US" altLang="ko-KR" dirty="0">
              <a:latin typeface="Arial" pitchFamily="34" charset="0"/>
              <a:ea typeface="Arial Unicode MS" pitchFamily="50" charset="-127"/>
              <a:cs typeface="Arial" pitchFamily="34" charset="0"/>
            </a:endParaRPr>
          </a:p>
        </p:txBody>
      </p:sp>
      <p:cxnSp>
        <p:nvCxnSpPr>
          <p:cNvPr id="4" name="직선 연결선 3">
            <a:extLst>
              <a:ext uri="{FF2B5EF4-FFF2-40B4-BE49-F238E27FC236}">
                <a16:creationId xmlns:a16="http://schemas.microsoft.com/office/drawing/2014/main" id="{DEAF566A-FC0D-3E49-62D0-0EC2CAAD00EE}"/>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7A76D4-42F2-83C4-FFAD-07D4C47D2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26FBC824-4158-2D7D-50EF-33F54FF50A7B}"/>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4</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40D4A926-2AF0-6AFA-4623-810F84CA9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anose="020B0604020202020204" pitchFamily="34" charset="0"/>
                <a:ea typeface="Arial" panose="020B0604020202020204" pitchFamily="34" charset="0"/>
                <a:cs typeface="Arial" panose="020B0604020202020204" pitchFamily="34" charset="0"/>
              </a:rPr>
              <a:t>Introduction</a:t>
            </a:r>
            <a:endParaRPr lang="en-US" altLang="ko-KR" sz="1400" dirty="0">
              <a:latin typeface="Arial" pitchFamily="34" charset="0"/>
              <a:ea typeface="Arial Unicode MS" pitchFamily="50" charset="-127"/>
              <a:cs typeface="Arial" pitchFamily="34" charset="0"/>
            </a:endParaRPr>
          </a:p>
        </p:txBody>
      </p:sp>
      <p:graphicFrame>
        <p:nvGraphicFramePr>
          <p:cNvPr id="302" name="ContentsTable"/>
          <p:cNvGraphicFramePr>
            <a:graphicFrameLocks noGrp="1"/>
          </p:cNvGraphicFramePr>
          <p:nvPr/>
        </p:nvGraphicFramePr>
        <p:xfrm>
          <a:off x="173736" y="914400"/>
          <a:ext cx="9601200" cy="5369760"/>
        </p:xfrm>
        <a:graphic>
          <a:graphicData uri="http://schemas.openxmlformats.org/drawingml/2006/table">
            <a:tbl>
              <a:tblPr firstRow="1" bandRow="1"/>
              <a:tblGrid>
                <a:gridCol w="1874520">
                  <a:extLst>
                    <a:ext uri="{9D8B030D-6E8A-4147-A177-3AD203B41FA5}">
                      <a16:colId xmlns:a16="http://schemas.microsoft.com/office/drawing/2014/main" val="30000"/>
                    </a:ext>
                  </a:extLst>
                </a:gridCol>
                <a:gridCol w="1508760">
                  <a:extLst>
                    <a:ext uri="{9D8B030D-6E8A-4147-A177-3AD203B41FA5}">
                      <a16:colId xmlns:a16="http://schemas.microsoft.com/office/drawing/2014/main" val="30001"/>
                    </a:ext>
                  </a:extLst>
                </a:gridCol>
                <a:gridCol w="3749040">
                  <a:extLst>
                    <a:ext uri="{9D8B030D-6E8A-4147-A177-3AD203B41FA5}">
                      <a16:colId xmlns:a16="http://schemas.microsoft.com/office/drawing/2014/main" val="30002"/>
                    </a:ext>
                  </a:extLst>
                </a:gridCol>
                <a:gridCol w="1965960">
                  <a:extLst>
                    <a:ext uri="{9D8B030D-6E8A-4147-A177-3AD203B41FA5}">
                      <a16:colId xmlns:a16="http://schemas.microsoft.com/office/drawing/2014/main" val="30003"/>
                    </a:ext>
                  </a:extLst>
                </a:gridCol>
                <a:gridCol w="502920">
                  <a:extLst>
                    <a:ext uri="{9D8B030D-6E8A-4147-A177-3AD203B41FA5}">
                      <a16:colId xmlns:a16="http://schemas.microsoft.com/office/drawing/2014/main" val="30004"/>
                    </a:ext>
                  </a:extLst>
                </a:gridCol>
              </a:tblGrid>
              <a:tr h="365760">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Work</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Domain</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Target</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Techniques</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ctr">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Page</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r>
              <a:tr h="27432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Research Coverage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gridSpan="3">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Overview of the shared problem (QoE-driven control under environment shift) and the three research axes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hMerge="1">
                  <a:txBody>
                    <a:bodyPr/>
                    <a:lstStyle/>
                    <a:p>
                      <a:pPr algn="l">
                        <a:spcBef>
                          <a:spcPts val="60"/>
                        </a:spcBef>
                        <a:spcAft>
                          <a:spcPts val="60"/>
                        </a:spcAft>
                        <a:buNone/>
                      </a:pP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hMerge="1">
                  <a:txBody>
                    <a:bodyPr/>
                    <a:lstStyle/>
                    <a:p>
                      <a:pPr algn="l">
                        <a:spcBef>
                          <a:spcPts val="60"/>
                        </a:spcBef>
                        <a:spcAft>
                          <a:spcPts val="60"/>
                        </a:spcAft>
                        <a:buNone/>
                      </a:pP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XferQoE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Remote model serving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Image-frame quality for a remote model, through network rate control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Meta-RL, Transformer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XferQoE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Remote model serving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Robot observations sent to an off-board policy or RFM over Wi-Fi</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Sim2Real, RFM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7</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Physical AI</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Robot manipulation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RFM fine-tuning on a real arm, and task success under serving delay</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RFM, VLA, VLM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8</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LDuS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Robot manipulation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Zero-shot adaptation of a skill policy to unseen language-specified contexts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Diffusion, Action Decoder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9</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AgentV2G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V2G fleet operation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Charging-hub market bids and EV dispatch under price and vehicle-use drift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RL Scheduler, LLM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10</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27432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Repot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Networked monitoring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Bandwidth allocation among sensing devices sharing one link</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RL, Fine-Tuning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11</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XferQoE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Networked monitoring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Camera sending rates on one shared link to a server's recognition model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Object Recognition, Real-World Testbed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12</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Federated Edge Inference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Edge AI</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Federated training and edge–server inference of a traffic-sign recognition model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Federated Learning, Knowledge Distillation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13</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NVMe-oF Storage Simulator with a DNN Surrogate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Data-center storage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IOPS and latency of disaggregated NVMe-oF storage, reproduced in software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Supervised Learning, Regression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PS-LTE Network Selection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Public-safety networks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Which network a terminal accesses, PS-LTE or a commercial LTE band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PostGIS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QLED Streaming Testbed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Wireless video streaming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Latency of 4K 60 Hz video over the QLED TV's wireless link</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TCP/UDP</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Protocol Definition for IoT Devices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Internet of Things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Packet bytes spent identifying IoT devices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MQTT, Packet Design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Publications, Patents, and Demo Videos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gridSpan="3">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Selected papers and patents with links, demo videos, and contact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hMerge="1">
                  <a:txBody>
                    <a:bodyPr/>
                    <a:lstStyle/>
                    <a:p>
                      <a:pPr algn="l">
                        <a:spcBef>
                          <a:spcPts val="60"/>
                        </a:spcBef>
                        <a:spcAft>
                          <a:spcPts val="60"/>
                        </a:spcAft>
                        <a:buNone/>
                      </a:pP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hMerge="1">
                  <a:txBody>
                    <a:bodyPr/>
                    <a:lstStyle/>
                    <a:p>
                      <a:pPr algn="l">
                        <a:spcBef>
                          <a:spcPts val="60"/>
                        </a:spcBef>
                        <a:spcAft>
                          <a:spcPts val="60"/>
                        </a:spcAft>
                        <a:buNone/>
                      </a:pP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17</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bl>
          </a:graphicData>
        </a:graphic>
      </p:graphicFrame>
      <p:sp>
        <p:nvSpPr>
          <p:cNvPr id="303" name="PageFootnote"/>
          <p:cNvSpPr txBox="1"/>
          <p:nvPr/>
        </p:nvSpPr>
        <p:spPr>
          <a:xfrm>
            <a:off x="173736" y="6421320"/>
            <a:ext cx="9601200" cy="136246"/>
          </a:xfrm>
          <a:prstGeom prst="rect">
            <a:avLst/>
          </a:prstGeom>
          <a:noFill/>
        </p:spPr>
        <p:txBody>
          <a:bodyPr wrap="square" lIns="0" tIns="0" rIns="0" bIns="0">
            <a:spAutoFit/>
          </a:bodyPr>
          <a:lstStyle/>
          <a:p>
            <a:pPr algn="l"/>
            <a:r>
              <a:rPr lang="en-US" altLang="en-US" sz="1000" dirty="0">
                <a:solidFill>
                  <a:srgbClr val="595959"/>
                </a:solidFill>
                <a:latin typeface="Arial" panose="020B0604020202020204" pitchFamily="34" charset="0"/>
                <a:ea typeface="Arial" panose="020B0604020202020204" pitchFamily="34" charset="0"/>
                <a:cs typeface="Arial" panose="020B0604020202020204" pitchFamily="34" charset="0"/>
              </a:rPr>
              <a:t>RFM = robot foundation model · VLA = vision-language-action model · VLM = vision-language model · EV = electric vehicle · PS-LTE = public-safety LTE</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11882</TotalTime>
  <Words>6276</Words>
  <Application>Microsoft Office PowerPoint</Application>
  <PresentationFormat>A4 용지(210x297mm)</PresentationFormat>
  <Paragraphs>338</Paragraphs>
  <Slides>17</Slides>
  <Notes>11</Notes>
  <HiddenSlides>0</HiddenSlides>
  <MMClips>5</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16</vt:i4>
      </vt:variant>
    </vt:vector>
  </HeadingPairs>
  <TitlesOfParts>
    <vt:vector size="21" baseType="lpstr">
      <vt:lpstr>Muli</vt:lpstr>
      <vt:lpstr>맑은 고딕</vt:lpstr>
      <vt:lpstr>Arial</vt:lpstr>
      <vt:lpstr>Montserrat</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QoE-Driven Control of Models and Algorithms under Environment Shift</dc:title>
  <dc:creator>Youngseok Lee</dc:creator>
  <cp:lastModifiedBy>YOUNGSEOK LEE</cp:lastModifiedBy>
  <cp:revision>795</cp:revision>
  <cp:lastPrinted>2026-09-28T08:20:52Z</cp:lastPrinted>
  <dcterms:created xsi:type="dcterms:W3CDTF">2020-06-29T22:42:46Z</dcterms:created>
  <dcterms:modified xsi:type="dcterms:W3CDTF">2026-10-11T13:38:50Z</dcterms:modified>
</cp:coreProperties>
</file>